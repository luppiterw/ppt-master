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deck compresses the four key documentation files into a single story about what PPT Master is, how it works, and what it demands from the user. The central thread is not just AI slide generation. It is the ability to produce a PowerPoint file that remains editable and usable after export.</a:t>
            </a:r>
          </a:p>
          <a:p>
            <a:endParaRPr lang="zh-CN" dirty="0"/>
          </a:p>
          <a:p>
            <a:r>
              <a:rPr lang="zh-CN" dirty="0"/>
              <a:t>Key points: (1) This is a documentation synthesis deck (2) The story covers product, architecture, and setup (3) Editability is the anchor idea</a:t>
            </a:r>
          </a:p>
          <a:p>
            <a:r>
              <a:rPr lang="zh-CN" dirty="0"/>
              <a:t>Duration: 1 minute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With the scope set, the first question is what PPT Master is actually trying to optimize for.</a:t>
            </a:r>
          </a:p>
          <a:p>
            <a:endParaRPr lang="zh-CN" dirty="0"/>
          </a:p>
          <a:p>
            <a:r>
              <a:rPr lang="zh-CN" dirty="0"/>
              <a:t>The answer is unusually concrete: not pretty screenshots, but a real slide file. The docs make the standard explicit: if the result cannot be opened and edited like a normal PowerPoint deck, then the workflow has missed the point. That framing shapes every downstream engineering decision.</a:t>
            </a:r>
          </a:p>
          <a:p>
            <a:endParaRPr lang="zh-CN" dirty="0"/>
          </a:p>
          <a:p>
            <a:r>
              <a:rPr lang="zh-CN" dirty="0"/>
              <a:t>Key points: (1) Native editability is the core differentiator (2) Engineering choices follow that principle (3) The deck is treated as a working file</a:t>
            </a:r>
          </a:p>
          <a:p>
            <a:r>
              <a:rPr lang="zh-CN" dirty="0"/>
              <a:t>Duration: 1 minute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Once that standard is clear, the next step is to understand what other AI slide approaches get wrong.</a:t>
            </a:r>
          </a:p>
          <a:p>
            <a:endParaRPr lang="zh-CN" dirty="0"/>
          </a:p>
          <a:p>
            <a:r>
              <a:rPr lang="zh-CN" dirty="0"/>
              <a:t>The docs reject three familiar paths. Image embedding looks polished but destroys editability, HTML and CSS do not map cleanly to slide geometry, and direct python-pptx generation stays editable but usually lacks visual richness. PPT Master positions itself as the fourth path by using SVG as the drafting layer and DrawingML as the delivery layer.</a:t>
            </a:r>
          </a:p>
          <a:p>
            <a:endParaRPr lang="zh-CN" dirty="0"/>
          </a:p>
          <a:p>
            <a:r>
              <a:rPr lang="zh-CN" dirty="0"/>
              <a:t>Key points: (1) Three common approaches have hard limitations (2) PPT Master is a deliberate alternative (3) The product is framed through trade-offs, not hype</a:t>
            </a:r>
          </a:p>
          <a:p>
            <a:r>
              <a:rPr lang="zh-CN" dirty="0"/>
              <a:t>Duration: 1.5 minutes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That positioning becomes easier to believe when the product values stay consistent across all docs.</a:t>
            </a:r>
          </a:p>
          <a:p>
            <a:endParaRPr lang="zh-CN" dirty="0"/>
          </a:p>
          <a:p>
            <a:r>
              <a:rPr lang="zh-CN" dirty="0"/>
              <a:t>Four themes repeat everywhere: real PowerPoint output, predictable cost, local-first data handling, and no lock-in on editors or models. These are not decorative claims. They explain why the project is open source, why the workflow runs locally, and why the docs spend so much time on practical setup and export behavior.</a:t>
            </a:r>
          </a:p>
          <a:p>
            <a:endParaRPr lang="zh-CN" dirty="0"/>
          </a:p>
          <a:p>
            <a:r>
              <a:rPr lang="zh-CN" dirty="0"/>
              <a:t>Key points: (1) Editability, cost, privacy, and openness define the product (2) The values are operational, not just branding (3) The docs are coherent across topics</a:t>
            </a:r>
          </a:p>
          <a:p>
            <a:r>
              <a:rPr lang="zh-CN" dirty="0"/>
              <a:t>Duration: 1 minute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After the product promise, the architecture tells us how the promise is delivered.</a:t>
            </a:r>
          </a:p>
          <a:p>
            <a:endParaRPr lang="zh-CN" dirty="0"/>
          </a:p>
          <a:p>
            <a:r>
              <a:rPr lang="zh-CN" dirty="0"/>
              <a:t>The full workflow is intentionally serial. Content gets normalized first, then the strategist plans the deck, then the executor generates SVG and notes, then post-processing cleans everything up before export. The docs are explicit that this serialization protects cross-slide consistency and reduces context drift.</a:t>
            </a:r>
          </a:p>
          <a:p>
            <a:endParaRPr lang="zh-CN" dirty="0"/>
          </a:p>
          <a:p>
            <a:r>
              <a:rPr lang="zh-CN" dirty="0"/>
              <a:t>Key points: (1) The workflow is stage-based and serial (2) Each stage hands off to the next (3) Consistency is prioritized over raw speed</a:t>
            </a:r>
          </a:p>
          <a:p>
            <a:r>
              <a:rPr lang="zh-CN" dirty="0"/>
              <a:t>Duration: 1.5 minutes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We can simplify that architecture further into three conceptual stages.</a:t>
            </a:r>
          </a:p>
          <a:p>
            <a:endParaRPr lang="zh-CN" dirty="0"/>
          </a:p>
          <a:p>
            <a:r>
              <a:rPr lang="zh-CN" dirty="0"/>
              <a:t>Stage one is understanding and planning, stage two is visual generation, and stage three is engineering conversion. That separation is important because it clarifies the role of AI: first to interpret content, then to design with SVG, and finally to let deterministic scripts translate the draft into a real slide artifact.</a:t>
            </a:r>
          </a:p>
          <a:p>
            <a:endParaRPr lang="zh-CN" dirty="0"/>
          </a:p>
          <a:p>
            <a:r>
              <a:rPr lang="zh-CN" dirty="0"/>
              <a:t>Key points: (1) Understand (2) Generate (3) Convert</a:t>
            </a:r>
          </a:p>
          <a:p>
            <a:r>
              <a:rPr lang="zh-CN" dirty="0"/>
              <a:t>Duration: 1 minute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most technical question in the docs is why SVG sits at the center of the system.</a:t>
            </a:r>
          </a:p>
          <a:p>
            <a:endParaRPr lang="zh-CN" dirty="0"/>
          </a:p>
          <a:p>
            <a:r>
              <a:rPr lang="zh-CN" dirty="0"/>
              <a:t>The argument is practical rather than ideological. DrawingML is too verbose to author reliably, HTML and CSS speak the wrong layout language, WMF and EMF are not useful AI targets, and image-only SVG throws away editability. SVG wins because it shares the same absolute-coordinate mindset as slide graphics while remaining readable and transformable.</a:t>
            </a:r>
          </a:p>
          <a:p>
            <a:endParaRPr lang="zh-CN" dirty="0"/>
          </a:p>
          <a:p>
            <a:r>
              <a:rPr lang="zh-CN" dirty="0"/>
              <a:t>Key points: (1) SVG is chosen by elimination (2) It matches the slide canvas worldview (3) It remains inspectable before export</a:t>
            </a:r>
          </a:p>
          <a:p>
            <a:r>
              <a:rPr lang="zh-CN" dirty="0"/>
              <a:t>Duration: 1.5 minutes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Even with the right architecture, the docs are careful not to over-promise the final quality.</a:t>
            </a:r>
          </a:p>
          <a:p>
            <a:endParaRPr lang="zh-CN" dirty="0"/>
          </a:p>
          <a:p>
            <a:r>
              <a:rPr lang="zh-CN" dirty="0"/>
              <a:t>The generated deck is described as a design draft, not a finished masterpiece. The workflow aims to remove most of the blank-page labor, but the user is still expected to review, refine, and finish the final mile. That honesty is one of the strongest parts of the documentation because it sets the right quality expectations upfront.</a:t>
            </a:r>
          </a:p>
          <a:p>
            <a:endParaRPr lang="zh-CN" dirty="0"/>
          </a:p>
          <a:p>
            <a:r>
              <a:rPr lang="zh-CN" dirty="0"/>
              <a:t>Key points: (1) AI is the designer, not the finisher (2) Human judgment stays central (3) The product is honest about its limits</a:t>
            </a:r>
          </a:p>
          <a:p>
            <a:r>
              <a:rPr lang="zh-CN" dirty="0"/>
              <a:t>Duration: 1 minute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FAQ then translates those high-level ideas into the practical questions users actually ask.</a:t>
            </a:r>
          </a:p>
          <a:p>
            <a:endParaRPr lang="zh-CN" dirty="0"/>
          </a:p>
          <a:p>
            <a:r>
              <a:rPr lang="zh-CN" dirty="0"/>
              <a:t>The first cluster is basic operating scope: what formats can be read, what formats can be exported, what happens to charts, and whether the output is really editable. The answers are broad on input, explicit on output, and careful about chart limitations. The FAQ reads like a boundary-setting document as much as a help page.</a:t>
            </a:r>
          </a:p>
          <a:p>
            <a:endParaRPr lang="zh-CN" dirty="0"/>
          </a:p>
          <a:p>
            <a:r>
              <a:rPr lang="zh-CN" dirty="0"/>
              <a:t>Key points: (1) Input coverage is broad (2) Export behavior is explicit (3) Charts are visual shapes, not spreadsheet objects</a:t>
            </a:r>
          </a:p>
          <a:p>
            <a:r>
              <a:rPr lang="zh-CN" dirty="0"/>
              <a:t>Duration: 1 minute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next FAQ cluster is about quality, model choice, and what happens when a slide is not quite right.</a:t>
            </a:r>
          </a:p>
          <a:p>
            <a:endParaRPr lang="zh-CN" dirty="0"/>
          </a:p>
          <a:p>
            <a:r>
              <a:rPr lang="zh-CN" dirty="0"/>
              <a:t>The docs strongly favor Claude for layout-heavy generation, while admitting that other models may produce more overflow and coordinate errors. They also normalize an iterative review loop: inspect a page, describe the defect, regenerate or fix that page, and then polish inside PowerPoint. In other words, quality comes from model choice plus editorial process.</a:t>
            </a:r>
          </a:p>
          <a:p>
            <a:endParaRPr lang="zh-CN" dirty="0"/>
          </a:p>
          <a:p>
            <a:r>
              <a:rPr lang="zh-CN" dirty="0"/>
              <a:t>Key points: (1) Model quality matters (2) Review and repair are expected (3) The output is a strong starting point, not an automatic final answer</a:t>
            </a:r>
          </a:p>
          <a:p>
            <a:r>
              <a:rPr lang="zh-CN" dirty="0"/>
              <a:t>Duration: 1 minute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Once expectations are clear, the setup guide shows the shortest path to getting the workflow running on Windows.</a:t>
            </a:r>
          </a:p>
          <a:p>
            <a:endParaRPr lang="zh-CN" dirty="0"/>
          </a:p>
          <a:p>
            <a:r>
              <a:rPr lang="zh-CN" dirty="0"/>
              <a:t>The logic is simple: install Python correctly, get the project onto the machine, install dependencies, and verify the runtime before trying a larger deck. The repeated emphasis on PATH is not accidental. The guide treats environment correctness as the main gating factor for success.</a:t>
            </a:r>
          </a:p>
          <a:p>
            <a:endParaRPr lang="zh-CN" dirty="0"/>
          </a:p>
          <a:p>
            <a:r>
              <a:rPr lang="zh-CN" dirty="0"/>
              <a:t>Key points: (1) Python plus PATH is the first checkpoint (2) Dependencies and imports come next (3) A tiny sample deck proves the chain works</a:t>
            </a:r>
          </a:p>
          <a:p>
            <a:r>
              <a:rPr lang="zh-CN" dirty="0"/>
              <a:t>Duration: 1 minute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troubleshooting section reinforces the same lesson from a different angle.</a:t>
            </a:r>
          </a:p>
          <a:p>
            <a:endParaRPr lang="zh-CN" dirty="0"/>
          </a:p>
          <a:p>
            <a:r>
              <a:rPr lang="zh-CN" dirty="0"/>
              <a:t>Most failures are not presentation-design problems yet. They are environment problems: the wrong interpreter, the wrong pip target, blocked scripts, or missing modules. The right debugging order is to stabilize the machine first, then test imports, then run a minimal example, and only after that start debugging slide generation itself.</a:t>
            </a:r>
          </a:p>
          <a:p>
            <a:endParaRPr lang="zh-CN" dirty="0"/>
          </a:p>
          <a:p>
            <a:r>
              <a:rPr lang="zh-CN" dirty="0"/>
              <a:t>Key points: (1) Fix the environment before the slides (2) Use a structured debugging sequence (3) Edge-case tools are optional fallbacks</a:t>
            </a:r>
          </a:p>
          <a:p>
            <a:r>
              <a:rPr lang="zh-CN" dirty="0"/>
              <a:t>Duration: 1 minute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That brings us to the cleanest possible closing statement about who this workflow is for.</a:t>
            </a:r>
          </a:p>
          <a:p>
            <a:endParaRPr lang="zh-CN" dirty="0"/>
          </a:p>
          <a:p>
            <a:r>
              <a:rPr lang="zh-CN" dirty="0"/>
              <a:t>PPT Master is not the easiest or fastest slide tool. It is the tool for users who care more about editable, controllable output than instant browser convenience. If the audience values native PowerPoint behavior, local execution, predictable cost, and an open workflow, the docs argue that this is the right trade to make.</a:t>
            </a:r>
          </a:p>
          <a:p>
            <a:endParaRPr lang="zh-CN" dirty="0"/>
          </a:p>
          <a:p>
            <a:r>
              <a:rPr lang="zh-CN" dirty="0"/>
              <a:t>Key points: (1) Best for serious editable-output use cases (2) Not ideal for zero-setup browser workflows (3) The product is optimized for control, not ease alone</a:t>
            </a:r>
          </a:p>
          <a:p>
            <a:r>
              <a:rPr lang="zh-CN" dirty="0"/>
              <a:t>Duration: 1 minute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A1A2E"/>
              </a:gs>
              <a:gs pos="100000">
                <a:srgbClr val="0F172A"/>
              </a:gs>
            </a:gsLst>
            <a:lin ang="2700000" scaled="1"/>
          </a:gradFill>
          <a:ln>
            <a:noFill/>
          </a:ln>
        </p:spPr>
      </p:sp>
      <p:sp>
        <p:nvSpPr>
          <p:cNvPr id="3" name="Rectangle 3"/>
          <p:cNvSpPr/>
          <p:nvPr/>
        </p:nvSpPr>
        <p:spPr>
          <a:xfrm>
            <a:off x="0" y="0"/>
            <a:ext cx="12192000" cy="6858000"/>
          </a:xfrm>
          <a:prstGeom prst="rect">
            <a:avLst/>
          </a:prstGeom>
          <a:noFill/>
          <a:ln>
            <a:noFill/>
          </a:ln>
        </p:spPr>
      </p:sp>
      <p:sp>
        <p:nvSpPr>
          <p:cNvPr id="4" name="Rectangle 4"/>
          <p:cNvSpPr/>
          <p:nvPr/>
        </p:nvSpPr>
        <p:spPr>
          <a:xfrm>
            <a:off x="0" y="0"/>
            <a:ext cx="12192000" cy="57150"/>
          </a:xfrm>
          <a:prstGeom prst="rect">
            <a:avLst/>
          </a:prstGeom>
          <a:solidFill>
            <a:srgbClr val="D97757"/>
          </a:solidFill>
          <a:ln>
            <a:noFill/>
          </a:ln>
        </p:spPr>
      </p:sp>
      <p:grpSp>
        <p:nvGrpSpPr>
          <p:cNvPr id="9" name="Group 9"/>
          <p:cNvGrpSpPr/>
          <p:nvPr/>
        </p:nvGrpSpPr>
        <p:grpSpPr>
          <a:xfrm>
            <a:off x="0" y="-381000"/>
            <a:ext cx="12192000" cy="8096250"/>
            <a:chOff x="0" y="-381000"/>
            <a:chExt cx="12192000" cy="8096250"/>
          </a:xfrm>
        </p:grpSpPr>
        <p:sp>
          <p:nvSpPr>
            <p:cNvPr id="5" name="Rectangle 5"/>
            <p:cNvSpPr/>
            <p:nvPr/>
          </p:nvSpPr>
          <p:spPr>
            <a:xfrm>
              <a:off x="0" y="0"/>
              <a:ext cx="12192000" cy="6858000"/>
            </a:xfrm>
            <a:prstGeom prst="rect">
              <a:avLst/>
            </a:prstGeom>
            <a:noFill/>
            <a:ln w="9525">
              <a:solidFill>
                <a:srgbClr val="FFFFFF">
                  <a:alpha val="4000"/>
                </a:srgbClr>
              </a:solidFill>
            </a:ln>
          </p:spPr>
        </p:sp>
        <p:sp>
          <p:nvSpPr>
            <p:cNvPr id="6" name="Freeform 6"/>
            <p:cNvSpPr/>
            <p:nvPr/>
          </p:nvSpPr>
          <p:spPr>
            <a:xfrm>
              <a:off x="0" y="0"/>
              <a:ext cx="12192000" cy="6858000"/>
            </a:xfrm>
            <a:custGeom>
              <a:avLst/>
              <a:gdLst/>
              <a:ahLst/>
              <a:cxnLst/>
              <a:rect l="l" t="t" r="r" b="b"/>
              <a:pathLst>
                <a:path w="12192000" h="6858000">
                  <a:moveTo>
                    <a:pt x="0" y="1714500"/>
                  </a:moveTo>
                  <a:lnTo>
                    <a:pt x="12192000" y="1714500"/>
                  </a:lnTo>
                  <a:moveTo>
                    <a:pt x="0" y="3429000"/>
                  </a:moveTo>
                  <a:lnTo>
                    <a:pt x="12192000" y="3429000"/>
                  </a:lnTo>
                  <a:moveTo>
                    <a:pt x="0" y="5143500"/>
                  </a:moveTo>
                  <a:lnTo>
                    <a:pt x="12192000" y="5143500"/>
                  </a:lnTo>
                  <a:moveTo>
                    <a:pt x="3048000" y="0"/>
                  </a:moveTo>
                  <a:lnTo>
                    <a:pt x="3048000" y="6858000"/>
                  </a:lnTo>
                  <a:moveTo>
                    <a:pt x="6096000" y="0"/>
                  </a:moveTo>
                  <a:lnTo>
                    <a:pt x="6096000" y="6858000"/>
                  </a:lnTo>
                  <a:moveTo>
                    <a:pt x="9144000" y="0"/>
                  </a:moveTo>
                  <a:lnTo>
                    <a:pt x="9144000" y="6858000"/>
                  </a:lnTo>
                </a:path>
              </a:pathLst>
            </a:custGeom>
            <a:noFill/>
            <a:ln w="9525">
              <a:solidFill>
                <a:srgbClr val="FFFFFF">
                  <a:alpha val="3000"/>
                </a:srgbClr>
              </a:solidFill>
            </a:ln>
          </p:spPr>
        </p:sp>
        <p:sp>
          <p:nvSpPr>
            <p:cNvPr id="7" name="Ellipse 7"/>
            <p:cNvSpPr/>
            <p:nvPr/>
          </p:nvSpPr>
          <p:spPr>
            <a:xfrm>
              <a:off x="8572500" y="-381000"/>
              <a:ext cx="3048000" cy="3048000"/>
            </a:xfrm>
            <a:prstGeom prst="ellipse">
              <a:avLst/>
            </a:prstGeom>
            <a:solidFill>
              <a:srgbClr val="D97757">
                <a:alpha val="10000"/>
              </a:srgbClr>
            </a:solidFill>
            <a:ln>
              <a:noFill/>
            </a:ln>
          </p:spPr>
        </p:sp>
        <p:sp>
          <p:nvSpPr>
            <p:cNvPr id="8" name="Ellipse 8"/>
            <p:cNvSpPr/>
            <p:nvPr/>
          </p:nvSpPr>
          <p:spPr>
            <a:xfrm>
              <a:off x="6858000" y="3714750"/>
              <a:ext cx="4000500" cy="4000500"/>
            </a:xfrm>
            <a:prstGeom prst="ellipse">
              <a:avLst/>
            </a:prstGeom>
            <a:solidFill>
              <a:srgbClr val="4A90D9">
                <a:alpha val="8000"/>
              </a:srgbClr>
            </a:solidFill>
            <a:ln>
              <a:noFill/>
            </a:ln>
          </p:spPr>
        </p:sp>
      </p:grpSp>
      <p:sp>
        <p:nvSpPr>
          <p:cNvPr id="10" name="Ellipse 10"/>
          <p:cNvSpPr/>
          <p:nvPr/>
        </p:nvSpPr>
        <p:spPr>
          <a:xfrm>
            <a:off x="8858250" y="-742950"/>
            <a:ext cx="3238500" cy="3238500"/>
          </a:xfrm>
          <a:prstGeom prst="ellipse">
            <a:avLst/>
          </a:prstGeom>
          <a:solidFill>
            <a:srgbClr val="D97757">
              <a:alpha val="6000"/>
            </a:srgbClr>
          </a:solidFill>
          <a:ln>
            <a:noFill/>
          </a:ln>
        </p:spPr>
      </p:sp>
      <p:sp>
        <p:nvSpPr>
          <p:cNvPr id="11" name="Ellipse 11"/>
          <p:cNvSpPr/>
          <p:nvPr/>
        </p:nvSpPr>
        <p:spPr>
          <a:xfrm>
            <a:off x="7905750" y="3905250"/>
            <a:ext cx="4000500" cy="4000500"/>
          </a:xfrm>
          <a:prstGeom prst="ellipse">
            <a:avLst/>
          </a:prstGeom>
          <a:solidFill>
            <a:srgbClr val="10B981">
              <a:alpha val="5000"/>
            </a:srgbClr>
          </a:solidFill>
          <a:ln>
            <a:noFill/>
          </a:ln>
        </p:spPr>
      </p:sp>
      <p:sp>
        <p:nvSpPr>
          <p:cNvPr id="12" name="Ellipse 12"/>
          <p:cNvSpPr/>
          <p:nvPr/>
        </p:nvSpPr>
        <p:spPr>
          <a:xfrm>
            <a:off x="666750" y="209550"/>
            <a:ext cx="2095500" cy="2095500"/>
          </a:xfrm>
          <a:prstGeom prst="ellipse">
            <a:avLst/>
          </a:prstGeom>
          <a:solidFill>
            <a:srgbClr val="4A90D9">
              <a:alpha val="7000"/>
            </a:srgbClr>
          </a:solidFill>
          <a:ln>
            <a:noFill/>
          </a:ln>
        </p:spPr>
      </p:sp>
      <p:grpSp>
        <p:nvGrpSpPr>
          <p:cNvPr id="15" name="Group 15"/>
          <p:cNvGrpSpPr/>
          <p:nvPr/>
        </p:nvGrpSpPr>
        <p:grpSpPr>
          <a:xfrm>
            <a:off x="609600" y="533400"/>
            <a:ext cx="876300" cy="228600"/>
            <a:chOff x="609600" y="533400"/>
            <a:chExt cx="876300" cy="228600"/>
          </a:xfrm>
        </p:grpSpPr>
        <p:sp>
          <p:nvSpPr>
            <p:cNvPr id="13" name="Freeform 13"/>
            <p:cNvSpPr/>
            <p:nvPr/>
          </p:nvSpPr>
          <p:spPr>
            <a:xfrm>
              <a:off x="609600" y="533400"/>
              <a:ext cx="552450" cy="76200"/>
            </a:xfrm>
            <a:custGeom>
              <a:avLst/>
              <a:gdLst/>
              <a:ahLst/>
              <a:cxnLst/>
              <a:rect l="l" t="t" r="r" b="b"/>
              <a:pathLst>
                <a:path w="552450" h="76200">
                  <a:moveTo>
                    <a:pt x="38100" y="0"/>
                  </a:moveTo>
                  <a:lnTo>
                    <a:pt x="514350" y="0"/>
                  </a:lnTo>
                  <a:cubicBezTo>
                    <a:pt x="535392" y="0"/>
                    <a:pt x="552450" y="17058"/>
                    <a:pt x="552450" y="38100"/>
                  </a:cubicBezTo>
                  <a:lnTo>
                    <a:pt x="552450" y="38100"/>
                  </a:lnTo>
                  <a:cubicBezTo>
                    <a:pt x="552450" y="59142"/>
                    <a:pt x="535392" y="76200"/>
                    <a:pt x="514350" y="76200"/>
                  </a:cubicBezTo>
                  <a:lnTo>
                    <a:pt x="38100" y="76200"/>
                  </a:lnTo>
                  <a:cubicBezTo>
                    <a:pt x="17058" y="76200"/>
                    <a:pt x="0" y="59142"/>
                    <a:pt x="0" y="38100"/>
                  </a:cubicBezTo>
                  <a:lnTo>
                    <a:pt x="0" y="38100"/>
                  </a:lnTo>
                  <a:cubicBezTo>
                    <a:pt x="0" y="17058"/>
                    <a:pt x="17058" y="0"/>
                    <a:pt x="38100" y="0"/>
                  </a:cubicBezTo>
                  <a:close/>
                </a:path>
              </a:pathLst>
            </a:custGeom>
            <a:solidFill>
              <a:srgbClr val="D97757"/>
            </a:solidFill>
            <a:ln>
              <a:noFill/>
            </a:ln>
          </p:spPr>
        </p:sp>
        <p:sp>
          <p:nvSpPr>
            <p:cNvPr id="14" name="Freeform 14"/>
            <p:cNvSpPr/>
            <p:nvPr/>
          </p:nvSpPr>
          <p:spPr>
            <a:xfrm>
              <a:off x="609600" y="685800"/>
              <a:ext cx="876300" cy="76200"/>
            </a:xfrm>
            <a:custGeom>
              <a:avLst/>
              <a:gdLst/>
              <a:ahLst/>
              <a:cxnLst/>
              <a:rect l="l" t="t" r="r" b="b"/>
              <a:pathLst>
                <a:path w="876300" h="76200">
                  <a:moveTo>
                    <a:pt x="38100" y="0"/>
                  </a:moveTo>
                  <a:lnTo>
                    <a:pt x="838200" y="0"/>
                  </a:lnTo>
                  <a:cubicBezTo>
                    <a:pt x="859242" y="0"/>
                    <a:pt x="876300" y="17058"/>
                    <a:pt x="876300" y="38100"/>
                  </a:cubicBezTo>
                  <a:lnTo>
                    <a:pt x="876300" y="38100"/>
                  </a:lnTo>
                  <a:cubicBezTo>
                    <a:pt x="876300" y="59142"/>
                    <a:pt x="859242" y="76200"/>
                    <a:pt x="838200" y="76200"/>
                  </a:cubicBezTo>
                  <a:lnTo>
                    <a:pt x="38100" y="76200"/>
                  </a:lnTo>
                  <a:cubicBezTo>
                    <a:pt x="17058" y="76200"/>
                    <a:pt x="0" y="59142"/>
                    <a:pt x="0" y="38100"/>
                  </a:cubicBezTo>
                  <a:lnTo>
                    <a:pt x="0" y="38100"/>
                  </a:lnTo>
                  <a:cubicBezTo>
                    <a:pt x="0" y="17058"/>
                    <a:pt x="17058" y="0"/>
                    <a:pt x="38100" y="0"/>
                  </a:cubicBezTo>
                  <a:close/>
                </a:path>
              </a:pathLst>
            </a:custGeom>
            <a:solidFill>
              <a:srgbClr val="4A90D9"/>
            </a:solidFill>
            <a:ln>
              <a:noFill/>
            </a:ln>
          </p:spPr>
        </p:sp>
      </p:grpSp>
      <p:grpSp>
        <p:nvGrpSpPr>
          <p:cNvPr id="20" name="Group 20"/>
          <p:cNvGrpSpPr/>
          <p:nvPr/>
        </p:nvGrpSpPr>
        <p:grpSpPr>
          <a:xfrm>
            <a:off x="737235" y="1908810"/>
            <a:ext cx="7629049" cy="2177415"/>
            <a:chOff x="737235" y="1908810"/>
            <a:chExt cx="7629049" cy="2177415"/>
          </a:xfrm>
        </p:grpSpPr>
        <p:sp>
          <p:nvSpPr>
            <p:cNvPr id="16" name="TextBox 16"/>
            <p:cNvSpPr txBox="1"/>
            <p:nvPr/>
          </p:nvSpPr>
          <p:spPr>
            <a:xfrm>
              <a:off x="784860" y="1908810"/>
              <a:ext cx="2330768" cy="243840"/>
            </a:xfrm>
            <a:prstGeom prst="rect">
              <a:avLst/>
            </a:prstGeom>
            <a:noFill/>
            <a:ln>
              <a:noFill/>
            </a:ln>
          </p:spPr>
          <p:txBody>
            <a:bodyPr wrap="none" lIns="0" tIns="0" rIns="0" bIns="0" anchor="t" anchorCtr="0">
              <a:spAutoFit/>
            </a:bodyPr>
            <a:lstStyle/>
            <a:p>
              <a:pPr algn="l"/>
              <a:r>
                <a:rPr lang="zh-CN" sz="1200" b="1" dirty="0">
                  <a:solidFill>
                    <a:srgbClr val="D97757"/>
                  </a:solidFill>
                  <a:latin typeface="Arial"/>
                  <a:ea typeface="Microsoft YaHei"/>
                  <a:cs typeface="Arial"/>
                </a:rPr>
                <a:t>DOCUMENTATION SYNTHESIS</a:t>
              </a:r>
            </a:p>
          </p:txBody>
        </p:sp>
        <p:sp>
          <p:nvSpPr>
            <p:cNvPr id="17" name="TextBox 17"/>
            <p:cNvSpPr txBox="1"/>
            <p:nvPr/>
          </p:nvSpPr>
          <p:spPr>
            <a:xfrm>
              <a:off x="737235" y="2342198"/>
              <a:ext cx="4262797" cy="1005840"/>
            </a:xfrm>
            <a:prstGeom prst="rect">
              <a:avLst/>
            </a:prstGeom>
            <a:noFill/>
            <a:ln>
              <a:noFill/>
            </a:ln>
          </p:spPr>
          <p:txBody>
            <a:bodyPr wrap="none" lIns="0" tIns="0" rIns="0" bIns="0" anchor="t" anchorCtr="0">
              <a:spAutoFit/>
            </a:bodyPr>
            <a:lstStyle/>
            <a:p>
              <a:pPr algn="l"/>
              <a:r>
                <a:rPr lang="zh-CN" sz="4950" b="1" dirty="0">
                  <a:solidFill>
                    <a:srgbClr val="D97757"/>
                  </a:solidFill>
                  <a:latin typeface="Arial"/>
                  <a:ea typeface="Microsoft YaHei"/>
                  <a:cs typeface="Arial"/>
                </a:rPr>
                <a:t>PPT Master</a:t>
              </a:r>
            </a:p>
          </p:txBody>
        </p:sp>
        <p:sp>
          <p:nvSpPr>
            <p:cNvPr id="18" name="TextBox 18"/>
            <p:cNvSpPr txBox="1"/>
            <p:nvPr/>
          </p:nvSpPr>
          <p:spPr>
            <a:xfrm>
              <a:off x="773430" y="3278505"/>
              <a:ext cx="6961103"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Arial"/>
                  <a:ea typeface="Microsoft YaHei"/>
                  <a:cs typeface="Arial"/>
                </a:rPr>
                <a:t>Product, Architecture, and Setup Overview</a:t>
              </a:r>
            </a:p>
          </p:txBody>
        </p:sp>
        <p:sp>
          <p:nvSpPr>
            <p:cNvPr id="19" name="TextBox 19"/>
            <p:cNvSpPr txBox="1"/>
            <p:nvPr/>
          </p:nvSpPr>
          <p:spPr>
            <a:xfrm>
              <a:off x="781050" y="3781425"/>
              <a:ext cx="7585234" cy="30480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A compact deck distilled from the project docs into a single narrative.</a:t>
              </a:r>
            </a:p>
          </p:txBody>
        </p:sp>
      </p:grpSp>
      <p:grpSp>
        <p:nvGrpSpPr>
          <p:cNvPr id="39" name="Group 39"/>
          <p:cNvGrpSpPr/>
          <p:nvPr/>
        </p:nvGrpSpPr>
        <p:grpSpPr>
          <a:xfrm>
            <a:off x="7048500" y="1181100"/>
            <a:ext cx="7223045" cy="4476750"/>
            <a:chOff x="7048500" y="1181100"/>
            <a:chExt cx="7223045" cy="4476750"/>
          </a:xfrm>
          <a:effectLst>
            <a:outerShdw blurRad="152400" dist="38100" dir="10799140" algn="tl" rotWithShape="0">
              <a:srgbClr val="0F172A">
                <a:alpha val="12000"/>
              </a:srgbClr>
            </a:outerShdw>
          </a:effectLst>
        </p:grpSpPr>
        <p:sp>
          <p:nvSpPr>
            <p:cNvPr id="21" name="Freeform 21"/>
            <p:cNvSpPr/>
            <p:nvPr/>
          </p:nvSpPr>
          <p:spPr>
            <a:xfrm>
              <a:off x="7048500" y="1181100"/>
              <a:ext cx="4400550" cy="4476750"/>
            </a:xfrm>
            <a:custGeom>
              <a:avLst/>
              <a:gdLst/>
              <a:ahLst/>
              <a:cxnLst/>
              <a:rect l="l" t="t" r="r" b="b"/>
              <a:pathLst>
                <a:path w="4400550" h="4476750">
                  <a:moveTo>
                    <a:pt x="266700" y="0"/>
                  </a:moveTo>
                  <a:lnTo>
                    <a:pt x="4133850" y="0"/>
                  </a:lnTo>
                  <a:cubicBezTo>
                    <a:pt x="4281144" y="0"/>
                    <a:pt x="4400550" y="119406"/>
                    <a:pt x="4400550" y="266700"/>
                  </a:cubicBezTo>
                  <a:lnTo>
                    <a:pt x="4400550" y="4210050"/>
                  </a:lnTo>
                  <a:cubicBezTo>
                    <a:pt x="4400550" y="4357344"/>
                    <a:pt x="4281144" y="4476750"/>
                    <a:pt x="4133850" y="4476750"/>
                  </a:cubicBezTo>
                  <a:lnTo>
                    <a:pt x="266700" y="4476750"/>
                  </a:lnTo>
                  <a:cubicBezTo>
                    <a:pt x="119406" y="4476750"/>
                    <a:pt x="0" y="4357344"/>
                    <a:pt x="0" y="4210050"/>
                  </a:cubicBezTo>
                  <a:lnTo>
                    <a:pt x="0" y="266700"/>
                  </a:lnTo>
                  <a:cubicBezTo>
                    <a:pt x="0" y="119406"/>
                    <a:pt x="119406" y="0"/>
                    <a:pt x="266700" y="0"/>
                  </a:cubicBezTo>
                  <a:close/>
                </a:path>
              </a:pathLst>
            </a:custGeom>
            <a:solidFill>
              <a:srgbClr val="F8FAFC"/>
            </a:solidFill>
            <a:ln>
              <a:noFill/>
            </a:ln>
            <a:effectLst>
              <a:outerShdw blurRad="152400" dist="38100" dir="10799140" algn="tl" rotWithShape="0">
                <a:srgbClr val="0F172A">
                  <a:alpha val="12000"/>
                </a:srgbClr>
              </a:outerShdw>
            </a:effectLst>
          </p:spPr>
        </p:sp>
        <p:sp>
          <p:nvSpPr>
            <p:cNvPr id="22" name="Freeform 22"/>
            <p:cNvSpPr/>
            <p:nvPr/>
          </p:nvSpPr>
          <p:spPr>
            <a:xfrm>
              <a:off x="7048500" y="1181100"/>
              <a:ext cx="4400550" cy="4476750"/>
            </a:xfrm>
            <a:custGeom>
              <a:avLst/>
              <a:gdLst/>
              <a:ahLst/>
              <a:cxnLst/>
              <a:rect l="l" t="t" r="r" b="b"/>
              <a:pathLst>
                <a:path w="4400550" h="4476750">
                  <a:moveTo>
                    <a:pt x="266700" y="0"/>
                  </a:moveTo>
                  <a:lnTo>
                    <a:pt x="4133850" y="0"/>
                  </a:lnTo>
                  <a:cubicBezTo>
                    <a:pt x="4281144" y="0"/>
                    <a:pt x="4400550" y="119406"/>
                    <a:pt x="4400550" y="266700"/>
                  </a:cubicBezTo>
                  <a:lnTo>
                    <a:pt x="4400550" y="4210050"/>
                  </a:lnTo>
                  <a:cubicBezTo>
                    <a:pt x="4400550" y="4357344"/>
                    <a:pt x="4281144" y="4476750"/>
                    <a:pt x="4133850" y="4476750"/>
                  </a:cubicBezTo>
                  <a:lnTo>
                    <a:pt x="266700" y="4476750"/>
                  </a:lnTo>
                  <a:cubicBezTo>
                    <a:pt x="119406" y="4476750"/>
                    <a:pt x="0" y="4357344"/>
                    <a:pt x="0" y="4210050"/>
                  </a:cubicBezTo>
                  <a:lnTo>
                    <a:pt x="0" y="266700"/>
                  </a:lnTo>
                  <a:cubicBezTo>
                    <a:pt x="0" y="119406"/>
                    <a:pt x="119406" y="0"/>
                    <a:pt x="266700" y="0"/>
                  </a:cubicBezTo>
                  <a:close/>
                </a:path>
              </a:pathLst>
            </a:custGeom>
            <a:solidFill>
              <a:srgbClr val="D97757">
                <a:alpha val="3000"/>
              </a:srgbClr>
            </a:solidFill>
            <a:ln>
              <a:noFill/>
            </a:ln>
            <a:effectLst>
              <a:outerShdw blurRad="152400" dist="38100" dir="10799140" algn="tl" rotWithShape="0">
                <a:srgbClr val="0F172A">
                  <a:alpha val="12000"/>
                </a:srgbClr>
              </a:outerShdw>
            </a:effectLst>
          </p:spPr>
        </p:sp>
        <p:grpSp>
          <p:nvGrpSpPr>
            <p:cNvPr id="25" name="Group 25"/>
            <p:cNvGrpSpPr/>
            <p:nvPr/>
          </p:nvGrpSpPr>
          <p:grpSpPr>
            <a:xfrm>
              <a:off x="7448550" y="1581150"/>
              <a:ext cx="381000" cy="381000"/>
              <a:chOff x="7448550" y="1581150"/>
              <a:chExt cx="381000" cy="381000"/>
            </a:xfrm>
          </p:grpSpPr>
          <p:sp>
            <p:nvSpPr>
              <p:cNvPr id="23" name="Freeform 23"/>
              <p:cNvSpPr/>
              <p:nvPr/>
            </p:nvSpPr>
            <p:spPr>
              <a:xfrm>
                <a:off x="7448550" y="1581150"/>
                <a:ext cx="381000" cy="381000"/>
              </a:xfrm>
              <a:custGeom>
                <a:avLst/>
                <a:gdLst/>
                <a:ahLst/>
                <a:cxnLst/>
                <a:rect l="l" t="t" r="r" b="b"/>
                <a:pathLst>
                  <a:path w="381000" h="381000">
                    <a:moveTo>
                      <a:pt x="238125" y="381000"/>
                    </a:moveTo>
                    <a:lnTo>
                      <a:pt x="285750" y="333375"/>
                    </a:lnTo>
                    <a:lnTo>
                      <a:pt x="285750" y="238125"/>
                    </a:lnTo>
                    <a:lnTo>
                      <a:pt x="325205" y="198671"/>
                    </a:lnTo>
                    <a:cubicBezTo>
                      <a:pt x="360928" y="162945"/>
                      <a:pt x="381000" y="114491"/>
                      <a:pt x="381000" y="63967"/>
                    </a:cubicBezTo>
                    <a:lnTo>
                      <a:pt x="381000" y="0"/>
                    </a:lnTo>
                    <a:lnTo>
                      <a:pt x="317032" y="0"/>
                    </a:lnTo>
                    <a:cubicBezTo>
                      <a:pt x="266510" y="0"/>
                      <a:pt x="218054" y="20070"/>
                      <a:pt x="182329" y="55796"/>
                    </a:cubicBezTo>
                    <a:lnTo>
                      <a:pt x="142875" y="95250"/>
                    </a:lnTo>
                    <a:lnTo>
                      <a:pt x="47625" y="95250"/>
                    </a:lnTo>
                    <a:lnTo>
                      <a:pt x="0" y="142875"/>
                    </a:lnTo>
                    <a:lnTo>
                      <a:pt x="238125" y="381000"/>
                    </a:lnTo>
                    <a:close/>
                    <a:moveTo>
                      <a:pt x="250031" y="166688"/>
                    </a:moveTo>
                    <a:cubicBezTo>
                      <a:pt x="269758" y="166688"/>
                      <a:pt x="285750" y="150696"/>
                      <a:pt x="285750" y="130969"/>
                    </a:cubicBezTo>
                    <a:cubicBezTo>
                      <a:pt x="285750" y="111242"/>
                      <a:pt x="269758" y="95250"/>
                      <a:pt x="250031" y="95250"/>
                    </a:cubicBezTo>
                    <a:cubicBezTo>
                      <a:pt x="230304" y="95250"/>
                      <a:pt x="214312" y="111242"/>
                      <a:pt x="214312" y="130969"/>
                    </a:cubicBezTo>
                    <a:cubicBezTo>
                      <a:pt x="214312" y="150696"/>
                      <a:pt x="230304" y="166688"/>
                      <a:pt x="250031" y="166688"/>
                    </a:cubicBezTo>
                    <a:close/>
                  </a:path>
                </a:pathLst>
              </a:custGeom>
              <a:solidFill>
                <a:srgbClr val="D97757"/>
              </a:solidFill>
              <a:ln>
                <a:noFill/>
              </a:ln>
              <a:effectLst>
                <a:outerShdw blurRad="152400" dist="38100" dir="10799140" algn="tl" rotWithShape="0">
                  <a:srgbClr val="0F172A">
                    <a:alpha val="12000"/>
                  </a:srgbClr>
                </a:outerShdw>
              </a:effectLst>
            </p:spPr>
          </p:sp>
          <p:sp>
            <p:nvSpPr>
              <p:cNvPr id="24" name="Freeform 24"/>
              <p:cNvSpPr/>
              <p:nvPr/>
            </p:nvSpPr>
            <p:spPr>
              <a:xfrm>
                <a:off x="7448550" y="1844816"/>
                <a:ext cx="117334" cy="117334"/>
              </a:xfrm>
              <a:custGeom>
                <a:avLst/>
                <a:gdLst/>
                <a:ahLst/>
                <a:cxnLst/>
                <a:rect l="l" t="t" r="r" b="b"/>
                <a:pathLst>
                  <a:path w="117334" h="117334">
                    <a:moveTo>
                      <a:pt x="117334" y="63894"/>
                    </a:moveTo>
                    <a:lnTo>
                      <a:pt x="53441" y="0"/>
                    </a:lnTo>
                    <a:lnTo>
                      <a:pt x="0" y="93521"/>
                    </a:lnTo>
                    <a:lnTo>
                      <a:pt x="23812" y="117334"/>
                    </a:lnTo>
                    <a:lnTo>
                      <a:pt x="117334" y="63894"/>
                    </a:lnTo>
                    <a:close/>
                  </a:path>
                </a:pathLst>
              </a:custGeom>
              <a:solidFill>
                <a:srgbClr val="D97757"/>
              </a:solidFill>
              <a:ln>
                <a:noFill/>
              </a:ln>
              <a:effectLst>
                <a:outerShdw blurRad="152400" dist="38100" dir="10799140" algn="tl" rotWithShape="0">
                  <a:srgbClr val="0F172A">
                    <a:alpha val="12000"/>
                  </a:srgbClr>
                </a:outerShdw>
              </a:effectLst>
            </p:spPr>
          </p:sp>
        </p:grpSp>
        <p:sp>
          <p:nvSpPr>
            <p:cNvPr id="26" name="TextBox 26"/>
            <p:cNvSpPr txBox="1"/>
            <p:nvPr/>
          </p:nvSpPr>
          <p:spPr>
            <a:xfrm>
              <a:off x="7995285" y="1637348"/>
              <a:ext cx="3264182" cy="39624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950" b="1" dirty="0">
                  <a:solidFill>
                    <a:srgbClr val="FFFFFF"/>
                  </a:solidFill>
                  <a:latin typeface="Arial"/>
                  <a:ea typeface="Microsoft YaHei"/>
                  <a:cs typeface="Arial"/>
                </a:rPr>
                <a:t>What this deck covers</a:t>
              </a:r>
            </a:p>
          </p:txBody>
        </p:sp>
        <p:grpSp>
          <p:nvGrpSpPr>
            <p:cNvPr id="30" name="Group 30"/>
            <p:cNvGrpSpPr/>
            <p:nvPr/>
          </p:nvGrpSpPr>
          <p:grpSpPr>
            <a:xfrm>
              <a:off x="7448550" y="2190750"/>
              <a:ext cx="5746789" cy="838200"/>
              <a:chOff x="7448550" y="2190750"/>
              <a:chExt cx="5746789" cy="838200"/>
            </a:xfrm>
          </p:grpSpPr>
          <p:sp>
            <p:nvSpPr>
              <p:cNvPr id="27" name="Freeform 27"/>
              <p:cNvSpPr/>
              <p:nvPr/>
            </p:nvSpPr>
            <p:spPr>
              <a:xfrm>
                <a:off x="7448550" y="2190750"/>
                <a:ext cx="3600450" cy="838200"/>
              </a:xfrm>
              <a:custGeom>
                <a:avLst/>
                <a:gdLst/>
                <a:ahLst/>
                <a:cxnLst/>
                <a:rect l="l" t="t" r="r" b="b"/>
                <a:pathLst>
                  <a:path w="3600450" h="838200">
                    <a:moveTo>
                      <a:pt x="171450" y="0"/>
                    </a:moveTo>
                    <a:lnTo>
                      <a:pt x="3429000" y="0"/>
                    </a:lnTo>
                    <a:cubicBezTo>
                      <a:pt x="3523689" y="0"/>
                      <a:pt x="3600450" y="76761"/>
                      <a:pt x="3600450" y="171450"/>
                    </a:cubicBezTo>
                    <a:lnTo>
                      <a:pt x="3600450" y="666750"/>
                    </a:lnTo>
                    <a:cubicBezTo>
                      <a:pt x="3600450" y="761439"/>
                      <a:pt x="3523689" y="838200"/>
                      <a:pt x="3429000" y="838200"/>
                    </a:cubicBezTo>
                    <a:lnTo>
                      <a:pt x="171450" y="838200"/>
                    </a:lnTo>
                    <a:cubicBezTo>
                      <a:pt x="76761" y="838200"/>
                      <a:pt x="0" y="761439"/>
                      <a:pt x="0" y="666750"/>
                    </a:cubicBezTo>
                    <a:lnTo>
                      <a:pt x="0" y="171450"/>
                    </a:lnTo>
                    <a:cubicBezTo>
                      <a:pt x="0" y="76761"/>
                      <a:pt x="76761" y="0"/>
                      <a:pt x="171450" y="0"/>
                    </a:cubicBezTo>
                    <a:close/>
                  </a:path>
                </a:pathLst>
              </a:custGeom>
              <a:solidFill>
                <a:srgbClr val="F8FAFC"/>
              </a:solidFill>
              <a:ln>
                <a:noFill/>
              </a:ln>
              <a:effectLst>
                <a:outerShdw blurRad="152400" dist="38100" dir="10799140" algn="tl" rotWithShape="0">
                  <a:srgbClr val="0F172A">
                    <a:alpha val="12000"/>
                  </a:srgbClr>
                </a:outerShdw>
              </a:effectLst>
            </p:spPr>
          </p:sp>
          <p:sp>
            <p:nvSpPr>
              <p:cNvPr id="28" name="TextBox 28"/>
              <p:cNvSpPr txBox="1"/>
              <p:nvPr/>
            </p:nvSpPr>
            <p:spPr>
              <a:xfrm>
                <a:off x="7717155" y="2368868"/>
                <a:ext cx="1938928" cy="27432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350" b="1" dirty="0">
                    <a:solidFill>
                      <a:srgbClr val="D97757"/>
                    </a:solidFill>
                    <a:latin typeface="Arial"/>
                    <a:ea typeface="Microsoft YaHei"/>
                    <a:cs typeface="Arial"/>
                  </a:rPr>
                  <a:t>01 Product position</a:t>
                </a:r>
              </a:p>
            </p:txBody>
          </p:sp>
          <p:sp>
            <p:nvSpPr>
              <p:cNvPr id="29" name="TextBox 29"/>
              <p:cNvSpPr txBox="1"/>
              <p:nvPr/>
            </p:nvSpPr>
            <p:spPr>
              <a:xfrm>
                <a:off x="7720012" y="2659856"/>
                <a:ext cx="5475327" cy="22860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125" dirty="0">
                    <a:solidFill>
                      <a:srgbClr val="CBD5E1"/>
                    </a:solidFill>
                    <a:latin typeface="Arial"/>
                    <a:ea typeface="Microsoft YaHei"/>
                    <a:cs typeface="Arial"/>
                  </a:rPr>
                  <a:t>Why PPT Master exists and how it differs from other AI slide paths.</a:t>
                </a:r>
              </a:p>
            </p:txBody>
          </p:sp>
        </p:grpSp>
        <p:grpSp>
          <p:nvGrpSpPr>
            <p:cNvPr id="34" name="Group 34"/>
            <p:cNvGrpSpPr/>
            <p:nvPr/>
          </p:nvGrpSpPr>
          <p:grpSpPr>
            <a:xfrm>
              <a:off x="7448550" y="3219450"/>
              <a:ext cx="5878234" cy="838200"/>
              <a:chOff x="7448550" y="3219450"/>
              <a:chExt cx="5878234" cy="838200"/>
            </a:xfrm>
          </p:grpSpPr>
          <p:sp>
            <p:nvSpPr>
              <p:cNvPr id="31" name="Freeform 31"/>
              <p:cNvSpPr/>
              <p:nvPr/>
            </p:nvSpPr>
            <p:spPr>
              <a:xfrm>
                <a:off x="7448550" y="3219450"/>
                <a:ext cx="3600450" cy="838200"/>
              </a:xfrm>
              <a:custGeom>
                <a:avLst/>
                <a:gdLst/>
                <a:ahLst/>
                <a:cxnLst/>
                <a:rect l="l" t="t" r="r" b="b"/>
                <a:pathLst>
                  <a:path w="3600450" h="838200">
                    <a:moveTo>
                      <a:pt x="171450" y="0"/>
                    </a:moveTo>
                    <a:lnTo>
                      <a:pt x="3429000" y="0"/>
                    </a:lnTo>
                    <a:cubicBezTo>
                      <a:pt x="3523689" y="0"/>
                      <a:pt x="3600450" y="76761"/>
                      <a:pt x="3600450" y="171450"/>
                    </a:cubicBezTo>
                    <a:lnTo>
                      <a:pt x="3600450" y="666750"/>
                    </a:lnTo>
                    <a:cubicBezTo>
                      <a:pt x="3600450" y="761439"/>
                      <a:pt x="3523689" y="838200"/>
                      <a:pt x="3429000" y="838200"/>
                    </a:cubicBezTo>
                    <a:lnTo>
                      <a:pt x="171450" y="838200"/>
                    </a:lnTo>
                    <a:cubicBezTo>
                      <a:pt x="76761" y="838200"/>
                      <a:pt x="0" y="761439"/>
                      <a:pt x="0" y="666750"/>
                    </a:cubicBezTo>
                    <a:lnTo>
                      <a:pt x="0" y="171450"/>
                    </a:lnTo>
                    <a:cubicBezTo>
                      <a:pt x="0" y="76761"/>
                      <a:pt x="76761" y="0"/>
                      <a:pt x="171450" y="0"/>
                    </a:cubicBezTo>
                    <a:close/>
                  </a:path>
                </a:pathLst>
              </a:custGeom>
              <a:solidFill>
                <a:srgbClr val="F8FAFC"/>
              </a:solidFill>
              <a:ln>
                <a:noFill/>
              </a:ln>
              <a:effectLst>
                <a:outerShdw blurRad="152400" dist="38100" dir="10799140" algn="tl" rotWithShape="0">
                  <a:srgbClr val="0F172A">
                    <a:alpha val="12000"/>
                  </a:srgbClr>
                </a:outerShdw>
              </a:effectLst>
            </p:spPr>
          </p:sp>
          <p:sp>
            <p:nvSpPr>
              <p:cNvPr id="32" name="TextBox 32"/>
              <p:cNvSpPr txBox="1"/>
              <p:nvPr/>
            </p:nvSpPr>
            <p:spPr>
              <a:xfrm>
                <a:off x="7717155" y="3397568"/>
                <a:ext cx="1773307" cy="27432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350" b="1" dirty="0">
                    <a:solidFill>
                      <a:srgbClr val="4A90D9"/>
                    </a:solidFill>
                    <a:latin typeface="Arial"/>
                    <a:ea typeface="Microsoft YaHei"/>
                    <a:cs typeface="Arial"/>
                  </a:rPr>
                  <a:t>02 Technical logic</a:t>
                </a:r>
              </a:p>
            </p:txBody>
          </p:sp>
          <p:sp>
            <p:nvSpPr>
              <p:cNvPr id="33" name="TextBox 33"/>
              <p:cNvSpPr txBox="1"/>
              <p:nvPr/>
            </p:nvSpPr>
            <p:spPr>
              <a:xfrm>
                <a:off x="7720012" y="3688556"/>
                <a:ext cx="5606772" cy="22860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125" dirty="0">
                    <a:solidFill>
                      <a:srgbClr val="CBD5E1"/>
                    </a:solidFill>
                    <a:latin typeface="Arial"/>
                    <a:ea typeface="Microsoft YaHei"/>
                    <a:cs typeface="Arial"/>
                  </a:rPr>
                  <a:t>Why SVG sits at the center of the system and how the pipeline works.</a:t>
                </a:r>
              </a:p>
            </p:txBody>
          </p:sp>
        </p:grpSp>
        <p:grpSp>
          <p:nvGrpSpPr>
            <p:cNvPr id="38" name="Group 38"/>
            <p:cNvGrpSpPr/>
            <p:nvPr/>
          </p:nvGrpSpPr>
          <p:grpSpPr>
            <a:xfrm>
              <a:off x="7448550" y="4248150"/>
              <a:ext cx="6822995" cy="838200"/>
              <a:chOff x="7448550" y="4248150"/>
              <a:chExt cx="6822995" cy="838200"/>
            </a:xfrm>
          </p:grpSpPr>
          <p:sp>
            <p:nvSpPr>
              <p:cNvPr id="35" name="Freeform 35"/>
              <p:cNvSpPr/>
              <p:nvPr/>
            </p:nvSpPr>
            <p:spPr>
              <a:xfrm>
                <a:off x="7448550" y="4248150"/>
                <a:ext cx="3600450" cy="838200"/>
              </a:xfrm>
              <a:custGeom>
                <a:avLst/>
                <a:gdLst/>
                <a:ahLst/>
                <a:cxnLst/>
                <a:rect l="l" t="t" r="r" b="b"/>
                <a:pathLst>
                  <a:path w="3600450" h="838200">
                    <a:moveTo>
                      <a:pt x="171450" y="0"/>
                    </a:moveTo>
                    <a:lnTo>
                      <a:pt x="3429000" y="0"/>
                    </a:lnTo>
                    <a:cubicBezTo>
                      <a:pt x="3523689" y="0"/>
                      <a:pt x="3600450" y="76761"/>
                      <a:pt x="3600450" y="171450"/>
                    </a:cubicBezTo>
                    <a:lnTo>
                      <a:pt x="3600450" y="666750"/>
                    </a:lnTo>
                    <a:cubicBezTo>
                      <a:pt x="3600450" y="761439"/>
                      <a:pt x="3523689" y="838200"/>
                      <a:pt x="3429000" y="838200"/>
                    </a:cubicBezTo>
                    <a:lnTo>
                      <a:pt x="171450" y="838200"/>
                    </a:lnTo>
                    <a:cubicBezTo>
                      <a:pt x="76761" y="838200"/>
                      <a:pt x="0" y="761439"/>
                      <a:pt x="0" y="666750"/>
                    </a:cubicBezTo>
                    <a:lnTo>
                      <a:pt x="0" y="171450"/>
                    </a:lnTo>
                    <a:cubicBezTo>
                      <a:pt x="0" y="76761"/>
                      <a:pt x="76761" y="0"/>
                      <a:pt x="171450" y="0"/>
                    </a:cubicBezTo>
                    <a:close/>
                  </a:path>
                </a:pathLst>
              </a:custGeom>
              <a:solidFill>
                <a:srgbClr val="F8FAFC"/>
              </a:solidFill>
              <a:ln>
                <a:noFill/>
              </a:ln>
              <a:effectLst>
                <a:outerShdw blurRad="152400" dist="38100" dir="10799140" algn="tl" rotWithShape="0">
                  <a:srgbClr val="0F172A">
                    <a:alpha val="12000"/>
                  </a:srgbClr>
                </a:outerShdw>
              </a:effectLst>
            </p:spPr>
          </p:sp>
          <p:sp>
            <p:nvSpPr>
              <p:cNvPr id="36" name="TextBox 36"/>
              <p:cNvSpPr txBox="1"/>
              <p:nvPr/>
            </p:nvSpPr>
            <p:spPr>
              <a:xfrm>
                <a:off x="7717155" y="4426268"/>
                <a:ext cx="1649092" cy="27432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350" b="1" dirty="0">
                    <a:solidFill>
                      <a:srgbClr val="10B981"/>
                    </a:solidFill>
                    <a:latin typeface="Arial"/>
                    <a:ea typeface="Microsoft YaHei"/>
                    <a:cs typeface="Arial"/>
                  </a:rPr>
                  <a:t>03 Setup and fit</a:t>
                </a:r>
              </a:p>
            </p:txBody>
          </p:sp>
          <p:sp>
            <p:nvSpPr>
              <p:cNvPr id="37" name="TextBox 37"/>
              <p:cNvSpPr txBox="1"/>
              <p:nvPr/>
            </p:nvSpPr>
            <p:spPr>
              <a:xfrm>
                <a:off x="7720012" y="4717256"/>
                <a:ext cx="6551533" cy="22860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125" dirty="0">
                    <a:solidFill>
                      <a:srgbClr val="CBD5E1"/>
                    </a:solidFill>
                    <a:latin typeface="Arial"/>
                    <a:ea typeface="Microsoft YaHei"/>
                    <a:cs typeface="Arial"/>
                  </a:rPr>
                  <a:t>What users should expect, how to get running on Windows, and who should use it.</a:t>
                </a:r>
              </a:p>
            </p:txBody>
          </p:sp>
        </p:grpSp>
      </p:grpSp>
      <p:grpSp>
        <p:nvGrpSpPr>
          <p:cNvPr id="46" name="Group 46"/>
          <p:cNvGrpSpPr/>
          <p:nvPr/>
        </p:nvGrpSpPr>
        <p:grpSpPr>
          <a:xfrm>
            <a:off x="800100" y="4724400"/>
            <a:ext cx="5200650" cy="400050"/>
            <a:chOff x="800100" y="4724400"/>
            <a:chExt cx="5200650" cy="400050"/>
          </a:xfrm>
        </p:grpSpPr>
        <p:sp>
          <p:nvSpPr>
            <p:cNvPr id="40" name="Freeform 40"/>
            <p:cNvSpPr/>
            <p:nvPr/>
          </p:nvSpPr>
          <p:spPr>
            <a:xfrm>
              <a:off x="800100" y="4724400"/>
              <a:ext cx="1790700" cy="400050"/>
            </a:xfrm>
            <a:custGeom>
              <a:avLst/>
              <a:gdLst/>
              <a:ahLst/>
              <a:cxnLst/>
              <a:rect l="l" t="t" r="r" b="b"/>
              <a:pathLst>
                <a:path w="1790700" h="400050">
                  <a:moveTo>
                    <a:pt x="200025" y="0"/>
                  </a:moveTo>
                  <a:lnTo>
                    <a:pt x="1590675" y="0"/>
                  </a:lnTo>
                  <a:cubicBezTo>
                    <a:pt x="1701146" y="0"/>
                    <a:pt x="1790700" y="89554"/>
                    <a:pt x="1790700" y="200025"/>
                  </a:cubicBezTo>
                  <a:lnTo>
                    <a:pt x="1790700" y="200025"/>
                  </a:lnTo>
                  <a:cubicBezTo>
                    <a:pt x="1790700" y="310496"/>
                    <a:pt x="1701146" y="400050"/>
                    <a:pt x="1590675" y="400050"/>
                  </a:cubicBezTo>
                  <a:lnTo>
                    <a:pt x="200025" y="400050"/>
                  </a:lnTo>
                  <a:cubicBezTo>
                    <a:pt x="89554" y="400050"/>
                    <a:pt x="0" y="310496"/>
                    <a:pt x="0" y="200025"/>
                  </a:cubicBezTo>
                  <a:lnTo>
                    <a:pt x="0" y="200025"/>
                  </a:lnTo>
                  <a:cubicBezTo>
                    <a:pt x="0" y="89554"/>
                    <a:pt x="89554" y="0"/>
                    <a:pt x="200025" y="0"/>
                  </a:cubicBezTo>
                  <a:close/>
                </a:path>
              </a:pathLst>
            </a:custGeom>
            <a:solidFill>
              <a:srgbClr val="D97757">
                <a:alpha val="10000"/>
              </a:srgbClr>
            </a:solidFill>
            <a:ln>
              <a:noFill/>
            </a:ln>
          </p:spPr>
        </p:sp>
        <p:sp>
          <p:nvSpPr>
            <p:cNvPr id="41" name="TextBox 41"/>
            <p:cNvSpPr txBox="1"/>
            <p:nvPr/>
          </p:nvSpPr>
          <p:spPr>
            <a:xfrm>
              <a:off x="1034207" y="4860131"/>
              <a:ext cx="1322487" cy="228600"/>
            </a:xfrm>
            <a:prstGeom prst="rect">
              <a:avLst/>
            </a:prstGeom>
            <a:noFill/>
            <a:ln>
              <a:noFill/>
            </a:ln>
          </p:spPr>
          <p:txBody>
            <a:bodyPr wrap="none" lIns="0" tIns="0" rIns="0" bIns="0" anchor="t" anchorCtr="0">
              <a:spAutoFit/>
            </a:bodyPr>
            <a:lstStyle/>
            <a:p>
              <a:pPr algn="ctr"/>
              <a:r>
                <a:rPr lang="zh-CN" sz="1125" b="1" dirty="0">
                  <a:solidFill>
                    <a:srgbClr val="D97757"/>
                  </a:solidFill>
                  <a:latin typeface="Arial"/>
                  <a:ea typeface="Microsoft YaHei"/>
                  <a:cs typeface="Arial"/>
                </a:rPr>
                <a:t>Editable output</a:t>
              </a:r>
            </a:p>
          </p:txBody>
        </p:sp>
        <p:sp>
          <p:nvSpPr>
            <p:cNvPr id="42" name="Freeform 42"/>
            <p:cNvSpPr/>
            <p:nvPr/>
          </p:nvSpPr>
          <p:spPr>
            <a:xfrm>
              <a:off x="2724150" y="4724400"/>
              <a:ext cx="1581150" cy="400050"/>
            </a:xfrm>
            <a:custGeom>
              <a:avLst/>
              <a:gdLst/>
              <a:ahLst/>
              <a:cxnLst/>
              <a:rect l="l" t="t" r="r" b="b"/>
              <a:pathLst>
                <a:path w="1581150" h="400050">
                  <a:moveTo>
                    <a:pt x="200025" y="0"/>
                  </a:moveTo>
                  <a:lnTo>
                    <a:pt x="1381125" y="0"/>
                  </a:lnTo>
                  <a:cubicBezTo>
                    <a:pt x="1491596" y="0"/>
                    <a:pt x="1581150" y="89554"/>
                    <a:pt x="1581150" y="200025"/>
                  </a:cubicBezTo>
                  <a:lnTo>
                    <a:pt x="1581150" y="200025"/>
                  </a:lnTo>
                  <a:cubicBezTo>
                    <a:pt x="1581150" y="310496"/>
                    <a:pt x="1491596" y="400050"/>
                    <a:pt x="1381125" y="400050"/>
                  </a:cubicBezTo>
                  <a:lnTo>
                    <a:pt x="200025" y="400050"/>
                  </a:lnTo>
                  <a:cubicBezTo>
                    <a:pt x="89554" y="400050"/>
                    <a:pt x="0" y="310496"/>
                    <a:pt x="0" y="200025"/>
                  </a:cubicBezTo>
                  <a:lnTo>
                    <a:pt x="0" y="200025"/>
                  </a:lnTo>
                  <a:cubicBezTo>
                    <a:pt x="0" y="89554"/>
                    <a:pt x="89554" y="0"/>
                    <a:pt x="200025" y="0"/>
                  </a:cubicBezTo>
                  <a:close/>
                </a:path>
              </a:pathLst>
            </a:custGeom>
            <a:solidFill>
              <a:srgbClr val="4A90D9">
                <a:alpha val="10000"/>
              </a:srgbClr>
            </a:solidFill>
            <a:ln>
              <a:noFill/>
            </a:ln>
          </p:spPr>
        </p:sp>
        <p:sp>
          <p:nvSpPr>
            <p:cNvPr id="43" name="TextBox 43"/>
            <p:cNvSpPr txBox="1"/>
            <p:nvPr/>
          </p:nvSpPr>
          <p:spPr>
            <a:xfrm>
              <a:off x="2866421" y="4860131"/>
              <a:ext cx="1296608" cy="228600"/>
            </a:xfrm>
            <a:prstGeom prst="rect">
              <a:avLst/>
            </a:prstGeom>
            <a:noFill/>
            <a:ln>
              <a:noFill/>
            </a:ln>
          </p:spPr>
          <p:txBody>
            <a:bodyPr wrap="none" lIns="0" tIns="0" rIns="0" bIns="0" anchor="t" anchorCtr="0">
              <a:spAutoFit/>
            </a:bodyPr>
            <a:lstStyle/>
            <a:p>
              <a:pPr algn="ctr"/>
              <a:r>
                <a:rPr lang="zh-CN" sz="1125" b="1" dirty="0">
                  <a:solidFill>
                    <a:srgbClr val="4A90D9"/>
                  </a:solidFill>
                  <a:latin typeface="Arial"/>
                  <a:ea typeface="Microsoft YaHei"/>
                  <a:cs typeface="Arial"/>
                </a:rPr>
                <a:t>Local workflow</a:t>
              </a:r>
            </a:p>
          </p:txBody>
        </p:sp>
        <p:sp>
          <p:nvSpPr>
            <p:cNvPr id="44" name="Freeform 44"/>
            <p:cNvSpPr/>
            <p:nvPr/>
          </p:nvSpPr>
          <p:spPr>
            <a:xfrm>
              <a:off x="4438650" y="4724400"/>
              <a:ext cx="1562100" cy="400050"/>
            </a:xfrm>
            <a:custGeom>
              <a:avLst/>
              <a:gdLst/>
              <a:ahLst/>
              <a:cxnLst/>
              <a:rect l="l" t="t" r="r" b="b"/>
              <a:pathLst>
                <a:path w="1562100" h="400050">
                  <a:moveTo>
                    <a:pt x="200025" y="0"/>
                  </a:moveTo>
                  <a:lnTo>
                    <a:pt x="1362075" y="0"/>
                  </a:lnTo>
                  <a:cubicBezTo>
                    <a:pt x="1472546" y="0"/>
                    <a:pt x="1562100" y="89554"/>
                    <a:pt x="1562100" y="200025"/>
                  </a:cubicBezTo>
                  <a:lnTo>
                    <a:pt x="1562100" y="200025"/>
                  </a:lnTo>
                  <a:cubicBezTo>
                    <a:pt x="1562100" y="310496"/>
                    <a:pt x="1472546" y="400050"/>
                    <a:pt x="1362075" y="400050"/>
                  </a:cubicBezTo>
                  <a:lnTo>
                    <a:pt x="200025" y="400050"/>
                  </a:lnTo>
                  <a:cubicBezTo>
                    <a:pt x="89554" y="400050"/>
                    <a:pt x="0" y="310496"/>
                    <a:pt x="0" y="200025"/>
                  </a:cubicBezTo>
                  <a:lnTo>
                    <a:pt x="0" y="200025"/>
                  </a:lnTo>
                  <a:cubicBezTo>
                    <a:pt x="0" y="89554"/>
                    <a:pt x="89554" y="0"/>
                    <a:pt x="200025" y="0"/>
                  </a:cubicBezTo>
                  <a:close/>
                </a:path>
              </a:pathLst>
            </a:custGeom>
            <a:solidFill>
              <a:srgbClr val="10B981">
                <a:alpha val="10000"/>
              </a:srgbClr>
            </a:solidFill>
            <a:ln>
              <a:noFill/>
            </a:ln>
          </p:spPr>
        </p:sp>
        <p:sp>
          <p:nvSpPr>
            <p:cNvPr id="45" name="TextBox 45"/>
            <p:cNvSpPr txBox="1"/>
            <p:nvPr/>
          </p:nvSpPr>
          <p:spPr>
            <a:xfrm>
              <a:off x="4511013" y="4860131"/>
              <a:ext cx="1417374" cy="228600"/>
            </a:xfrm>
            <a:prstGeom prst="rect">
              <a:avLst/>
            </a:prstGeom>
            <a:noFill/>
            <a:ln>
              <a:noFill/>
            </a:ln>
          </p:spPr>
          <p:txBody>
            <a:bodyPr wrap="none" lIns="0" tIns="0" rIns="0" bIns="0" anchor="t" anchorCtr="0">
              <a:spAutoFit/>
            </a:bodyPr>
            <a:lstStyle/>
            <a:p>
              <a:pPr algn="ctr"/>
              <a:r>
                <a:rPr lang="zh-CN" sz="1125" b="1" dirty="0">
                  <a:solidFill>
                    <a:srgbClr val="10B981"/>
                  </a:solidFill>
                  <a:latin typeface="Arial"/>
                  <a:ea typeface="Microsoft YaHei"/>
                  <a:cs typeface="Arial"/>
                </a:rPr>
                <a:t>Open framework</a:t>
              </a:r>
            </a:p>
          </p:txBody>
        </p:sp>
      </p:grpSp>
      <p:sp>
        <p:nvSpPr>
          <p:cNvPr id="47" name="TextBox 47"/>
          <p:cNvSpPr txBox="1"/>
          <p:nvPr/>
        </p:nvSpPr>
        <p:spPr>
          <a:xfrm>
            <a:off x="786765" y="6173152"/>
            <a:ext cx="6774180"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Source set: why-ppt-master.md, technical-design.md, faq.md, windows-installation.md</a:t>
            </a:r>
          </a:p>
        </p:txBody>
      </p:sp>
      <p:sp>
        <p:nvSpPr>
          <p:cNvPr id="48" name="TextBox 48"/>
          <p:cNvSpPr txBox="1"/>
          <p:nvPr/>
        </p:nvSpPr>
        <p:spPr>
          <a:xfrm>
            <a:off x="11383042" y="6417945"/>
            <a:ext cx="134588"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01</a:t>
            </a:r>
          </a:p>
        </p:txBody>
      </p:sp>
    </p:spTree>
  </p:cSld>
  <p:clrMapOvr>
    <a:masterClrMapping/>
  </p:clrMapOvr>
  <p:transition 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D97757"/>
          </a:solidFill>
          <a:ln>
            <a:noFill/>
          </a:ln>
        </p:spPr>
      </p:sp>
      <p:sp>
        <p:nvSpPr>
          <p:cNvPr id="4" name="TextBox 4"/>
          <p:cNvSpPr txBox="1"/>
          <p:nvPr/>
        </p:nvSpPr>
        <p:spPr>
          <a:xfrm>
            <a:off x="559118" y="390049"/>
            <a:ext cx="832166" cy="198120"/>
          </a:xfrm>
          <a:prstGeom prst="rect">
            <a:avLst/>
          </a:prstGeom>
          <a:noFill/>
          <a:ln>
            <a:noFill/>
          </a:ln>
        </p:spPr>
        <p:txBody>
          <a:bodyPr wrap="none" lIns="0" tIns="0" rIns="0" bIns="0" anchor="t" anchorCtr="0">
            <a:spAutoFit/>
          </a:bodyPr>
          <a:lstStyle/>
          <a:p>
            <a:pPr algn="l"/>
            <a:r>
              <a:rPr lang="zh-CN" sz="975" b="1" dirty="0">
                <a:solidFill>
                  <a:srgbClr val="D97757"/>
                </a:solidFill>
                <a:latin typeface="Arial"/>
                <a:ea typeface="Microsoft YaHei"/>
                <a:cs typeface="Arial"/>
              </a:rPr>
              <a:t>CORE CLAIM</a:t>
            </a:r>
          </a:p>
        </p:txBody>
      </p:sp>
      <p:sp>
        <p:nvSpPr>
          <p:cNvPr id="5" name="Rectangle 5"/>
          <p:cNvSpPr/>
          <p:nvPr/>
        </p:nvSpPr>
        <p:spPr>
          <a:xfrm>
            <a:off x="552450" y="400050"/>
            <a:ext cx="11087100" cy="19050"/>
          </a:xfrm>
          <a:prstGeom prst="rect">
            <a:avLst/>
          </a:prstGeom>
          <a:solidFill>
            <a:srgbClr val="E2E8F0"/>
          </a:solidFill>
          <a:ln>
            <a:noFill/>
          </a:ln>
        </p:spPr>
      </p:sp>
      <p:sp>
        <p:nvSpPr>
          <p:cNvPr id="6" name="TextBox 6"/>
          <p:cNvSpPr txBox="1"/>
          <p:nvPr/>
        </p:nvSpPr>
        <p:spPr>
          <a:xfrm>
            <a:off x="539115" y="601028"/>
            <a:ext cx="10290698" cy="518160"/>
          </a:xfrm>
          <a:prstGeom prst="rect">
            <a:avLst/>
          </a:prstGeom>
          <a:noFill/>
          <a:ln>
            <a:noFill/>
          </a:ln>
        </p:spPr>
        <p:txBody>
          <a:bodyPr wrap="none" lIns="0" tIns="0" rIns="0" bIns="0" anchor="t" anchorCtr="0">
            <a:spAutoFit/>
          </a:bodyPr>
          <a:lstStyle/>
          <a:p>
            <a:pPr algn="l"/>
            <a:r>
              <a:rPr lang="zh-CN" sz="2550" b="1" dirty="0">
                <a:solidFill>
                  <a:srgbClr val="D97757"/>
                </a:solidFill>
                <a:latin typeface="Arial"/>
                <a:ea typeface="Microsoft YaHei"/>
                <a:cs typeface="Arial"/>
              </a:rPr>
              <a:t>A real PowerPoint workflow, not a screenshot export</a:t>
            </a:r>
          </a:p>
        </p:txBody>
      </p:sp>
      <p:sp>
        <p:nvSpPr>
          <p:cNvPr id="7" name="TextBox 7"/>
          <p:cNvSpPr txBox="1"/>
          <p:nvPr/>
        </p:nvSpPr>
        <p:spPr>
          <a:xfrm>
            <a:off x="556260" y="1032510"/>
            <a:ext cx="6523863"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The core message across the docs is simple: the output must stay editable.</a:t>
            </a:r>
          </a:p>
        </p:txBody>
      </p:sp>
      <p:grpSp>
        <p:nvGrpSpPr>
          <p:cNvPr id="22" name="Group 22"/>
          <p:cNvGrpSpPr/>
          <p:nvPr/>
        </p:nvGrpSpPr>
        <p:grpSpPr>
          <a:xfrm>
            <a:off x="571500" y="1562100"/>
            <a:ext cx="5793938" cy="4495800"/>
            <a:chOff x="571500" y="1562100"/>
            <a:chExt cx="5793938" cy="4495800"/>
          </a:xfrm>
          <a:effectLst>
            <a:outerShdw blurRad="152400" dist="38100" dir="10799140" algn="tl" rotWithShape="0">
              <a:srgbClr val="0F172A">
                <a:alpha val="10000"/>
              </a:srgbClr>
            </a:outerShdw>
          </a:effectLst>
        </p:grpSpPr>
        <p:sp>
          <p:nvSpPr>
            <p:cNvPr id="8" name="Freeform 8"/>
            <p:cNvSpPr/>
            <p:nvPr/>
          </p:nvSpPr>
          <p:spPr>
            <a:xfrm>
              <a:off x="571500" y="1562100"/>
              <a:ext cx="4533900" cy="4495800"/>
            </a:xfrm>
            <a:custGeom>
              <a:avLst/>
              <a:gdLst/>
              <a:ahLst/>
              <a:cxnLst/>
              <a:rect l="l" t="t" r="r" b="b"/>
              <a:pathLst>
                <a:path w="4533900" h="4495800">
                  <a:moveTo>
                    <a:pt x="266700" y="0"/>
                  </a:moveTo>
                  <a:lnTo>
                    <a:pt x="4267200" y="0"/>
                  </a:lnTo>
                  <a:cubicBezTo>
                    <a:pt x="4414494" y="0"/>
                    <a:pt x="4533900" y="119406"/>
                    <a:pt x="4533900" y="266700"/>
                  </a:cubicBezTo>
                  <a:lnTo>
                    <a:pt x="4533900" y="4229100"/>
                  </a:lnTo>
                  <a:cubicBezTo>
                    <a:pt x="4533900" y="4376394"/>
                    <a:pt x="4414494" y="4495800"/>
                    <a:pt x="4267200" y="4495800"/>
                  </a:cubicBezTo>
                  <a:lnTo>
                    <a:pt x="266700" y="4495800"/>
                  </a:lnTo>
                  <a:cubicBezTo>
                    <a:pt x="119406" y="4495800"/>
                    <a:pt x="0" y="4376394"/>
                    <a:pt x="0" y="4229100"/>
                  </a:cubicBezTo>
                  <a:lnTo>
                    <a:pt x="0" y="266700"/>
                  </a:lnTo>
                  <a:cubicBezTo>
                    <a:pt x="0" y="119406"/>
                    <a:pt x="119406" y="0"/>
                    <a:pt x="26670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9" name="Freeform 9"/>
            <p:cNvSpPr/>
            <p:nvPr/>
          </p:nvSpPr>
          <p:spPr>
            <a:xfrm>
              <a:off x="571500" y="1562100"/>
              <a:ext cx="4533900" cy="4495800"/>
            </a:xfrm>
            <a:custGeom>
              <a:avLst/>
              <a:gdLst/>
              <a:ahLst/>
              <a:cxnLst/>
              <a:rect l="l" t="t" r="r" b="b"/>
              <a:pathLst>
                <a:path w="4533900" h="4495800">
                  <a:moveTo>
                    <a:pt x="266700" y="0"/>
                  </a:moveTo>
                  <a:lnTo>
                    <a:pt x="4267200" y="0"/>
                  </a:lnTo>
                  <a:cubicBezTo>
                    <a:pt x="4414494" y="0"/>
                    <a:pt x="4533900" y="119406"/>
                    <a:pt x="4533900" y="266700"/>
                  </a:cubicBezTo>
                  <a:lnTo>
                    <a:pt x="4533900" y="4229100"/>
                  </a:lnTo>
                  <a:cubicBezTo>
                    <a:pt x="4533900" y="4376394"/>
                    <a:pt x="4414494" y="4495800"/>
                    <a:pt x="4267200" y="4495800"/>
                  </a:cubicBezTo>
                  <a:lnTo>
                    <a:pt x="266700" y="4495800"/>
                  </a:lnTo>
                  <a:cubicBezTo>
                    <a:pt x="119406" y="4495800"/>
                    <a:pt x="0" y="4376394"/>
                    <a:pt x="0" y="4229100"/>
                  </a:cubicBezTo>
                  <a:lnTo>
                    <a:pt x="0" y="266700"/>
                  </a:lnTo>
                  <a:cubicBezTo>
                    <a:pt x="0" y="119406"/>
                    <a:pt x="119406" y="0"/>
                    <a:pt x="266700" y="0"/>
                  </a:cubicBezTo>
                  <a:close/>
                </a:path>
              </a:pathLst>
            </a:custGeom>
            <a:solidFill>
              <a:srgbClr val="D97757">
                <a:alpha val="3000"/>
              </a:srgbClr>
            </a:solidFill>
            <a:ln>
              <a:noFill/>
            </a:ln>
            <a:effectLst>
              <a:outerShdw blurRad="152400" dist="38100" dir="10799140" algn="tl" rotWithShape="0">
                <a:srgbClr val="0F172A">
                  <a:alpha val="10000"/>
                </a:srgbClr>
              </a:outerShdw>
            </a:effectLst>
          </p:spPr>
        </p:sp>
        <p:grpSp>
          <p:nvGrpSpPr>
            <p:cNvPr id="13" name="Group 13"/>
            <p:cNvGrpSpPr/>
            <p:nvPr/>
          </p:nvGrpSpPr>
          <p:grpSpPr>
            <a:xfrm>
              <a:off x="959644" y="1943100"/>
              <a:ext cx="366712" cy="419100"/>
              <a:chOff x="959644" y="1943100"/>
              <a:chExt cx="366712" cy="419100"/>
            </a:xfrm>
          </p:grpSpPr>
          <p:sp>
            <p:nvSpPr>
              <p:cNvPr id="10" name="Freeform 10"/>
              <p:cNvSpPr/>
              <p:nvPr/>
            </p:nvSpPr>
            <p:spPr>
              <a:xfrm>
                <a:off x="959644" y="1943100"/>
                <a:ext cx="366712" cy="209550"/>
              </a:xfrm>
              <a:custGeom>
                <a:avLst/>
                <a:gdLst/>
                <a:ahLst/>
                <a:cxnLst/>
                <a:rect l="l" t="t" r="r" b="b"/>
                <a:pathLst>
                  <a:path w="366712" h="209550">
                    <a:moveTo>
                      <a:pt x="0" y="130969"/>
                    </a:moveTo>
                    <a:lnTo>
                      <a:pt x="0" y="78581"/>
                    </a:lnTo>
                    <a:lnTo>
                      <a:pt x="183356" y="0"/>
                    </a:lnTo>
                    <a:lnTo>
                      <a:pt x="366712" y="78581"/>
                    </a:lnTo>
                    <a:lnTo>
                      <a:pt x="366712" y="130969"/>
                    </a:lnTo>
                    <a:lnTo>
                      <a:pt x="183356" y="209550"/>
                    </a:lnTo>
                    <a:lnTo>
                      <a:pt x="0" y="130969"/>
                    </a:lnTo>
                    <a:close/>
                  </a:path>
                </a:pathLst>
              </a:custGeom>
              <a:solidFill>
                <a:srgbClr val="D97757"/>
              </a:solidFill>
              <a:ln>
                <a:noFill/>
              </a:ln>
              <a:effectLst>
                <a:outerShdw blurRad="152400" dist="38100" dir="10799140" algn="tl" rotWithShape="0">
                  <a:srgbClr val="0F172A">
                    <a:alpha val="10000"/>
                  </a:srgbClr>
                </a:outerShdw>
              </a:effectLst>
            </p:spPr>
          </p:sp>
          <p:sp>
            <p:nvSpPr>
              <p:cNvPr id="11" name="Freeform 11"/>
              <p:cNvSpPr/>
              <p:nvPr/>
            </p:nvSpPr>
            <p:spPr>
              <a:xfrm>
                <a:off x="959644" y="2231231"/>
                <a:ext cx="366712" cy="130969"/>
              </a:xfrm>
              <a:custGeom>
                <a:avLst/>
                <a:gdLst/>
                <a:ahLst/>
                <a:cxnLst/>
                <a:rect l="l" t="t" r="r" b="b"/>
                <a:pathLst>
                  <a:path w="366712" h="130969">
                    <a:moveTo>
                      <a:pt x="183356" y="130969"/>
                    </a:moveTo>
                    <a:lnTo>
                      <a:pt x="0" y="52388"/>
                    </a:lnTo>
                    <a:lnTo>
                      <a:pt x="0" y="0"/>
                    </a:lnTo>
                    <a:lnTo>
                      <a:pt x="183356" y="78581"/>
                    </a:lnTo>
                    <a:lnTo>
                      <a:pt x="366712" y="0"/>
                    </a:lnTo>
                    <a:lnTo>
                      <a:pt x="366712" y="52388"/>
                    </a:lnTo>
                    <a:lnTo>
                      <a:pt x="183356" y="130969"/>
                    </a:lnTo>
                    <a:close/>
                  </a:path>
                </a:pathLst>
              </a:custGeom>
              <a:solidFill>
                <a:srgbClr val="D97757"/>
              </a:solidFill>
              <a:ln>
                <a:noFill/>
              </a:ln>
              <a:effectLst>
                <a:outerShdw blurRad="152400" dist="38100" dir="10799140" algn="tl" rotWithShape="0">
                  <a:srgbClr val="0F172A">
                    <a:alpha val="10000"/>
                  </a:srgbClr>
                </a:outerShdw>
              </a:effectLst>
            </p:spPr>
          </p:sp>
          <p:sp>
            <p:nvSpPr>
              <p:cNvPr id="12" name="Freeform 12"/>
              <p:cNvSpPr/>
              <p:nvPr/>
            </p:nvSpPr>
            <p:spPr>
              <a:xfrm>
                <a:off x="959644" y="2126456"/>
                <a:ext cx="366712" cy="130969"/>
              </a:xfrm>
              <a:custGeom>
                <a:avLst/>
                <a:gdLst/>
                <a:ahLst/>
                <a:cxnLst/>
                <a:rect l="l" t="t" r="r" b="b"/>
                <a:pathLst>
                  <a:path w="366712" h="130969">
                    <a:moveTo>
                      <a:pt x="0" y="52388"/>
                    </a:moveTo>
                    <a:lnTo>
                      <a:pt x="183356" y="130969"/>
                    </a:lnTo>
                    <a:lnTo>
                      <a:pt x="366712" y="52388"/>
                    </a:lnTo>
                    <a:lnTo>
                      <a:pt x="366712" y="0"/>
                    </a:lnTo>
                    <a:lnTo>
                      <a:pt x="183356" y="78581"/>
                    </a:lnTo>
                    <a:lnTo>
                      <a:pt x="0" y="0"/>
                    </a:lnTo>
                    <a:lnTo>
                      <a:pt x="0" y="52388"/>
                    </a:lnTo>
                    <a:close/>
                  </a:path>
                </a:pathLst>
              </a:custGeom>
              <a:solidFill>
                <a:srgbClr val="D97757"/>
              </a:solidFill>
              <a:ln>
                <a:noFill/>
              </a:ln>
              <a:effectLst>
                <a:outerShdw blurRad="152400" dist="38100" dir="10799140" algn="tl" rotWithShape="0">
                  <a:srgbClr val="0F172A">
                    <a:alpha val="10000"/>
                  </a:srgbClr>
                </a:outerShdw>
              </a:effectLst>
            </p:spPr>
          </p:sp>
        </p:grpSp>
        <p:sp>
          <p:nvSpPr>
            <p:cNvPr id="14" name="TextBox 14"/>
            <p:cNvSpPr txBox="1"/>
            <p:nvPr/>
          </p:nvSpPr>
          <p:spPr>
            <a:xfrm>
              <a:off x="1520190" y="2044065"/>
              <a:ext cx="2723255"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800" b="1" dirty="0">
                  <a:solidFill>
                    <a:srgbClr val="1A1A2E"/>
                  </a:solidFill>
                  <a:latin typeface="Arial"/>
                  <a:ea typeface="Microsoft YaHei"/>
                  <a:cs typeface="Arial"/>
                </a:rPr>
                <a:t>Core differentiator</a:t>
              </a:r>
            </a:p>
          </p:txBody>
        </p:sp>
        <p:sp>
          <p:nvSpPr>
            <p:cNvPr id="15" name="TextBox 15"/>
            <p:cNvSpPr txBox="1"/>
            <p:nvPr/>
          </p:nvSpPr>
          <p:spPr>
            <a:xfrm>
              <a:off x="904875" y="2671762"/>
              <a:ext cx="4387441" cy="4572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2250" b="1" dirty="0">
                  <a:solidFill>
                    <a:srgbClr val="1A1A2E"/>
                  </a:solidFill>
                  <a:latin typeface="Arial"/>
                  <a:ea typeface="Microsoft YaHei"/>
                  <a:cs typeface="Arial"/>
                </a:rPr>
                <a:t>If it cannot be opened and</a:t>
              </a:r>
            </a:p>
          </p:txBody>
        </p:sp>
        <p:sp>
          <p:nvSpPr>
            <p:cNvPr id="16" name="TextBox 16"/>
            <p:cNvSpPr txBox="1"/>
            <p:nvPr/>
          </p:nvSpPr>
          <p:spPr>
            <a:xfrm>
              <a:off x="904875" y="3071812"/>
              <a:ext cx="3921633" cy="4572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2250" b="1" dirty="0">
                  <a:solidFill>
                    <a:srgbClr val="1A1A2E"/>
                  </a:solidFill>
                  <a:latin typeface="Arial"/>
                  <a:ea typeface="Microsoft YaHei"/>
                  <a:cs typeface="Arial"/>
                </a:rPr>
                <a:t>edited like a real deck,</a:t>
              </a:r>
            </a:p>
          </p:txBody>
        </p:sp>
        <p:sp>
          <p:nvSpPr>
            <p:cNvPr id="17" name="TextBox 17"/>
            <p:cNvSpPr txBox="1"/>
            <p:nvPr/>
          </p:nvSpPr>
          <p:spPr>
            <a:xfrm>
              <a:off x="904875" y="3471862"/>
              <a:ext cx="4887754" cy="4572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2250" b="1" dirty="0">
                  <a:solidFill>
                    <a:srgbClr val="1A1A2E"/>
                  </a:solidFill>
                  <a:latin typeface="Arial"/>
                  <a:ea typeface="Microsoft YaHei"/>
                  <a:cs typeface="Arial"/>
                </a:rPr>
                <a:t>it should not be called a PPT.</a:t>
              </a:r>
            </a:p>
          </p:txBody>
        </p:sp>
        <p:sp>
          <p:nvSpPr>
            <p:cNvPr id="18" name="Freeform 18"/>
            <p:cNvSpPr/>
            <p:nvPr/>
          </p:nvSpPr>
          <p:spPr>
            <a:xfrm>
              <a:off x="933450" y="4362450"/>
              <a:ext cx="3771900" cy="1123950"/>
            </a:xfrm>
            <a:custGeom>
              <a:avLst/>
              <a:gdLst/>
              <a:ahLst/>
              <a:cxnLst/>
              <a:rect l="l" t="t" r="r" b="b"/>
              <a:pathLst>
                <a:path w="3771900" h="1123950">
                  <a:moveTo>
                    <a:pt x="171450" y="0"/>
                  </a:moveTo>
                  <a:lnTo>
                    <a:pt x="3600450" y="0"/>
                  </a:lnTo>
                  <a:cubicBezTo>
                    <a:pt x="3695139" y="0"/>
                    <a:pt x="3771900" y="76761"/>
                    <a:pt x="3771900" y="171450"/>
                  </a:cubicBezTo>
                  <a:lnTo>
                    <a:pt x="3771900" y="952500"/>
                  </a:lnTo>
                  <a:cubicBezTo>
                    <a:pt x="3771900" y="1047189"/>
                    <a:pt x="3695139" y="1123950"/>
                    <a:pt x="3600450" y="1123950"/>
                  </a:cubicBezTo>
                  <a:lnTo>
                    <a:pt x="171450" y="1123950"/>
                  </a:lnTo>
                  <a:cubicBezTo>
                    <a:pt x="76761" y="1123950"/>
                    <a:pt x="0" y="1047189"/>
                    <a:pt x="0" y="952500"/>
                  </a:cubicBezTo>
                  <a:lnTo>
                    <a:pt x="0" y="171450"/>
                  </a:lnTo>
                  <a:cubicBezTo>
                    <a:pt x="0" y="76761"/>
                    <a:pt x="76761" y="0"/>
                    <a:pt x="17145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19" name="TextBox 19"/>
            <p:cNvSpPr txBox="1"/>
            <p:nvPr/>
          </p:nvSpPr>
          <p:spPr>
            <a:xfrm>
              <a:off x="1184910" y="4594860"/>
              <a:ext cx="99660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b="1" dirty="0">
                  <a:solidFill>
                    <a:srgbClr val="D97757"/>
                  </a:solidFill>
                  <a:latin typeface="Arial"/>
                  <a:ea typeface="Microsoft YaHei"/>
                  <a:cs typeface="Arial"/>
                </a:rPr>
                <a:t>Implication</a:t>
              </a:r>
            </a:p>
          </p:txBody>
        </p:sp>
        <p:sp>
          <p:nvSpPr>
            <p:cNvPr id="20" name="TextBox 20"/>
            <p:cNvSpPr txBox="1"/>
            <p:nvPr/>
          </p:nvSpPr>
          <p:spPr>
            <a:xfrm>
              <a:off x="1185862" y="4888706"/>
              <a:ext cx="4752380"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The system is optimized around native shapes, text boxes,</a:t>
              </a:r>
            </a:p>
          </p:txBody>
        </p:sp>
        <p:sp>
          <p:nvSpPr>
            <p:cNvPr id="21" name="TextBox 21"/>
            <p:cNvSpPr txBox="1"/>
            <p:nvPr/>
          </p:nvSpPr>
          <p:spPr>
            <a:xfrm>
              <a:off x="1185862" y="5117306"/>
              <a:ext cx="5179576"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and engineering conversion, not just eye-catching screenshots.</a:t>
              </a:r>
            </a:p>
          </p:txBody>
        </p:sp>
      </p:grpSp>
      <p:grpSp>
        <p:nvGrpSpPr>
          <p:cNvPr id="46" name="Group 46"/>
          <p:cNvGrpSpPr/>
          <p:nvPr/>
        </p:nvGrpSpPr>
        <p:grpSpPr>
          <a:xfrm>
            <a:off x="5467350" y="1714500"/>
            <a:ext cx="7914894" cy="3867150"/>
            <a:chOff x="5467350" y="1714500"/>
            <a:chExt cx="7914894" cy="3867150"/>
          </a:xfrm>
        </p:grpSpPr>
        <p:grpSp>
          <p:nvGrpSpPr>
            <p:cNvPr id="30" name="Group 30"/>
            <p:cNvGrpSpPr/>
            <p:nvPr/>
          </p:nvGrpSpPr>
          <p:grpSpPr>
            <a:xfrm>
              <a:off x="5467350" y="1714500"/>
              <a:ext cx="7695819" cy="1123950"/>
              <a:chOff x="5467350" y="1714500"/>
              <a:chExt cx="7695819" cy="1123950"/>
            </a:xfrm>
            <a:effectLst>
              <a:outerShdw blurRad="152400" dist="38100" dir="10799140" algn="tl" rotWithShape="0">
                <a:srgbClr val="0F172A">
                  <a:alpha val="10000"/>
                </a:srgbClr>
              </a:outerShdw>
            </a:effectLst>
          </p:grpSpPr>
          <p:sp>
            <p:nvSpPr>
              <p:cNvPr id="23" name="Freeform 23"/>
              <p:cNvSpPr/>
              <p:nvPr/>
            </p:nvSpPr>
            <p:spPr>
              <a:xfrm>
                <a:off x="5467350" y="1714500"/>
                <a:ext cx="6172200" cy="1123950"/>
              </a:xfrm>
              <a:custGeom>
                <a:avLst/>
                <a:gdLst/>
                <a:ahLst/>
                <a:cxnLst/>
                <a:rect l="l" t="t" r="r" b="b"/>
                <a:pathLst>
                  <a:path w="6172200" h="1123950">
                    <a:moveTo>
                      <a:pt x="209550" y="0"/>
                    </a:moveTo>
                    <a:lnTo>
                      <a:pt x="5962650" y="0"/>
                    </a:lnTo>
                    <a:cubicBezTo>
                      <a:pt x="6078381" y="0"/>
                      <a:pt x="6172200" y="93819"/>
                      <a:pt x="6172200" y="209550"/>
                    </a:cubicBezTo>
                    <a:lnTo>
                      <a:pt x="6172200" y="914400"/>
                    </a:lnTo>
                    <a:cubicBezTo>
                      <a:pt x="6172200" y="1030131"/>
                      <a:pt x="6078381" y="1123950"/>
                      <a:pt x="5962650" y="1123950"/>
                    </a:cubicBezTo>
                    <a:lnTo>
                      <a:pt x="209550" y="1123950"/>
                    </a:lnTo>
                    <a:cubicBezTo>
                      <a:pt x="93819" y="1123950"/>
                      <a:pt x="0" y="1030131"/>
                      <a:pt x="0" y="914400"/>
                    </a:cubicBezTo>
                    <a:lnTo>
                      <a:pt x="0" y="209550"/>
                    </a:lnTo>
                    <a:cubicBezTo>
                      <a:pt x="0" y="93819"/>
                      <a:pt x="93819" y="0"/>
                      <a:pt x="209550" y="0"/>
                    </a:cubicBezTo>
                    <a:close/>
                  </a:path>
                </a:pathLst>
              </a:custGeom>
              <a:solidFill>
                <a:srgbClr val="F8FAFC"/>
              </a:solidFill>
              <a:ln>
                <a:noFill/>
              </a:ln>
              <a:effectLst>
                <a:outerShdw blurRad="152400" dist="38100" dir="10799140" algn="tl" rotWithShape="0">
                  <a:srgbClr val="0F172A">
                    <a:alpha val="10000"/>
                  </a:srgbClr>
                </a:outerShdw>
              </a:effectLst>
            </p:spPr>
          </p:sp>
          <p:grpSp>
            <p:nvGrpSpPr>
              <p:cNvPr id="27" name="Group 27"/>
              <p:cNvGrpSpPr/>
              <p:nvPr/>
            </p:nvGrpSpPr>
            <p:grpSpPr>
              <a:xfrm>
                <a:off x="5791200" y="2058591"/>
                <a:ext cx="323850" cy="283369"/>
                <a:chOff x="5791200" y="2058591"/>
                <a:chExt cx="323850" cy="283369"/>
              </a:xfrm>
            </p:grpSpPr>
            <p:sp>
              <p:nvSpPr>
                <p:cNvPr id="24" name="Freeform 24"/>
                <p:cNvSpPr/>
                <p:nvPr/>
              </p:nvSpPr>
              <p:spPr>
                <a:xfrm>
                  <a:off x="6034088" y="2058591"/>
                  <a:ext cx="80962" cy="283369"/>
                </a:xfrm>
                <a:custGeom>
                  <a:avLst/>
                  <a:gdLst/>
                  <a:ahLst/>
                  <a:cxnLst/>
                  <a:rect l="l" t="t" r="r" b="b"/>
                  <a:pathLst>
                    <a:path w="80962" h="283369">
                      <a:moveTo>
                        <a:pt x="80962" y="0"/>
                      </a:moveTo>
                      <a:lnTo>
                        <a:pt x="0" y="0"/>
                      </a:lnTo>
                      <a:lnTo>
                        <a:pt x="0" y="283369"/>
                      </a:lnTo>
                      <a:lnTo>
                        <a:pt x="80962" y="283369"/>
                      </a:lnTo>
                      <a:lnTo>
                        <a:pt x="80962" y="0"/>
                      </a:lnTo>
                      <a:close/>
                    </a:path>
                  </a:pathLst>
                </a:custGeom>
                <a:solidFill>
                  <a:srgbClr val="D97757"/>
                </a:solidFill>
                <a:ln>
                  <a:noFill/>
                </a:ln>
                <a:effectLst>
                  <a:outerShdw blurRad="152400" dist="38100" dir="10799140" algn="tl" rotWithShape="0">
                    <a:srgbClr val="0F172A">
                      <a:alpha val="10000"/>
                    </a:srgbClr>
                  </a:outerShdw>
                </a:effectLst>
              </p:spPr>
            </p:sp>
            <p:sp>
              <p:nvSpPr>
                <p:cNvPr id="25" name="Freeform 25"/>
                <p:cNvSpPr/>
                <p:nvPr/>
              </p:nvSpPr>
              <p:spPr>
                <a:xfrm>
                  <a:off x="5912644" y="2139553"/>
                  <a:ext cx="80962" cy="202406"/>
                </a:xfrm>
                <a:custGeom>
                  <a:avLst/>
                  <a:gdLst/>
                  <a:ahLst/>
                  <a:cxnLst/>
                  <a:rect l="l" t="t" r="r" b="b"/>
                  <a:pathLst>
                    <a:path w="80962" h="202406">
                      <a:moveTo>
                        <a:pt x="0" y="0"/>
                      </a:moveTo>
                      <a:lnTo>
                        <a:pt x="80962" y="0"/>
                      </a:lnTo>
                      <a:lnTo>
                        <a:pt x="80962" y="202406"/>
                      </a:lnTo>
                      <a:lnTo>
                        <a:pt x="0" y="202406"/>
                      </a:lnTo>
                      <a:lnTo>
                        <a:pt x="0" y="0"/>
                      </a:lnTo>
                      <a:close/>
                    </a:path>
                  </a:pathLst>
                </a:custGeom>
                <a:solidFill>
                  <a:srgbClr val="D97757"/>
                </a:solidFill>
                <a:ln>
                  <a:noFill/>
                </a:ln>
                <a:effectLst>
                  <a:outerShdw blurRad="152400" dist="38100" dir="10799140" algn="tl" rotWithShape="0">
                    <a:srgbClr val="0F172A">
                      <a:alpha val="10000"/>
                    </a:srgbClr>
                  </a:outerShdw>
                </a:effectLst>
              </p:spPr>
            </p:sp>
            <p:sp>
              <p:nvSpPr>
                <p:cNvPr id="26" name="Freeform 26"/>
                <p:cNvSpPr/>
                <p:nvPr/>
              </p:nvSpPr>
              <p:spPr>
                <a:xfrm>
                  <a:off x="5791200" y="2220516"/>
                  <a:ext cx="80962" cy="121444"/>
                </a:xfrm>
                <a:custGeom>
                  <a:avLst/>
                  <a:gdLst/>
                  <a:ahLst/>
                  <a:cxnLst/>
                  <a:rect l="l" t="t" r="r" b="b"/>
                  <a:pathLst>
                    <a:path w="80962" h="121444">
                      <a:moveTo>
                        <a:pt x="0" y="0"/>
                      </a:moveTo>
                      <a:lnTo>
                        <a:pt x="80962" y="0"/>
                      </a:lnTo>
                      <a:lnTo>
                        <a:pt x="80962" y="121444"/>
                      </a:lnTo>
                      <a:lnTo>
                        <a:pt x="0" y="121444"/>
                      </a:lnTo>
                      <a:lnTo>
                        <a:pt x="0" y="0"/>
                      </a:lnTo>
                      <a:close/>
                    </a:path>
                  </a:pathLst>
                </a:custGeom>
                <a:solidFill>
                  <a:srgbClr val="D97757"/>
                </a:solidFill>
                <a:ln>
                  <a:noFill/>
                </a:ln>
                <a:effectLst>
                  <a:outerShdw blurRad="152400" dist="38100" dir="10799140" algn="tl" rotWithShape="0">
                    <a:srgbClr val="0F172A">
                      <a:alpha val="10000"/>
                    </a:srgbClr>
                  </a:outerShdw>
                </a:effectLst>
              </p:spPr>
            </p:sp>
          </p:grpSp>
          <p:sp>
            <p:nvSpPr>
              <p:cNvPr id="28" name="TextBox 28"/>
              <p:cNvSpPr txBox="1"/>
              <p:nvPr/>
            </p:nvSpPr>
            <p:spPr>
              <a:xfrm>
                <a:off x="6267450" y="2076450"/>
                <a:ext cx="4132612" cy="3048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1A1A2E"/>
                    </a:solidFill>
                    <a:latin typeface="Arial"/>
                    <a:ea typeface="Microsoft YaHei"/>
                    <a:cs typeface="Arial"/>
                  </a:rPr>
                  <a:t>The deck is treated as a working file</a:t>
                </a:r>
              </a:p>
            </p:txBody>
          </p:sp>
          <p:sp>
            <p:nvSpPr>
              <p:cNvPr id="29" name="TextBox 29"/>
              <p:cNvSpPr txBox="1"/>
              <p:nvPr/>
            </p:nvSpPr>
            <p:spPr>
              <a:xfrm>
                <a:off x="6271260" y="2404110"/>
                <a:ext cx="6891909"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The docs repeatedly frame the export as a usable artifact, not a frozen visual.</a:t>
                </a:r>
              </a:p>
            </p:txBody>
          </p:sp>
        </p:grpSp>
        <p:grpSp>
          <p:nvGrpSpPr>
            <p:cNvPr id="38" name="Group 38"/>
            <p:cNvGrpSpPr/>
            <p:nvPr/>
          </p:nvGrpSpPr>
          <p:grpSpPr>
            <a:xfrm>
              <a:off x="5467350" y="3086100"/>
              <a:ext cx="7914894" cy="1123950"/>
              <a:chOff x="5467350" y="3086100"/>
              <a:chExt cx="7914894" cy="1123950"/>
            </a:xfrm>
            <a:effectLst>
              <a:outerShdw blurRad="152400" dist="38100" dir="10799140" algn="tl" rotWithShape="0">
                <a:srgbClr val="0F172A">
                  <a:alpha val="10000"/>
                </a:srgbClr>
              </a:outerShdw>
            </a:effectLst>
          </p:grpSpPr>
          <p:sp>
            <p:nvSpPr>
              <p:cNvPr id="31" name="Freeform 31"/>
              <p:cNvSpPr/>
              <p:nvPr/>
            </p:nvSpPr>
            <p:spPr>
              <a:xfrm>
                <a:off x="5467350" y="3086100"/>
                <a:ext cx="6172200" cy="1123950"/>
              </a:xfrm>
              <a:custGeom>
                <a:avLst/>
                <a:gdLst/>
                <a:ahLst/>
                <a:cxnLst/>
                <a:rect l="l" t="t" r="r" b="b"/>
                <a:pathLst>
                  <a:path w="6172200" h="1123950">
                    <a:moveTo>
                      <a:pt x="209550" y="0"/>
                    </a:moveTo>
                    <a:lnTo>
                      <a:pt x="5962650" y="0"/>
                    </a:lnTo>
                    <a:cubicBezTo>
                      <a:pt x="6078381" y="0"/>
                      <a:pt x="6172200" y="93819"/>
                      <a:pt x="6172200" y="209550"/>
                    </a:cubicBezTo>
                    <a:lnTo>
                      <a:pt x="6172200" y="914400"/>
                    </a:lnTo>
                    <a:cubicBezTo>
                      <a:pt x="6172200" y="1030131"/>
                      <a:pt x="6078381" y="1123950"/>
                      <a:pt x="5962650" y="1123950"/>
                    </a:cubicBezTo>
                    <a:lnTo>
                      <a:pt x="209550" y="1123950"/>
                    </a:lnTo>
                    <a:cubicBezTo>
                      <a:pt x="93819" y="1123950"/>
                      <a:pt x="0" y="1030131"/>
                      <a:pt x="0" y="914400"/>
                    </a:cubicBezTo>
                    <a:lnTo>
                      <a:pt x="0" y="209550"/>
                    </a:lnTo>
                    <a:cubicBezTo>
                      <a:pt x="0" y="93819"/>
                      <a:pt x="93819" y="0"/>
                      <a:pt x="209550" y="0"/>
                    </a:cubicBezTo>
                    <a:close/>
                  </a:path>
                </a:pathLst>
              </a:custGeom>
              <a:solidFill>
                <a:srgbClr val="F8FAFC"/>
              </a:solidFill>
              <a:ln>
                <a:noFill/>
              </a:ln>
              <a:effectLst>
                <a:outerShdw blurRad="152400" dist="38100" dir="10799140" algn="tl" rotWithShape="0">
                  <a:srgbClr val="0F172A">
                    <a:alpha val="10000"/>
                  </a:srgbClr>
                </a:outerShdw>
              </a:effectLst>
            </p:spPr>
          </p:sp>
          <p:grpSp>
            <p:nvGrpSpPr>
              <p:cNvPr id="35" name="Group 35"/>
              <p:cNvGrpSpPr/>
              <p:nvPr/>
            </p:nvGrpSpPr>
            <p:grpSpPr>
              <a:xfrm>
                <a:off x="5791200" y="3427328"/>
                <a:ext cx="323850" cy="289093"/>
                <a:chOff x="5791200" y="3427328"/>
                <a:chExt cx="323850" cy="289093"/>
              </a:xfrm>
            </p:grpSpPr>
            <p:sp>
              <p:nvSpPr>
                <p:cNvPr id="32" name="Freeform 32"/>
                <p:cNvSpPr/>
                <p:nvPr/>
              </p:nvSpPr>
              <p:spPr>
                <a:xfrm>
                  <a:off x="5912847" y="3427328"/>
                  <a:ext cx="80556" cy="289093"/>
                </a:xfrm>
                <a:custGeom>
                  <a:avLst/>
                  <a:gdLst/>
                  <a:ahLst/>
                  <a:cxnLst/>
                  <a:rect l="l" t="t" r="r" b="b"/>
                  <a:pathLst>
                    <a:path w="80556" h="289093">
                      <a:moveTo>
                        <a:pt x="40481" y="0"/>
                      </a:moveTo>
                      <a:lnTo>
                        <a:pt x="0" y="283369"/>
                      </a:lnTo>
                      <a:lnTo>
                        <a:pt x="40074" y="289093"/>
                      </a:lnTo>
                      <a:lnTo>
                        <a:pt x="80556" y="5725"/>
                      </a:lnTo>
                      <a:lnTo>
                        <a:pt x="40481" y="0"/>
                      </a:lnTo>
                      <a:close/>
                    </a:path>
                  </a:pathLst>
                </a:custGeom>
                <a:solidFill>
                  <a:srgbClr val="4A90D9"/>
                </a:solidFill>
                <a:ln>
                  <a:noFill/>
                </a:ln>
                <a:effectLst>
                  <a:outerShdw blurRad="152400" dist="38100" dir="10799140" algn="tl" rotWithShape="0">
                    <a:srgbClr val="0F172A">
                      <a:alpha val="10000"/>
                    </a:srgbClr>
                  </a:outerShdw>
                </a:effectLst>
              </p:spPr>
            </p:sp>
            <p:sp>
              <p:nvSpPr>
                <p:cNvPr id="33" name="Freeform 33"/>
                <p:cNvSpPr/>
                <p:nvPr/>
              </p:nvSpPr>
              <p:spPr>
                <a:xfrm>
                  <a:off x="6015584" y="3501033"/>
                  <a:ext cx="99466" cy="141684"/>
                </a:xfrm>
                <a:custGeom>
                  <a:avLst/>
                  <a:gdLst/>
                  <a:ahLst/>
                  <a:cxnLst/>
                  <a:rect l="l" t="t" r="r" b="b"/>
                  <a:pathLst>
                    <a:path w="99466" h="141684">
                      <a:moveTo>
                        <a:pt x="28624" y="141684"/>
                      </a:moveTo>
                      <a:lnTo>
                        <a:pt x="0" y="113060"/>
                      </a:lnTo>
                      <a:lnTo>
                        <a:pt x="42218" y="70842"/>
                      </a:lnTo>
                      <a:lnTo>
                        <a:pt x="0" y="28625"/>
                      </a:lnTo>
                      <a:lnTo>
                        <a:pt x="28624" y="0"/>
                      </a:lnTo>
                      <a:lnTo>
                        <a:pt x="99466" y="70842"/>
                      </a:lnTo>
                      <a:lnTo>
                        <a:pt x="28624" y="141684"/>
                      </a:lnTo>
                      <a:close/>
                    </a:path>
                  </a:pathLst>
                </a:custGeom>
                <a:solidFill>
                  <a:srgbClr val="4A90D9"/>
                </a:solidFill>
                <a:ln>
                  <a:noFill/>
                </a:ln>
                <a:effectLst>
                  <a:outerShdw blurRad="152400" dist="38100" dir="10799140" algn="tl" rotWithShape="0">
                    <a:srgbClr val="0F172A">
                      <a:alpha val="10000"/>
                    </a:srgbClr>
                  </a:outerShdw>
                </a:effectLst>
              </p:spPr>
            </p:sp>
            <p:sp>
              <p:nvSpPr>
                <p:cNvPr id="34" name="Freeform 34"/>
                <p:cNvSpPr/>
                <p:nvPr/>
              </p:nvSpPr>
              <p:spPr>
                <a:xfrm>
                  <a:off x="5791200" y="3501033"/>
                  <a:ext cx="99467" cy="141684"/>
                </a:xfrm>
                <a:custGeom>
                  <a:avLst/>
                  <a:gdLst/>
                  <a:ahLst/>
                  <a:cxnLst/>
                  <a:rect l="l" t="t" r="r" b="b"/>
                  <a:pathLst>
                    <a:path w="99467" h="141684">
                      <a:moveTo>
                        <a:pt x="57249" y="70842"/>
                      </a:moveTo>
                      <a:lnTo>
                        <a:pt x="99467" y="113060"/>
                      </a:lnTo>
                      <a:lnTo>
                        <a:pt x="70842" y="141684"/>
                      </a:lnTo>
                      <a:lnTo>
                        <a:pt x="0" y="70842"/>
                      </a:lnTo>
                      <a:lnTo>
                        <a:pt x="70842" y="0"/>
                      </a:lnTo>
                      <a:lnTo>
                        <a:pt x="99467" y="28625"/>
                      </a:lnTo>
                      <a:lnTo>
                        <a:pt x="57249" y="70842"/>
                      </a:lnTo>
                      <a:close/>
                    </a:path>
                  </a:pathLst>
                </a:custGeom>
                <a:solidFill>
                  <a:srgbClr val="4A90D9"/>
                </a:solidFill>
                <a:ln>
                  <a:noFill/>
                </a:ln>
                <a:effectLst>
                  <a:outerShdw blurRad="152400" dist="38100" dir="10799140" algn="tl" rotWithShape="0">
                    <a:srgbClr val="0F172A">
                      <a:alpha val="10000"/>
                    </a:srgbClr>
                  </a:outerShdw>
                </a:effectLst>
              </p:spPr>
            </p:sp>
          </p:grpSp>
          <p:sp>
            <p:nvSpPr>
              <p:cNvPr id="36" name="TextBox 36"/>
              <p:cNvSpPr txBox="1"/>
              <p:nvPr/>
            </p:nvSpPr>
            <p:spPr>
              <a:xfrm>
                <a:off x="6267450" y="3448050"/>
                <a:ext cx="3511534" cy="3048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1A1A2E"/>
                    </a:solidFill>
                    <a:latin typeface="Arial"/>
                    <a:ea typeface="Microsoft YaHei"/>
                    <a:cs typeface="Arial"/>
                  </a:rPr>
                  <a:t>The engineering path is explicit</a:t>
                </a:r>
              </a:p>
            </p:txBody>
          </p:sp>
          <p:sp>
            <p:nvSpPr>
              <p:cNvPr id="37" name="TextBox 37"/>
              <p:cNvSpPr txBox="1"/>
              <p:nvPr/>
            </p:nvSpPr>
            <p:spPr>
              <a:xfrm>
                <a:off x="6271260" y="3775710"/>
                <a:ext cx="7110984"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SVG generation, post-processing, and DrawingML export are all first-class steps.</a:t>
                </a:r>
              </a:p>
            </p:txBody>
          </p:sp>
        </p:grpSp>
        <p:grpSp>
          <p:nvGrpSpPr>
            <p:cNvPr id="45" name="Group 45"/>
            <p:cNvGrpSpPr/>
            <p:nvPr/>
          </p:nvGrpSpPr>
          <p:grpSpPr>
            <a:xfrm>
              <a:off x="5467350" y="4457700"/>
              <a:ext cx="7538085" cy="1123950"/>
              <a:chOff x="5467350" y="4457700"/>
              <a:chExt cx="7538085" cy="1123950"/>
            </a:xfrm>
            <a:effectLst>
              <a:outerShdw blurRad="152400" dist="38100" dir="10799140" algn="tl" rotWithShape="0">
                <a:srgbClr val="0F172A">
                  <a:alpha val="10000"/>
                </a:srgbClr>
              </a:outerShdw>
            </a:effectLst>
          </p:grpSpPr>
          <p:sp>
            <p:nvSpPr>
              <p:cNvPr id="39" name="Freeform 39"/>
              <p:cNvSpPr/>
              <p:nvPr/>
            </p:nvSpPr>
            <p:spPr>
              <a:xfrm>
                <a:off x="5467350" y="4457700"/>
                <a:ext cx="6172200" cy="1123950"/>
              </a:xfrm>
              <a:custGeom>
                <a:avLst/>
                <a:gdLst/>
                <a:ahLst/>
                <a:cxnLst/>
                <a:rect l="l" t="t" r="r" b="b"/>
                <a:pathLst>
                  <a:path w="6172200" h="1123950">
                    <a:moveTo>
                      <a:pt x="209550" y="0"/>
                    </a:moveTo>
                    <a:lnTo>
                      <a:pt x="5962650" y="0"/>
                    </a:lnTo>
                    <a:cubicBezTo>
                      <a:pt x="6078381" y="0"/>
                      <a:pt x="6172200" y="93819"/>
                      <a:pt x="6172200" y="209550"/>
                    </a:cubicBezTo>
                    <a:lnTo>
                      <a:pt x="6172200" y="914400"/>
                    </a:lnTo>
                    <a:cubicBezTo>
                      <a:pt x="6172200" y="1030131"/>
                      <a:pt x="6078381" y="1123950"/>
                      <a:pt x="5962650" y="1123950"/>
                    </a:cubicBezTo>
                    <a:lnTo>
                      <a:pt x="209550" y="1123950"/>
                    </a:lnTo>
                    <a:cubicBezTo>
                      <a:pt x="93819" y="1123950"/>
                      <a:pt x="0" y="1030131"/>
                      <a:pt x="0" y="914400"/>
                    </a:cubicBezTo>
                    <a:lnTo>
                      <a:pt x="0" y="209550"/>
                    </a:lnTo>
                    <a:cubicBezTo>
                      <a:pt x="0" y="93819"/>
                      <a:pt x="93819" y="0"/>
                      <a:pt x="209550" y="0"/>
                    </a:cubicBezTo>
                    <a:close/>
                  </a:path>
                </a:pathLst>
              </a:custGeom>
              <a:solidFill>
                <a:srgbClr val="F8FAFC"/>
              </a:solidFill>
              <a:ln>
                <a:noFill/>
              </a:ln>
              <a:effectLst>
                <a:outerShdw blurRad="152400" dist="38100" dir="10799140" algn="tl" rotWithShape="0">
                  <a:srgbClr val="0F172A">
                    <a:alpha val="10000"/>
                  </a:srgbClr>
                </a:outerShdw>
              </a:effectLst>
            </p:spPr>
          </p:sp>
          <p:grpSp>
            <p:nvGrpSpPr>
              <p:cNvPr id="42" name="Group 42"/>
              <p:cNvGrpSpPr/>
              <p:nvPr/>
            </p:nvGrpSpPr>
            <p:grpSpPr>
              <a:xfrm>
                <a:off x="5831681" y="4801791"/>
                <a:ext cx="242888" cy="283369"/>
                <a:chOff x="5831681" y="4801791"/>
                <a:chExt cx="242888" cy="283369"/>
              </a:xfrm>
            </p:grpSpPr>
            <p:sp>
              <p:nvSpPr>
                <p:cNvPr id="40" name="Freeform 40"/>
                <p:cNvSpPr/>
                <p:nvPr/>
              </p:nvSpPr>
              <p:spPr>
                <a:xfrm>
                  <a:off x="5892403" y="4801791"/>
                  <a:ext cx="121444" cy="121444"/>
                </a:xfrm>
                <a:custGeom>
                  <a:avLst/>
                  <a:gdLst/>
                  <a:ahLst/>
                  <a:cxnLst/>
                  <a:rect l="l" t="t" r="r" b="b"/>
                  <a:pathLst>
                    <a:path w="121444" h="121444">
                      <a:moveTo>
                        <a:pt x="60722" y="121444"/>
                      </a:moveTo>
                      <a:cubicBezTo>
                        <a:pt x="94258" y="121444"/>
                        <a:pt x="121444" y="94258"/>
                        <a:pt x="121444" y="60722"/>
                      </a:cubicBezTo>
                      <a:cubicBezTo>
                        <a:pt x="121444" y="27186"/>
                        <a:pt x="94258" y="0"/>
                        <a:pt x="60722" y="0"/>
                      </a:cubicBezTo>
                      <a:cubicBezTo>
                        <a:pt x="27186" y="0"/>
                        <a:pt x="0" y="27186"/>
                        <a:pt x="0" y="60722"/>
                      </a:cubicBezTo>
                      <a:cubicBezTo>
                        <a:pt x="0" y="94258"/>
                        <a:pt x="27186" y="121444"/>
                        <a:pt x="60722" y="121444"/>
                      </a:cubicBezTo>
                      <a:close/>
                    </a:path>
                  </a:pathLst>
                </a:custGeom>
                <a:solidFill>
                  <a:srgbClr val="10B981"/>
                </a:solidFill>
                <a:ln>
                  <a:noFill/>
                </a:ln>
                <a:effectLst>
                  <a:outerShdw blurRad="152400" dist="38100" dir="10799140" algn="tl" rotWithShape="0">
                    <a:srgbClr val="0F172A">
                      <a:alpha val="10000"/>
                    </a:srgbClr>
                  </a:outerShdw>
                </a:effectLst>
              </p:spPr>
            </p:sp>
            <p:sp>
              <p:nvSpPr>
                <p:cNvPr id="41" name="Freeform 41"/>
                <p:cNvSpPr/>
                <p:nvPr/>
              </p:nvSpPr>
              <p:spPr>
                <a:xfrm>
                  <a:off x="5831681" y="4963716"/>
                  <a:ext cx="242888" cy="121444"/>
                </a:xfrm>
                <a:custGeom>
                  <a:avLst/>
                  <a:gdLst/>
                  <a:ahLst/>
                  <a:cxnLst/>
                  <a:rect l="l" t="t" r="r" b="b"/>
                  <a:pathLst>
                    <a:path w="242888" h="121444">
                      <a:moveTo>
                        <a:pt x="242888" y="60722"/>
                      </a:moveTo>
                      <a:cubicBezTo>
                        <a:pt x="242888" y="27185"/>
                        <a:pt x="215702" y="0"/>
                        <a:pt x="182166" y="0"/>
                      </a:cubicBezTo>
                      <a:lnTo>
                        <a:pt x="60722" y="0"/>
                      </a:lnTo>
                      <a:cubicBezTo>
                        <a:pt x="27186" y="0"/>
                        <a:pt x="0" y="27185"/>
                        <a:pt x="0" y="60722"/>
                      </a:cubicBezTo>
                      <a:lnTo>
                        <a:pt x="0" y="121444"/>
                      </a:lnTo>
                      <a:lnTo>
                        <a:pt x="242888" y="121444"/>
                      </a:lnTo>
                      <a:lnTo>
                        <a:pt x="242888" y="60722"/>
                      </a:lnTo>
                      <a:close/>
                    </a:path>
                  </a:pathLst>
                </a:custGeom>
                <a:solidFill>
                  <a:srgbClr val="10B981"/>
                </a:solidFill>
                <a:ln>
                  <a:noFill/>
                </a:ln>
                <a:effectLst>
                  <a:outerShdw blurRad="152400" dist="38100" dir="10799140" algn="tl" rotWithShape="0">
                    <a:srgbClr val="0F172A">
                      <a:alpha val="10000"/>
                    </a:srgbClr>
                  </a:outerShdw>
                </a:effectLst>
              </p:spPr>
            </p:sp>
          </p:grpSp>
          <p:sp>
            <p:nvSpPr>
              <p:cNvPr id="43" name="TextBox 43"/>
              <p:cNvSpPr txBox="1"/>
              <p:nvPr/>
            </p:nvSpPr>
            <p:spPr>
              <a:xfrm>
                <a:off x="6267450" y="4819650"/>
                <a:ext cx="3177992" cy="3048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1A1A2E"/>
                    </a:solidFill>
                    <a:latin typeface="Arial"/>
                    <a:ea typeface="Microsoft YaHei"/>
                    <a:cs typeface="Arial"/>
                  </a:rPr>
                  <a:t>The user keeps final control</a:t>
                </a:r>
              </a:p>
            </p:txBody>
          </p:sp>
          <p:sp>
            <p:nvSpPr>
              <p:cNvPr id="44" name="TextBox 44"/>
              <p:cNvSpPr txBox="1"/>
              <p:nvPr/>
            </p:nvSpPr>
            <p:spPr>
              <a:xfrm>
                <a:off x="6271260" y="5147310"/>
                <a:ext cx="6734175"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The AI does the heavy lifting, but the final mile still belongs to the presenter.</a:t>
                </a:r>
              </a:p>
            </p:txBody>
          </p:sp>
        </p:grpSp>
      </p:grpSp>
      <p:sp>
        <p:nvSpPr>
          <p:cNvPr id="47" name="TextBox 47"/>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02</a:t>
            </a:r>
          </a:p>
        </p:txBody>
      </p:sp>
    </p:spTree>
  </p:cSld>
  <p:clrMapOvr>
    <a:masterClrMapping/>
  </p:clrMapOvr>
  <p:transition 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D97757"/>
          </a:solidFill>
          <a:ln>
            <a:noFill/>
          </a:ln>
        </p:spPr>
      </p:sp>
      <p:sp>
        <p:nvSpPr>
          <p:cNvPr id="4" name="TextBox 4"/>
          <p:cNvSpPr txBox="1"/>
          <p:nvPr/>
        </p:nvSpPr>
        <p:spPr>
          <a:xfrm>
            <a:off x="559118" y="390049"/>
            <a:ext cx="1362957" cy="198120"/>
          </a:xfrm>
          <a:prstGeom prst="rect">
            <a:avLst/>
          </a:prstGeom>
          <a:noFill/>
          <a:ln>
            <a:noFill/>
          </a:ln>
        </p:spPr>
        <p:txBody>
          <a:bodyPr wrap="none" lIns="0" tIns="0" rIns="0" bIns="0" anchor="t" anchorCtr="0">
            <a:spAutoFit/>
          </a:bodyPr>
          <a:lstStyle/>
          <a:p>
            <a:pPr algn="l"/>
            <a:r>
              <a:rPr lang="zh-CN" sz="975" b="1" dirty="0">
                <a:solidFill>
                  <a:srgbClr val="D97757"/>
                </a:solidFill>
                <a:latin typeface="Arial"/>
                <a:ea typeface="Microsoft YaHei"/>
                <a:cs typeface="Arial"/>
              </a:rPr>
              <a:t>MARKET TRADEOFFS</a:t>
            </a:r>
          </a:p>
        </p:txBody>
      </p:sp>
      <p:sp>
        <p:nvSpPr>
          <p:cNvPr id="5" name="TextBox 5"/>
          <p:cNvSpPr txBox="1"/>
          <p:nvPr/>
        </p:nvSpPr>
        <p:spPr>
          <a:xfrm>
            <a:off x="539115" y="543878"/>
            <a:ext cx="8609188" cy="518160"/>
          </a:xfrm>
          <a:prstGeom prst="rect">
            <a:avLst/>
          </a:prstGeom>
          <a:noFill/>
          <a:ln>
            <a:noFill/>
          </a:ln>
        </p:spPr>
        <p:txBody>
          <a:bodyPr wrap="none" lIns="0" tIns="0" rIns="0" bIns="0" anchor="t" anchorCtr="0">
            <a:spAutoFit/>
          </a:bodyPr>
          <a:lstStyle/>
          <a:p>
            <a:pPr algn="l"/>
            <a:r>
              <a:rPr lang="zh-CN" sz="2550" b="1" dirty="0">
                <a:solidFill>
                  <a:srgbClr val="1A1A2E"/>
                </a:solidFill>
                <a:latin typeface="Arial"/>
                <a:ea typeface="Microsoft YaHei"/>
                <a:cs typeface="Arial"/>
              </a:rPr>
              <a:t>Four approaches, four different trade-offs</a:t>
            </a:r>
          </a:p>
        </p:txBody>
      </p:sp>
      <p:sp>
        <p:nvSpPr>
          <p:cNvPr id="6" name="TextBox 6"/>
          <p:cNvSpPr txBox="1"/>
          <p:nvPr/>
        </p:nvSpPr>
        <p:spPr>
          <a:xfrm>
            <a:off x="556260" y="975360"/>
            <a:ext cx="5594985"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The product story is built on rejecting three unsatisfying paths.</a:t>
            </a:r>
          </a:p>
        </p:txBody>
      </p:sp>
      <p:grpSp>
        <p:nvGrpSpPr>
          <p:cNvPr id="14" name="Group 14"/>
          <p:cNvGrpSpPr/>
          <p:nvPr/>
        </p:nvGrpSpPr>
        <p:grpSpPr>
          <a:xfrm>
            <a:off x="571500" y="1524000"/>
            <a:ext cx="3074193" cy="4495800"/>
            <a:chOff x="571500" y="1524000"/>
            <a:chExt cx="3074193" cy="4495800"/>
          </a:xfrm>
          <a:effectLst>
            <a:outerShdw blurRad="133350" dist="38100" dir="10799140" algn="tl" rotWithShape="0">
              <a:srgbClr val="0F172A">
                <a:alpha val="10000"/>
              </a:srgbClr>
            </a:outerShdw>
          </a:effectLst>
        </p:grpSpPr>
        <p:sp>
          <p:nvSpPr>
            <p:cNvPr id="7" name="Freeform 7"/>
            <p:cNvSpPr/>
            <p:nvPr/>
          </p:nvSpPr>
          <p:spPr>
            <a:xfrm>
              <a:off x="571500" y="1524000"/>
              <a:ext cx="2571750" cy="4495800"/>
            </a:xfrm>
            <a:custGeom>
              <a:avLst/>
              <a:gdLst/>
              <a:ahLst/>
              <a:cxnLst/>
              <a:rect l="l" t="t" r="r" b="b"/>
              <a:pathLst>
                <a:path w="2571750" h="4495800">
                  <a:moveTo>
                    <a:pt x="228600" y="0"/>
                  </a:moveTo>
                  <a:lnTo>
                    <a:pt x="2343150" y="0"/>
                  </a:lnTo>
                  <a:cubicBezTo>
                    <a:pt x="2469402" y="0"/>
                    <a:pt x="2571750" y="102348"/>
                    <a:pt x="2571750" y="228600"/>
                  </a:cubicBezTo>
                  <a:lnTo>
                    <a:pt x="2571750" y="4267200"/>
                  </a:lnTo>
                  <a:cubicBezTo>
                    <a:pt x="2571750" y="4393452"/>
                    <a:pt x="2469402" y="4495800"/>
                    <a:pt x="2343150" y="4495800"/>
                  </a:cubicBezTo>
                  <a:lnTo>
                    <a:pt x="228600" y="4495800"/>
                  </a:lnTo>
                  <a:cubicBezTo>
                    <a:pt x="102348" y="4495800"/>
                    <a:pt x="0" y="4393452"/>
                    <a:pt x="0" y="4267200"/>
                  </a:cubicBezTo>
                  <a:lnTo>
                    <a:pt x="0" y="228600"/>
                  </a:lnTo>
                  <a:cubicBezTo>
                    <a:pt x="0" y="102348"/>
                    <a:pt x="102348" y="0"/>
                    <a:pt x="228600" y="0"/>
                  </a:cubicBezTo>
                  <a:close/>
                </a:path>
              </a:pathLst>
            </a:custGeom>
            <a:solidFill>
              <a:srgbClr val="F8FAFC"/>
            </a:solidFill>
            <a:ln>
              <a:noFill/>
            </a:ln>
            <a:effectLst>
              <a:outerShdw blurRad="133350" dist="38100" dir="10799140" algn="tl" rotWithShape="0">
                <a:srgbClr val="0F172A">
                  <a:alpha val="10000"/>
                </a:srgbClr>
              </a:outerShdw>
            </a:effectLst>
          </p:spPr>
        </p:sp>
        <p:sp>
          <p:nvSpPr>
            <p:cNvPr id="8" name="Freeform 8"/>
            <p:cNvSpPr/>
            <p:nvPr/>
          </p:nvSpPr>
          <p:spPr>
            <a:xfrm>
              <a:off x="571500" y="1524000"/>
              <a:ext cx="2571750" cy="114300"/>
            </a:xfrm>
            <a:custGeom>
              <a:avLst/>
              <a:gdLst/>
              <a:ahLst/>
              <a:cxnLst/>
              <a:rect l="l" t="t" r="r" b="b"/>
              <a:pathLst>
                <a:path w="2571750" h="114300">
                  <a:moveTo>
                    <a:pt x="57150" y="0"/>
                  </a:moveTo>
                  <a:lnTo>
                    <a:pt x="2514600" y="0"/>
                  </a:lnTo>
                  <a:cubicBezTo>
                    <a:pt x="2546163" y="0"/>
                    <a:pt x="2571750" y="25587"/>
                    <a:pt x="2571750" y="57150"/>
                  </a:cubicBezTo>
                  <a:lnTo>
                    <a:pt x="2571750" y="57150"/>
                  </a:lnTo>
                  <a:cubicBezTo>
                    <a:pt x="2571750" y="88713"/>
                    <a:pt x="2546163" y="114300"/>
                    <a:pt x="2514600" y="114300"/>
                  </a:cubicBezTo>
                  <a:lnTo>
                    <a:pt x="57150" y="114300"/>
                  </a:lnTo>
                  <a:cubicBezTo>
                    <a:pt x="25587" y="114300"/>
                    <a:pt x="0" y="88713"/>
                    <a:pt x="0" y="57150"/>
                  </a:cubicBezTo>
                  <a:lnTo>
                    <a:pt x="0" y="57150"/>
                  </a:lnTo>
                  <a:cubicBezTo>
                    <a:pt x="0" y="25587"/>
                    <a:pt x="25587" y="0"/>
                    <a:pt x="57150" y="0"/>
                  </a:cubicBezTo>
                  <a:close/>
                </a:path>
              </a:pathLst>
            </a:custGeom>
            <a:solidFill>
              <a:srgbClr val="EF4444"/>
            </a:solidFill>
            <a:ln>
              <a:noFill/>
            </a:ln>
            <a:effectLst>
              <a:outerShdw blurRad="133350" dist="38100" dir="10799140" algn="tl" rotWithShape="0">
                <a:srgbClr val="0F172A">
                  <a:alpha val="10000"/>
                </a:srgbClr>
              </a:outerShdw>
            </a:effectLst>
          </p:spPr>
        </p:sp>
        <p:sp>
          <p:nvSpPr>
            <p:cNvPr id="9" name="TextBox 9"/>
            <p:cNvSpPr txBox="1"/>
            <p:nvPr/>
          </p:nvSpPr>
          <p:spPr>
            <a:xfrm>
              <a:off x="817245" y="1860232"/>
              <a:ext cx="1686616" cy="3352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A1A2E"/>
                  </a:solidFill>
                  <a:latin typeface="Arial"/>
                  <a:ea typeface="Microsoft YaHei"/>
                  <a:cs typeface="Arial"/>
                </a:rPr>
                <a:t>Embed images</a:t>
              </a:r>
            </a:p>
          </p:txBody>
        </p:sp>
        <p:sp>
          <p:nvSpPr>
            <p:cNvPr id="10" name="TextBox 10"/>
            <p:cNvSpPr txBox="1"/>
            <p:nvPr/>
          </p:nvSpPr>
          <p:spPr>
            <a:xfrm>
              <a:off x="822960" y="2232660"/>
              <a:ext cx="2773299" cy="24384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EF4444"/>
                  </a:solidFill>
                  <a:latin typeface="Arial"/>
                  <a:ea typeface="Microsoft YaHei"/>
                  <a:cs typeface="Arial"/>
                </a:rPr>
                <a:t>Looks polished, loses editability</a:t>
              </a:r>
            </a:p>
          </p:txBody>
        </p:sp>
        <p:sp>
          <p:nvSpPr>
            <p:cNvPr id="11" name="TextBox 11"/>
            <p:cNvSpPr txBox="1"/>
            <p:nvPr/>
          </p:nvSpPr>
          <p:spPr>
            <a:xfrm>
              <a:off x="823912" y="2850356"/>
              <a:ext cx="2764274"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 Everything becomes a flat visual</a:t>
              </a:r>
            </a:p>
          </p:txBody>
        </p:sp>
        <p:sp>
          <p:nvSpPr>
            <p:cNvPr id="12" name="TextBox 12"/>
            <p:cNvSpPr txBox="1"/>
            <p:nvPr/>
          </p:nvSpPr>
          <p:spPr>
            <a:xfrm>
              <a:off x="823912" y="3088481"/>
              <a:ext cx="2082403"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 Text cannot be selected</a:t>
              </a:r>
            </a:p>
          </p:txBody>
        </p:sp>
        <p:sp>
          <p:nvSpPr>
            <p:cNvPr id="13" name="TextBox 13"/>
            <p:cNvSpPr txBox="1"/>
            <p:nvPr/>
          </p:nvSpPr>
          <p:spPr>
            <a:xfrm>
              <a:off x="823912" y="3326606"/>
              <a:ext cx="2821781"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 Scaling behaves like a screenshot</a:t>
              </a:r>
            </a:p>
          </p:txBody>
        </p:sp>
      </p:grpSp>
      <p:grpSp>
        <p:nvGrpSpPr>
          <p:cNvPr id="22" name="Group 22"/>
          <p:cNvGrpSpPr/>
          <p:nvPr/>
        </p:nvGrpSpPr>
        <p:grpSpPr>
          <a:xfrm>
            <a:off x="3333750" y="1524000"/>
            <a:ext cx="3222069" cy="4495800"/>
            <a:chOff x="3333750" y="1524000"/>
            <a:chExt cx="3222069" cy="4495800"/>
          </a:xfrm>
          <a:effectLst>
            <a:outerShdw blurRad="133350" dist="38100" dir="10799140" algn="tl" rotWithShape="0">
              <a:srgbClr val="0F172A">
                <a:alpha val="10000"/>
              </a:srgbClr>
            </a:outerShdw>
          </a:effectLst>
        </p:grpSpPr>
        <p:sp>
          <p:nvSpPr>
            <p:cNvPr id="15" name="Freeform 15"/>
            <p:cNvSpPr/>
            <p:nvPr/>
          </p:nvSpPr>
          <p:spPr>
            <a:xfrm>
              <a:off x="3333750" y="1524000"/>
              <a:ext cx="2571750" cy="4495800"/>
            </a:xfrm>
            <a:custGeom>
              <a:avLst/>
              <a:gdLst/>
              <a:ahLst/>
              <a:cxnLst/>
              <a:rect l="l" t="t" r="r" b="b"/>
              <a:pathLst>
                <a:path w="2571750" h="4495800">
                  <a:moveTo>
                    <a:pt x="228600" y="0"/>
                  </a:moveTo>
                  <a:lnTo>
                    <a:pt x="2343150" y="0"/>
                  </a:lnTo>
                  <a:cubicBezTo>
                    <a:pt x="2469402" y="0"/>
                    <a:pt x="2571750" y="102348"/>
                    <a:pt x="2571750" y="228600"/>
                  </a:cubicBezTo>
                  <a:lnTo>
                    <a:pt x="2571750" y="4267200"/>
                  </a:lnTo>
                  <a:cubicBezTo>
                    <a:pt x="2571750" y="4393452"/>
                    <a:pt x="2469402" y="4495800"/>
                    <a:pt x="2343150" y="4495800"/>
                  </a:cubicBezTo>
                  <a:lnTo>
                    <a:pt x="228600" y="4495800"/>
                  </a:lnTo>
                  <a:cubicBezTo>
                    <a:pt x="102348" y="4495800"/>
                    <a:pt x="0" y="4393452"/>
                    <a:pt x="0" y="4267200"/>
                  </a:cubicBezTo>
                  <a:lnTo>
                    <a:pt x="0" y="228600"/>
                  </a:lnTo>
                  <a:cubicBezTo>
                    <a:pt x="0" y="102348"/>
                    <a:pt x="102348" y="0"/>
                    <a:pt x="228600" y="0"/>
                  </a:cubicBezTo>
                  <a:close/>
                </a:path>
              </a:pathLst>
            </a:custGeom>
            <a:solidFill>
              <a:srgbClr val="F8FAFC"/>
            </a:solidFill>
            <a:ln>
              <a:noFill/>
            </a:ln>
            <a:effectLst>
              <a:outerShdw blurRad="133350" dist="38100" dir="10799140" algn="tl" rotWithShape="0">
                <a:srgbClr val="0F172A">
                  <a:alpha val="10000"/>
                </a:srgbClr>
              </a:outerShdw>
            </a:effectLst>
          </p:spPr>
        </p:sp>
        <p:sp>
          <p:nvSpPr>
            <p:cNvPr id="16" name="Freeform 16"/>
            <p:cNvSpPr/>
            <p:nvPr/>
          </p:nvSpPr>
          <p:spPr>
            <a:xfrm>
              <a:off x="3333750" y="1524000"/>
              <a:ext cx="2571750" cy="114300"/>
            </a:xfrm>
            <a:custGeom>
              <a:avLst/>
              <a:gdLst/>
              <a:ahLst/>
              <a:cxnLst/>
              <a:rect l="l" t="t" r="r" b="b"/>
              <a:pathLst>
                <a:path w="2571750" h="114300">
                  <a:moveTo>
                    <a:pt x="57150" y="0"/>
                  </a:moveTo>
                  <a:lnTo>
                    <a:pt x="2514600" y="0"/>
                  </a:lnTo>
                  <a:cubicBezTo>
                    <a:pt x="2546163" y="0"/>
                    <a:pt x="2571750" y="25587"/>
                    <a:pt x="2571750" y="57150"/>
                  </a:cubicBezTo>
                  <a:lnTo>
                    <a:pt x="2571750" y="57150"/>
                  </a:lnTo>
                  <a:cubicBezTo>
                    <a:pt x="2571750" y="88713"/>
                    <a:pt x="2546163" y="114300"/>
                    <a:pt x="2514600" y="114300"/>
                  </a:cubicBezTo>
                  <a:lnTo>
                    <a:pt x="57150" y="114300"/>
                  </a:lnTo>
                  <a:cubicBezTo>
                    <a:pt x="25587" y="114300"/>
                    <a:pt x="0" y="88713"/>
                    <a:pt x="0" y="57150"/>
                  </a:cubicBezTo>
                  <a:lnTo>
                    <a:pt x="0" y="57150"/>
                  </a:lnTo>
                  <a:cubicBezTo>
                    <a:pt x="0" y="25587"/>
                    <a:pt x="25587" y="0"/>
                    <a:pt x="57150" y="0"/>
                  </a:cubicBezTo>
                  <a:close/>
                </a:path>
              </a:pathLst>
            </a:custGeom>
            <a:solidFill>
              <a:srgbClr val="EF4444"/>
            </a:solidFill>
            <a:ln>
              <a:noFill/>
            </a:ln>
            <a:effectLst>
              <a:outerShdw blurRad="133350" dist="38100" dir="10799140" algn="tl" rotWithShape="0">
                <a:srgbClr val="0F172A">
                  <a:alpha val="10000"/>
                </a:srgbClr>
              </a:outerShdw>
            </a:effectLst>
          </p:spPr>
        </p:sp>
        <p:sp>
          <p:nvSpPr>
            <p:cNvPr id="17" name="TextBox 17"/>
            <p:cNvSpPr txBox="1"/>
            <p:nvPr/>
          </p:nvSpPr>
          <p:spPr>
            <a:xfrm>
              <a:off x="3579495" y="1860232"/>
              <a:ext cx="2116769" cy="3352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A1A2E"/>
                  </a:solidFill>
                  <a:latin typeface="Arial"/>
                  <a:ea typeface="Microsoft YaHei"/>
                  <a:cs typeface="Arial"/>
                </a:rPr>
                <a:t>HTML/CSS export</a:t>
              </a:r>
            </a:p>
          </p:txBody>
        </p:sp>
        <p:sp>
          <p:nvSpPr>
            <p:cNvPr id="18" name="TextBox 18"/>
            <p:cNvSpPr txBox="1"/>
            <p:nvPr/>
          </p:nvSpPr>
          <p:spPr>
            <a:xfrm>
              <a:off x="3585210" y="2232660"/>
              <a:ext cx="2685669" cy="24384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EF4444"/>
                  </a:solidFill>
                  <a:latin typeface="Arial"/>
                  <a:ea typeface="Microsoft YaHei"/>
                  <a:cs typeface="Arial"/>
                </a:rPr>
                <a:t>Strong on the web, weak in PPT</a:t>
              </a:r>
            </a:p>
          </p:txBody>
        </p:sp>
        <p:sp>
          <p:nvSpPr>
            <p:cNvPr id="19" name="TextBox 19"/>
            <p:cNvSpPr txBox="1"/>
            <p:nvPr/>
          </p:nvSpPr>
          <p:spPr>
            <a:xfrm>
              <a:off x="3586162" y="2850356"/>
              <a:ext cx="2969657"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 Browser flow is not slide geometry</a:t>
              </a:r>
            </a:p>
          </p:txBody>
        </p:sp>
        <p:sp>
          <p:nvSpPr>
            <p:cNvPr id="20" name="TextBox 20"/>
            <p:cNvSpPr txBox="1"/>
            <p:nvPr/>
          </p:nvSpPr>
          <p:spPr>
            <a:xfrm>
              <a:off x="3586162" y="3088481"/>
              <a:ext cx="2123480"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 Layouts break on export</a:t>
              </a:r>
            </a:p>
          </p:txBody>
        </p:sp>
        <p:sp>
          <p:nvSpPr>
            <p:cNvPr id="21" name="TextBox 21"/>
            <p:cNvSpPr txBox="1"/>
            <p:nvPr/>
          </p:nvSpPr>
          <p:spPr>
            <a:xfrm>
              <a:off x="3586162" y="3326606"/>
              <a:ext cx="2526030"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 Elements often get flattened</a:t>
              </a:r>
            </a:p>
          </p:txBody>
        </p:sp>
      </p:grpSp>
      <p:grpSp>
        <p:nvGrpSpPr>
          <p:cNvPr id="30" name="Group 30"/>
          <p:cNvGrpSpPr/>
          <p:nvPr/>
        </p:nvGrpSpPr>
        <p:grpSpPr>
          <a:xfrm>
            <a:off x="6096000" y="1524000"/>
            <a:ext cx="3953232" cy="4495800"/>
            <a:chOff x="6096000" y="1524000"/>
            <a:chExt cx="3953232" cy="4495800"/>
          </a:xfrm>
          <a:effectLst>
            <a:outerShdw blurRad="133350" dist="38100" dir="10799140" algn="tl" rotWithShape="0">
              <a:srgbClr val="0F172A">
                <a:alpha val="10000"/>
              </a:srgbClr>
            </a:outerShdw>
          </a:effectLst>
        </p:grpSpPr>
        <p:sp>
          <p:nvSpPr>
            <p:cNvPr id="23" name="Freeform 23"/>
            <p:cNvSpPr/>
            <p:nvPr/>
          </p:nvSpPr>
          <p:spPr>
            <a:xfrm>
              <a:off x="6096000" y="1524000"/>
              <a:ext cx="2571750" cy="4495800"/>
            </a:xfrm>
            <a:custGeom>
              <a:avLst/>
              <a:gdLst/>
              <a:ahLst/>
              <a:cxnLst/>
              <a:rect l="l" t="t" r="r" b="b"/>
              <a:pathLst>
                <a:path w="2571750" h="4495800">
                  <a:moveTo>
                    <a:pt x="228600" y="0"/>
                  </a:moveTo>
                  <a:lnTo>
                    <a:pt x="2343150" y="0"/>
                  </a:lnTo>
                  <a:cubicBezTo>
                    <a:pt x="2469402" y="0"/>
                    <a:pt x="2571750" y="102348"/>
                    <a:pt x="2571750" y="228600"/>
                  </a:cubicBezTo>
                  <a:lnTo>
                    <a:pt x="2571750" y="4267200"/>
                  </a:lnTo>
                  <a:cubicBezTo>
                    <a:pt x="2571750" y="4393452"/>
                    <a:pt x="2469402" y="4495800"/>
                    <a:pt x="2343150" y="4495800"/>
                  </a:cubicBezTo>
                  <a:lnTo>
                    <a:pt x="228600" y="4495800"/>
                  </a:lnTo>
                  <a:cubicBezTo>
                    <a:pt x="102348" y="4495800"/>
                    <a:pt x="0" y="4393452"/>
                    <a:pt x="0" y="4267200"/>
                  </a:cubicBezTo>
                  <a:lnTo>
                    <a:pt x="0" y="228600"/>
                  </a:lnTo>
                  <a:cubicBezTo>
                    <a:pt x="0" y="102348"/>
                    <a:pt x="102348" y="0"/>
                    <a:pt x="228600" y="0"/>
                  </a:cubicBezTo>
                  <a:close/>
                </a:path>
              </a:pathLst>
            </a:custGeom>
            <a:solidFill>
              <a:srgbClr val="F8FAFC"/>
            </a:solidFill>
            <a:ln>
              <a:noFill/>
            </a:ln>
            <a:effectLst>
              <a:outerShdw blurRad="133350" dist="38100" dir="10799140" algn="tl" rotWithShape="0">
                <a:srgbClr val="0F172A">
                  <a:alpha val="10000"/>
                </a:srgbClr>
              </a:outerShdw>
            </a:effectLst>
          </p:spPr>
        </p:sp>
        <p:sp>
          <p:nvSpPr>
            <p:cNvPr id="24" name="Freeform 24"/>
            <p:cNvSpPr/>
            <p:nvPr/>
          </p:nvSpPr>
          <p:spPr>
            <a:xfrm>
              <a:off x="6096000" y="1524000"/>
              <a:ext cx="2571750" cy="114300"/>
            </a:xfrm>
            <a:custGeom>
              <a:avLst/>
              <a:gdLst/>
              <a:ahLst/>
              <a:cxnLst/>
              <a:rect l="l" t="t" r="r" b="b"/>
              <a:pathLst>
                <a:path w="2571750" h="114300">
                  <a:moveTo>
                    <a:pt x="57150" y="0"/>
                  </a:moveTo>
                  <a:lnTo>
                    <a:pt x="2514600" y="0"/>
                  </a:lnTo>
                  <a:cubicBezTo>
                    <a:pt x="2546163" y="0"/>
                    <a:pt x="2571750" y="25587"/>
                    <a:pt x="2571750" y="57150"/>
                  </a:cubicBezTo>
                  <a:lnTo>
                    <a:pt x="2571750" y="57150"/>
                  </a:lnTo>
                  <a:cubicBezTo>
                    <a:pt x="2571750" y="88713"/>
                    <a:pt x="2546163" y="114300"/>
                    <a:pt x="2514600" y="114300"/>
                  </a:cubicBezTo>
                  <a:lnTo>
                    <a:pt x="57150" y="114300"/>
                  </a:lnTo>
                  <a:cubicBezTo>
                    <a:pt x="25587" y="114300"/>
                    <a:pt x="0" y="88713"/>
                    <a:pt x="0" y="57150"/>
                  </a:cubicBezTo>
                  <a:lnTo>
                    <a:pt x="0" y="57150"/>
                  </a:lnTo>
                  <a:cubicBezTo>
                    <a:pt x="0" y="25587"/>
                    <a:pt x="25587" y="0"/>
                    <a:pt x="57150" y="0"/>
                  </a:cubicBezTo>
                  <a:close/>
                </a:path>
              </a:pathLst>
            </a:custGeom>
            <a:solidFill>
              <a:srgbClr val="EF4444"/>
            </a:solidFill>
            <a:ln>
              <a:noFill/>
            </a:ln>
            <a:effectLst>
              <a:outerShdw blurRad="133350" dist="38100" dir="10799140" algn="tl" rotWithShape="0">
                <a:srgbClr val="0F172A">
                  <a:alpha val="10000"/>
                </a:srgbClr>
              </a:outerShdw>
            </a:effectLst>
          </p:spPr>
        </p:sp>
        <p:sp>
          <p:nvSpPr>
            <p:cNvPr id="25" name="TextBox 25"/>
            <p:cNvSpPr txBox="1"/>
            <p:nvPr/>
          </p:nvSpPr>
          <p:spPr>
            <a:xfrm>
              <a:off x="6341745" y="1860232"/>
              <a:ext cx="2420407" cy="3352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A1A2E"/>
                  </a:solidFill>
                  <a:latin typeface="Arial"/>
                  <a:ea typeface="Microsoft YaHei"/>
                  <a:cs typeface="Arial"/>
                </a:rPr>
                <a:t>Direct python-pptx</a:t>
              </a:r>
            </a:p>
          </p:txBody>
        </p:sp>
        <p:sp>
          <p:nvSpPr>
            <p:cNvPr id="26" name="TextBox 26"/>
            <p:cNvSpPr txBox="1"/>
            <p:nvPr/>
          </p:nvSpPr>
          <p:spPr>
            <a:xfrm>
              <a:off x="6347460" y="2232660"/>
              <a:ext cx="2606802" cy="24384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EF4444"/>
                  </a:solidFill>
                  <a:latin typeface="Arial"/>
                  <a:ea typeface="Microsoft YaHei"/>
                  <a:cs typeface="Arial"/>
                </a:rPr>
                <a:t>Editable objects, weak visuals</a:t>
              </a:r>
            </a:p>
          </p:txBody>
        </p:sp>
        <p:sp>
          <p:nvSpPr>
            <p:cNvPr id="27" name="TextBox 27"/>
            <p:cNvSpPr txBox="1"/>
            <p:nvPr/>
          </p:nvSpPr>
          <p:spPr>
            <a:xfrm>
              <a:off x="6348412" y="2850356"/>
              <a:ext cx="324076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 AI has less design-native training data</a:t>
              </a:r>
            </a:p>
          </p:txBody>
        </p:sp>
        <p:sp>
          <p:nvSpPr>
            <p:cNvPr id="28" name="TextBox 28"/>
            <p:cNvSpPr txBox="1"/>
            <p:nvPr/>
          </p:nvSpPr>
          <p:spPr>
            <a:xfrm>
              <a:off x="6348412" y="3088481"/>
              <a:ext cx="3248977"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 Results skew toward boxes and bullets</a:t>
              </a:r>
            </a:p>
          </p:txBody>
        </p:sp>
        <p:sp>
          <p:nvSpPr>
            <p:cNvPr id="29" name="TextBox 29"/>
            <p:cNvSpPr txBox="1"/>
            <p:nvPr/>
          </p:nvSpPr>
          <p:spPr>
            <a:xfrm>
              <a:off x="6348412" y="3326606"/>
              <a:ext cx="3700820"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 Complex design systems are hard to express</a:t>
              </a:r>
            </a:p>
          </p:txBody>
        </p:sp>
      </p:grpSp>
      <p:grpSp>
        <p:nvGrpSpPr>
          <p:cNvPr id="45" name="Group 45"/>
          <p:cNvGrpSpPr/>
          <p:nvPr/>
        </p:nvGrpSpPr>
        <p:grpSpPr>
          <a:xfrm>
            <a:off x="8858250" y="1524000"/>
            <a:ext cx="5032296" cy="4495800"/>
            <a:chOff x="8858250" y="1524000"/>
            <a:chExt cx="5032296" cy="4495800"/>
          </a:xfrm>
          <a:effectLst>
            <a:outerShdw blurRad="133350" dist="38100" dir="10799140" algn="tl" rotWithShape="0">
              <a:srgbClr val="0F172A">
                <a:alpha val="10000"/>
              </a:srgbClr>
            </a:outerShdw>
          </a:effectLst>
        </p:grpSpPr>
        <p:sp>
          <p:nvSpPr>
            <p:cNvPr id="31" name="Freeform 31"/>
            <p:cNvSpPr/>
            <p:nvPr/>
          </p:nvSpPr>
          <p:spPr>
            <a:xfrm>
              <a:off x="8858250" y="1524000"/>
              <a:ext cx="2762250" cy="4495800"/>
            </a:xfrm>
            <a:custGeom>
              <a:avLst/>
              <a:gdLst/>
              <a:ahLst/>
              <a:cxnLst/>
              <a:rect l="l" t="t" r="r" b="b"/>
              <a:pathLst>
                <a:path w="2762250" h="4495800">
                  <a:moveTo>
                    <a:pt x="228600" y="0"/>
                  </a:moveTo>
                  <a:lnTo>
                    <a:pt x="2533650" y="0"/>
                  </a:lnTo>
                  <a:cubicBezTo>
                    <a:pt x="2659902" y="0"/>
                    <a:pt x="2762250" y="102348"/>
                    <a:pt x="2762250" y="228600"/>
                  </a:cubicBezTo>
                  <a:lnTo>
                    <a:pt x="2762250" y="4267200"/>
                  </a:lnTo>
                  <a:cubicBezTo>
                    <a:pt x="2762250" y="4393452"/>
                    <a:pt x="2659902" y="4495800"/>
                    <a:pt x="2533650" y="4495800"/>
                  </a:cubicBezTo>
                  <a:lnTo>
                    <a:pt x="228600" y="4495800"/>
                  </a:lnTo>
                  <a:cubicBezTo>
                    <a:pt x="102348" y="4495800"/>
                    <a:pt x="0" y="4393452"/>
                    <a:pt x="0" y="4267200"/>
                  </a:cubicBezTo>
                  <a:lnTo>
                    <a:pt x="0" y="228600"/>
                  </a:lnTo>
                  <a:cubicBezTo>
                    <a:pt x="0" y="102348"/>
                    <a:pt x="102348" y="0"/>
                    <a:pt x="228600" y="0"/>
                  </a:cubicBezTo>
                  <a:close/>
                </a:path>
              </a:pathLst>
            </a:custGeom>
            <a:solidFill>
              <a:srgbClr val="F8FAFC"/>
            </a:solidFill>
            <a:ln>
              <a:noFill/>
            </a:ln>
            <a:effectLst>
              <a:outerShdw blurRad="133350" dist="38100" dir="10799140" algn="tl" rotWithShape="0">
                <a:srgbClr val="0F172A">
                  <a:alpha val="10000"/>
                </a:srgbClr>
              </a:outerShdw>
            </a:effectLst>
          </p:spPr>
        </p:sp>
        <p:sp>
          <p:nvSpPr>
            <p:cNvPr id="32" name="Freeform 32"/>
            <p:cNvSpPr/>
            <p:nvPr/>
          </p:nvSpPr>
          <p:spPr>
            <a:xfrm>
              <a:off x="8858250" y="1524000"/>
              <a:ext cx="2762250" cy="114300"/>
            </a:xfrm>
            <a:custGeom>
              <a:avLst/>
              <a:gdLst/>
              <a:ahLst/>
              <a:cxnLst/>
              <a:rect l="l" t="t" r="r" b="b"/>
              <a:pathLst>
                <a:path w="2762250" h="114300">
                  <a:moveTo>
                    <a:pt x="57150" y="0"/>
                  </a:moveTo>
                  <a:lnTo>
                    <a:pt x="2705100" y="0"/>
                  </a:lnTo>
                  <a:cubicBezTo>
                    <a:pt x="2736663" y="0"/>
                    <a:pt x="2762250" y="25587"/>
                    <a:pt x="2762250" y="57150"/>
                  </a:cubicBezTo>
                  <a:lnTo>
                    <a:pt x="2762250" y="57150"/>
                  </a:lnTo>
                  <a:cubicBezTo>
                    <a:pt x="2762250" y="88713"/>
                    <a:pt x="2736663" y="114300"/>
                    <a:pt x="2705100" y="114300"/>
                  </a:cubicBezTo>
                  <a:lnTo>
                    <a:pt x="57150" y="114300"/>
                  </a:lnTo>
                  <a:cubicBezTo>
                    <a:pt x="25587" y="114300"/>
                    <a:pt x="0" y="88713"/>
                    <a:pt x="0" y="57150"/>
                  </a:cubicBezTo>
                  <a:lnTo>
                    <a:pt x="0" y="57150"/>
                  </a:lnTo>
                  <a:cubicBezTo>
                    <a:pt x="0" y="25587"/>
                    <a:pt x="25587" y="0"/>
                    <a:pt x="57150" y="0"/>
                  </a:cubicBezTo>
                  <a:close/>
                </a:path>
              </a:pathLst>
            </a:custGeom>
            <a:solidFill>
              <a:srgbClr val="D97757"/>
            </a:solidFill>
            <a:ln>
              <a:noFill/>
            </a:ln>
            <a:effectLst>
              <a:outerShdw blurRad="133350" dist="38100" dir="10799140" algn="tl" rotWithShape="0">
                <a:srgbClr val="0F172A">
                  <a:alpha val="10000"/>
                </a:srgbClr>
              </a:outerShdw>
            </a:effectLst>
          </p:spPr>
        </p:sp>
        <p:grpSp>
          <p:nvGrpSpPr>
            <p:cNvPr id="36" name="Group 36"/>
            <p:cNvGrpSpPr/>
            <p:nvPr/>
          </p:nvGrpSpPr>
          <p:grpSpPr>
            <a:xfrm>
              <a:off x="9124950" y="1857375"/>
              <a:ext cx="304800" cy="266700"/>
              <a:chOff x="9124950" y="1857375"/>
              <a:chExt cx="304800" cy="266700"/>
            </a:xfrm>
          </p:grpSpPr>
          <p:sp>
            <p:nvSpPr>
              <p:cNvPr id="33" name="Freeform 33"/>
              <p:cNvSpPr/>
              <p:nvPr/>
            </p:nvSpPr>
            <p:spPr>
              <a:xfrm>
                <a:off x="9353550" y="1857375"/>
                <a:ext cx="76200" cy="266700"/>
              </a:xfrm>
              <a:custGeom>
                <a:avLst/>
                <a:gdLst/>
                <a:ahLst/>
                <a:cxnLst/>
                <a:rect l="l" t="t" r="r" b="b"/>
                <a:pathLst>
                  <a:path w="76200" h="266700">
                    <a:moveTo>
                      <a:pt x="76200" y="0"/>
                    </a:moveTo>
                    <a:lnTo>
                      <a:pt x="0" y="0"/>
                    </a:lnTo>
                    <a:lnTo>
                      <a:pt x="0" y="266700"/>
                    </a:lnTo>
                    <a:lnTo>
                      <a:pt x="76200" y="266700"/>
                    </a:lnTo>
                    <a:lnTo>
                      <a:pt x="76200" y="0"/>
                    </a:lnTo>
                    <a:close/>
                  </a:path>
                </a:pathLst>
              </a:custGeom>
              <a:solidFill>
                <a:srgbClr val="D97757"/>
              </a:solidFill>
              <a:ln>
                <a:noFill/>
              </a:ln>
              <a:effectLst>
                <a:outerShdw blurRad="133350" dist="38100" dir="10799140" algn="tl" rotWithShape="0">
                  <a:srgbClr val="0F172A">
                    <a:alpha val="10000"/>
                  </a:srgbClr>
                </a:outerShdw>
              </a:effectLst>
            </p:spPr>
          </p:sp>
          <p:sp>
            <p:nvSpPr>
              <p:cNvPr id="34" name="Freeform 34"/>
              <p:cNvSpPr/>
              <p:nvPr/>
            </p:nvSpPr>
            <p:spPr>
              <a:xfrm>
                <a:off x="9239250" y="1933575"/>
                <a:ext cx="76200" cy="190500"/>
              </a:xfrm>
              <a:custGeom>
                <a:avLst/>
                <a:gdLst/>
                <a:ahLst/>
                <a:cxnLst/>
                <a:rect l="l" t="t" r="r" b="b"/>
                <a:pathLst>
                  <a:path w="76200" h="190500">
                    <a:moveTo>
                      <a:pt x="0" y="0"/>
                    </a:moveTo>
                    <a:lnTo>
                      <a:pt x="76200" y="0"/>
                    </a:lnTo>
                    <a:lnTo>
                      <a:pt x="76200" y="190500"/>
                    </a:lnTo>
                    <a:lnTo>
                      <a:pt x="0" y="190500"/>
                    </a:lnTo>
                    <a:lnTo>
                      <a:pt x="0" y="0"/>
                    </a:lnTo>
                    <a:close/>
                  </a:path>
                </a:pathLst>
              </a:custGeom>
              <a:solidFill>
                <a:srgbClr val="D97757"/>
              </a:solidFill>
              <a:ln>
                <a:noFill/>
              </a:ln>
              <a:effectLst>
                <a:outerShdw blurRad="133350" dist="38100" dir="10799140" algn="tl" rotWithShape="0">
                  <a:srgbClr val="0F172A">
                    <a:alpha val="10000"/>
                  </a:srgbClr>
                </a:outerShdw>
              </a:effectLst>
            </p:spPr>
          </p:sp>
          <p:sp>
            <p:nvSpPr>
              <p:cNvPr id="35" name="Freeform 35"/>
              <p:cNvSpPr/>
              <p:nvPr/>
            </p:nvSpPr>
            <p:spPr>
              <a:xfrm>
                <a:off x="9124950" y="2009775"/>
                <a:ext cx="76200" cy="114300"/>
              </a:xfrm>
              <a:custGeom>
                <a:avLst/>
                <a:gdLst/>
                <a:ahLst/>
                <a:cxnLst/>
                <a:rect l="l" t="t" r="r" b="b"/>
                <a:pathLst>
                  <a:path w="76200" h="114300">
                    <a:moveTo>
                      <a:pt x="0" y="0"/>
                    </a:moveTo>
                    <a:lnTo>
                      <a:pt x="76200" y="0"/>
                    </a:lnTo>
                    <a:lnTo>
                      <a:pt x="76200" y="114300"/>
                    </a:lnTo>
                    <a:lnTo>
                      <a:pt x="0" y="114300"/>
                    </a:lnTo>
                    <a:lnTo>
                      <a:pt x="0" y="0"/>
                    </a:lnTo>
                    <a:close/>
                  </a:path>
                </a:pathLst>
              </a:custGeom>
              <a:solidFill>
                <a:srgbClr val="D97757"/>
              </a:solidFill>
              <a:ln>
                <a:noFill/>
              </a:ln>
              <a:effectLst>
                <a:outerShdw blurRad="133350" dist="38100" dir="10799140" algn="tl" rotWithShape="0">
                  <a:srgbClr val="0F172A">
                    <a:alpha val="10000"/>
                  </a:srgbClr>
                </a:outerShdw>
              </a:effectLst>
            </p:spPr>
          </p:sp>
        </p:grpSp>
        <p:sp>
          <p:nvSpPr>
            <p:cNvPr id="37" name="TextBox 37"/>
            <p:cNvSpPr txBox="1"/>
            <p:nvPr/>
          </p:nvSpPr>
          <p:spPr>
            <a:xfrm>
              <a:off x="9580245" y="1860232"/>
              <a:ext cx="2053511" cy="3352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A1A2E"/>
                  </a:solidFill>
                  <a:latin typeface="Arial"/>
                  <a:ea typeface="Microsoft YaHei"/>
                  <a:cs typeface="Arial"/>
                </a:rPr>
                <a:t>PPT Master path</a:t>
              </a:r>
            </a:p>
          </p:txBody>
        </p:sp>
        <p:sp>
          <p:nvSpPr>
            <p:cNvPr id="38" name="TextBox 38"/>
            <p:cNvSpPr txBox="1"/>
            <p:nvPr/>
          </p:nvSpPr>
          <p:spPr>
            <a:xfrm>
              <a:off x="9109710" y="2232660"/>
              <a:ext cx="2966085" cy="24384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D97757"/>
                  </a:solidFill>
                  <a:latin typeface="Arial"/>
                  <a:ea typeface="Microsoft YaHei"/>
                  <a:cs typeface="Arial"/>
                </a:rPr>
                <a:t>SVG -&gt; post-process -&gt; DrawingML</a:t>
              </a:r>
            </a:p>
          </p:txBody>
        </p:sp>
        <p:sp>
          <p:nvSpPr>
            <p:cNvPr id="39" name="TextBox 39"/>
            <p:cNvSpPr txBox="1"/>
            <p:nvPr/>
          </p:nvSpPr>
          <p:spPr>
            <a:xfrm>
              <a:off x="9110662" y="2850356"/>
              <a:ext cx="3388638"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 Keeps the vector/canvas mindset intact</a:t>
              </a:r>
            </a:p>
          </p:txBody>
        </p:sp>
        <p:sp>
          <p:nvSpPr>
            <p:cNvPr id="40" name="TextBox 40"/>
            <p:cNvSpPr txBox="1"/>
            <p:nvPr/>
          </p:nvSpPr>
          <p:spPr>
            <a:xfrm>
              <a:off x="9110662" y="3088481"/>
              <a:ext cx="328183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 Preserves editable native slide objects</a:t>
              </a:r>
            </a:p>
          </p:txBody>
        </p:sp>
        <p:sp>
          <p:nvSpPr>
            <p:cNvPr id="41" name="TextBox 41"/>
            <p:cNvSpPr txBox="1"/>
            <p:nvPr/>
          </p:nvSpPr>
          <p:spPr>
            <a:xfrm>
              <a:off x="9110662" y="3326606"/>
              <a:ext cx="388977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 Makes the engineering transformation explicit</a:t>
              </a:r>
            </a:p>
          </p:txBody>
        </p:sp>
        <p:sp>
          <p:nvSpPr>
            <p:cNvPr id="42" name="Freeform 42"/>
            <p:cNvSpPr/>
            <p:nvPr/>
          </p:nvSpPr>
          <p:spPr>
            <a:xfrm>
              <a:off x="9124950" y="4857750"/>
              <a:ext cx="2228850" cy="704850"/>
            </a:xfrm>
            <a:custGeom>
              <a:avLst/>
              <a:gdLst/>
              <a:ahLst/>
              <a:cxnLst/>
              <a:rect l="l" t="t" r="r" b="b"/>
              <a:pathLst>
                <a:path w="2228850" h="704850">
                  <a:moveTo>
                    <a:pt x="171450" y="0"/>
                  </a:moveTo>
                  <a:lnTo>
                    <a:pt x="2057400" y="0"/>
                  </a:lnTo>
                  <a:cubicBezTo>
                    <a:pt x="2152089" y="0"/>
                    <a:pt x="2228850" y="76761"/>
                    <a:pt x="2228850" y="171450"/>
                  </a:cubicBezTo>
                  <a:lnTo>
                    <a:pt x="2228850" y="533400"/>
                  </a:lnTo>
                  <a:cubicBezTo>
                    <a:pt x="2228850" y="628089"/>
                    <a:pt x="2152089" y="704850"/>
                    <a:pt x="2057400" y="704850"/>
                  </a:cubicBezTo>
                  <a:lnTo>
                    <a:pt x="171450" y="704850"/>
                  </a:lnTo>
                  <a:cubicBezTo>
                    <a:pt x="76761" y="704850"/>
                    <a:pt x="0" y="628089"/>
                    <a:pt x="0" y="533400"/>
                  </a:cubicBezTo>
                  <a:lnTo>
                    <a:pt x="0" y="171450"/>
                  </a:lnTo>
                  <a:cubicBezTo>
                    <a:pt x="0" y="76761"/>
                    <a:pt x="76761" y="0"/>
                    <a:pt x="171450" y="0"/>
                  </a:cubicBezTo>
                  <a:close/>
                </a:path>
              </a:pathLst>
            </a:custGeom>
            <a:solidFill>
              <a:srgbClr val="F8FAFC"/>
            </a:solidFill>
            <a:ln>
              <a:noFill/>
            </a:ln>
            <a:effectLst>
              <a:outerShdw blurRad="133350" dist="38100" dir="10799140" algn="tl" rotWithShape="0">
                <a:srgbClr val="0F172A">
                  <a:alpha val="10000"/>
                </a:srgbClr>
              </a:outerShdw>
            </a:effectLst>
          </p:spPr>
        </p:sp>
        <p:sp>
          <p:nvSpPr>
            <p:cNvPr id="43" name="TextBox 43"/>
            <p:cNvSpPr txBox="1"/>
            <p:nvPr/>
          </p:nvSpPr>
          <p:spPr>
            <a:xfrm>
              <a:off x="9376410" y="5013960"/>
              <a:ext cx="1843107" cy="24384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200" b="1" dirty="0">
                  <a:solidFill>
                    <a:srgbClr val="1A1A2E"/>
                  </a:solidFill>
                  <a:latin typeface="Arial"/>
                  <a:ea typeface="Microsoft YaHei"/>
                  <a:cs typeface="Arial"/>
                </a:rPr>
                <a:t>Positioning summary</a:t>
              </a:r>
            </a:p>
          </p:txBody>
        </p:sp>
        <p:sp>
          <p:nvSpPr>
            <p:cNvPr id="44" name="TextBox 44"/>
            <p:cNvSpPr txBox="1"/>
            <p:nvPr/>
          </p:nvSpPr>
          <p:spPr>
            <a:xfrm>
              <a:off x="9378315" y="5277802"/>
              <a:ext cx="4512231" cy="21336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050" dirty="0">
                  <a:solidFill>
                    <a:srgbClr val="64748B"/>
                  </a:solidFill>
                  <a:latin typeface="Arial"/>
                  <a:ea typeface="Microsoft YaHei"/>
                  <a:cs typeface="Arial"/>
                </a:rPr>
                <a:t>A bridge between design quality and object-level editability.</a:t>
              </a:r>
            </a:p>
          </p:txBody>
        </p:sp>
      </p:grpSp>
      <p:sp>
        <p:nvSpPr>
          <p:cNvPr id="46" name="TextBox 46"/>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03</a:t>
            </a:r>
          </a:p>
        </p:txBody>
      </p:sp>
    </p:spTree>
  </p:cSld>
  <p:clrMapOvr>
    <a:masterClrMapping/>
  </p:clrMapOvr>
  <p:transition 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D97757"/>
          </a:solidFill>
          <a:ln>
            <a:noFill/>
          </a:ln>
        </p:spPr>
      </p:sp>
      <p:sp>
        <p:nvSpPr>
          <p:cNvPr id="4" name="TextBox 4"/>
          <p:cNvSpPr txBox="1"/>
          <p:nvPr/>
        </p:nvSpPr>
        <p:spPr>
          <a:xfrm>
            <a:off x="559118" y="390049"/>
            <a:ext cx="921877" cy="198120"/>
          </a:xfrm>
          <a:prstGeom prst="rect">
            <a:avLst/>
          </a:prstGeom>
          <a:noFill/>
          <a:ln>
            <a:noFill/>
          </a:ln>
        </p:spPr>
        <p:txBody>
          <a:bodyPr wrap="none" lIns="0" tIns="0" rIns="0" bIns="0" anchor="t" anchorCtr="0">
            <a:spAutoFit/>
          </a:bodyPr>
          <a:lstStyle/>
          <a:p>
            <a:pPr algn="l"/>
            <a:r>
              <a:rPr lang="zh-CN" sz="975" b="1" dirty="0">
                <a:solidFill>
                  <a:srgbClr val="D97757"/>
                </a:solidFill>
                <a:latin typeface="Arial"/>
                <a:ea typeface="Microsoft YaHei"/>
                <a:cs typeface="Arial"/>
              </a:rPr>
              <a:t>VALUE FRAME</a:t>
            </a:r>
          </a:p>
        </p:txBody>
      </p:sp>
      <p:sp>
        <p:nvSpPr>
          <p:cNvPr id="5" name="TextBox 5"/>
          <p:cNvSpPr txBox="1"/>
          <p:nvPr/>
        </p:nvSpPr>
        <p:spPr>
          <a:xfrm>
            <a:off x="539115" y="543878"/>
            <a:ext cx="8785160" cy="518160"/>
          </a:xfrm>
          <a:prstGeom prst="rect">
            <a:avLst/>
          </a:prstGeom>
          <a:noFill/>
          <a:ln>
            <a:noFill/>
          </a:ln>
        </p:spPr>
        <p:txBody>
          <a:bodyPr wrap="none" lIns="0" tIns="0" rIns="0" bIns="0" anchor="t" anchorCtr="0">
            <a:spAutoFit/>
          </a:bodyPr>
          <a:lstStyle/>
          <a:p>
            <a:pPr algn="l"/>
            <a:r>
              <a:rPr lang="zh-CN" sz="2550" b="1" dirty="0">
                <a:solidFill>
                  <a:srgbClr val="1A1A2E"/>
                </a:solidFill>
                <a:latin typeface="Arial"/>
                <a:ea typeface="Microsoft YaHei"/>
                <a:cs typeface="Arial"/>
              </a:rPr>
              <a:t>The framework is optimized for usable output</a:t>
            </a:r>
          </a:p>
        </p:txBody>
      </p:sp>
      <p:sp>
        <p:nvSpPr>
          <p:cNvPr id="6" name="TextBox 6"/>
          <p:cNvSpPr txBox="1"/>
          <p:nvPr/>
        </p:nvSpPr>
        <p:spPr>
          <a:xfrm>
            <a:off x="556260" y="975360"/>
            <a:ext cx="7522845"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The docs repeat four durable themes: editability, cost clarity, privacy, and openness.</a:t>
            </a:r>
          </a:p>
        </p:txBody>
      </p:sp>
      <p:grpSp>
        <p:nvGrpSpPr>
          <p:cNvPr id="15" name="Group 15"/>
          <p:cNvGrpSpPr/>
          <p:nvPr/>
        </p:nvGrpSpPr>
        <p:grpSpPr>
          <a:xfrm>
            <a:off x="571500" y="1581150"/>
            <a:ext cx="7044309" cy="2038350"/>
            <a:chOff x="571500" y="1581150"/>
            <a:chExt cx="7044309" cy="2038350"/>
          </a:xfrm>
          <a:effectLst>
            <a:outerShdw blurRad="152400" dist="38100" dir="10799140" algn="tl" rotWithShape="0">
              <a:srgbClr val="0F172A">
                <a:alpha val="10000"/>
              </a:srgbClr>
            </a:outerShdw>
          </a:effectLst>
        </p:grpSpPr>
        <p:sp>
          <p:nvSpPr>
            <p:cNvPr id="7" name="Freeform 7"/>
            <p:cNvSpPr/>
            <p:nvPr/>
          </p:nvSpPr>
          <p:spPr>
            <a:xfrm>
              <a:off x="571500" y="1581150"/>
              <a:ext cx="5314950" cy="2038350"/>
            </a:xfrm>
            <a:custGeom>
              <a:avLst/>
              <a:gdLst/>
              <a:ahLst/>
              <a:cxnLst/>
              <a:rect l="l" t="t" r="r" b="b"/>
              <a:pathLst>
                <a:path w="5314950" h="2038350">
                  <a:moveTo>
                    <a:pt x="247650" y="0"/>
                  </a:moveTo>
                  <a:lnTo>
                    <a:pt x="5067300" y="0"/>
                  </a:lnTo>
                  <a:cubicBezTo>
                    <a:pt x="5204073" y="0"/>
                    <a:pt x="5314950" y="110877"/>
                    <a:pt x="5314950" y="247650"/>
                  </a:cubicBezTo>
                  <a:lnTo>
                    <a:pt x="5314950" y="1790700"/>
                  </a:lnTo>
                  <a:cubicBezTo>
                    <a:pt x="5314950" y="1927473"/>
                    <a:pt x="5204073" y="2038350"/>
                    <a:pt x="5067300" y="2038350"/>
                  </a:cubicBezTo>
                  <a:lnTo>
                    <a:pt x="247650" y="2038350"/>
                  </a:lnTo>
                  <a:cubicBezTo>
                    <a:pt x="110877" y="2038350"/>
                    <a:pt x="0" y="1927473"/>
                    <a:pt x="0" y="1790700"/>
                  </a:cubicBezTo>
                  <a:lnTo>
                    <a:pt x="0" y="247650"/>
                  </a:lnTo>
                  <a:cubicBezTo>
                    <a:pt x="0" y="110877"/>
                    <a:pt x="110877" y="0"/>
                    <a:pt x="247650" y="0"/>
                  </a:cubicBezTo>
                  <a:close/>
                </a:path>
              </a:pathLst>
            </a:custGeom>
            <a:solidFill>
              <a:srgbClr val="F8FAFC"/>
            </a:solidFill>
            <a:ln>
              <a:noFill/>
            </a:ln>
            <a:effectLst>
              <a:outerShdw blurRad="152400" dist="38100" dir="10799140" algn="tl" rotWithShape="0">
                <a:srgbClr val="0F172A">
                  <a:alpha val="10000"/>
                </a:srgbClr>
              </a:outerShdw>
            </a:effectLst>
          </p:spPr>
        </p:sp>
        <p:grpSp>
          <p:nvGrpSpPr>
            <p:cNvPr id="11" name="Group 11"/>
            <p:cNvGrpSpPr/>
            <p:nvPr/>
          </p:nvGrpSpPr>
          <p:grpSpPr>
            <a:xfrm>
              <a:off x="939403" y="1943100"/>
              <a:ext cx="350044" cy="400050"/>
              <a:chOff x="939403" y="1943100"/>
              <a:chExt cx="350044" cy="400050"/>
            </a:xfrm>
          </p:grpSpPr>
          <p:sp>
            <p:nvSpPr>
              <p:cNvPr id="8" name="Freeform 8"/>
              <p:cNvSpPr/>
              <p:nvPr/>
            </p:nvSpPr>
            <p:spPr>
              <a:xfrm>
                <a:off x="939403" y="1943100"/>
                <a:ext cx="350044" cy="200025"/>
              </a:xfrm>
              <a:custGeom>
                <a:avLst/>
                <a:gdLst/>
                <a:ahLst/>
                <a:cxnLst/>
                <a:rect l="l" t="t" r="r" b="b"/>
                <a:pathLst>
                  <a:path w="350044" h="200025">
                    <a:moveTo>
                      <a:pt x="0" y="125016"/>
                    </a:moveTo>
                    <a:lnTo>
                      <a:pt x="0" y="75009"/>
                    </a:lnTo>
                    <a:lnTo>
                      <a:pt x="175022" y="0"/>
                    </a:lnTo>
                    <a:lnTo>
                      <a:pt x="350044" y="75009"/>
                    </a:lnTo>
                    <a:lnTo>
                      <a:pt x="350044" y="125016"/>
                    </a:lnTo>
                    <a:lnTo>
                      <a:pt x="175022" y="200025"/>
                    </a:lnTo>
                    <a:lnTo>
                      <a:pt x="0" y="125016"/>
                    </a:lnTo>
                    <a:close/>
                  </a:path>
                </a:pathLst>
              </a:custGeom>
              <a:solidFill>
                <a:srgbClr val="D97757"/>
              </a:solidFill>
              <a:ln>
                <a:noFill/>
              </a:ln>
              <a:effectLst>
                <a:outerShdw blurRad="152400" dist="38100" dir="10799140" algn="tl" rotWithShape="0">
                  <a:srgbClr val="0F172A">
                    <a:alpha val="10000"/>
                  </a:srgbClr>
                </a:outerShdw>
              </a:effectLst>
            </p:spPr>
          </p:sp>
          <p:sp>
            <p:nvSpPr>
              <p:cNvPr id="9" name="Freeform 9"/>
              <p:cNvSpPr/>
              <p:nvPr/>
            </p:nvSpPr>
            <p:spPr>
              <a:xfrm>
                <a:off x="939403" y="2218134"/>
                <a:ext cx="350044" cy="125016"/>
              </a:xfrm>
              <a:custGeom>
                <a:avLst/>
                <a:gdLst/>
                <a:ahLst/>
                <a:cxnLst/>
                <a:rect l="l" t="t" r="r" b="b"/>
                <a:pathLst>
                  <a:path w="350044" h="125016">
                    <a:moveTo>
                      <a:pt x="175022" y="125016"/>
                    </a:moveTo>
                    <a:lnTo>
                      <a:pt x="0" y="50006"/>
                    </a:lnTo>
                    <a:lnTo>
                      <a:pt x="0" y="0"/>
                    </a:lnTo>
                    <a:lnTo>
                      <a:pt x="175022" y="75009"/>
                    </a:lnTo>
                    <a:lnTo>
                      <a:pt x="350044" y="0"/>
                    </a:lnTo>
                    <a:lnTo>
                      <a:pt x="350044" y="50006"/>
                    </a:lnTo>
                    <a:lnTo>
                      <a:pt x="175022" y="125016"/>
                    </a:lnTo>
                    <a:close/>
                  </a:path>
                </a:pathLst>
              </a:custGeom>
              <a:solidFill>
                <a:srgbClr val="D97757"/>
              </a:solidFill>
              <a:ln>
                <a:noFill/>
              </a:ln>
              <a:effectLst>
                <a:outerShdw blurRad="152400" dist="38100" dir="10799140" algn="tl" rotWithShape="0">
                  <a:srgbClr val="0F172A">
                    <a:alpha val="10000"/>
                  </a:srgbClr>
                </a:outerShdw>
              </a:effectLst>
            </p:spPr>
          </p:sp>
          <p:sp>
            <p:nvSpPr>
              <p:cNvPr id="10" name="Freeform 10"/>
              <p:cNvSpPr/>
              <p:nvPr/>
            </p:nvSpPr>
            <p:spPr>
              <a:xfrm>
                <a:off x="939403" y="2118122"/>
                <a:ext cx="350044" cy="125016"/>
              </a:xfrm>
              <a:custGeom>
                <a:avLst/>
                <a:gdLst/>
                <a:ahLst/>
                <a:cxnLst/>
                <a:rect l="l" t="t" r="r" b="b"/>
                <a:pathLst>
                  <a:path w="350044" h="125016">
                    <a:moveTo>
                      <a:pt x="0" y="50006"/>
                    </a:moveTo>
                    <a:lnTo>
                      <a:pt x="175022" y="125016"/>
                    </a:lnTo>
                    <a:lnTo>
                      <a:pt x="350044" y="50006"/>
                    </a:lnTo>
                    <a:lnTo>
                      <a:pt x="350044" y="0"/>
                    </a:lnTo>
                    <a:lnTo>
                      <a:pt x="175022" y="75009"/>
                    </a:lnTo>
                    <a:lnTo>
                      <a:pt x="0" y="0"/>
                    </a:lnTo>
                    <a:lnTo>
                      <a:pt x="0" y="50006"/>
                    </a:lnTo>
                    <a:close/>
                  </a:path>
                </a:pathLst>
              </a:custGeom>
              <a:solidFill>
                <a:srgbClr val="D97757"/>
              </a:solidFill>
              <a:ln>
                <a:noFill/>
              </a:ln>
              <a:effectLst>
                <a:outerShdw blurRad="152400" dist="38100" dir="10799140" algn="tl" rotWithShape="0">
                  <a:srgbClr val="0F172A">
                    <a:alpha val="10000"/>
                  </a:srgbClr>
                </a:outerShdw>
              </a:effectLst>
            </p:spPr>
          </p:sp>
        </p:grpSp>
        <p:sp>
          <p:nvSpPr>
            <p:cNvPr id="12" name="TextBox 12"/>
            <p:cNvSpPr txBox="1"/>
            <p:nvPr/>
          </p:nvSpPr>
          <p:spPr>
            <a:xfrm>
              <a:off x="1443990" y="2015490"/>
              <a:ext cx="3164910"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800" b="1" dirty="0">
                  <a:solidFill>
                    <a:srgbClr val="1A1A2E"/>
                  </a:solidFill>
                  <a:latin typeface="Arial"/>
                  <a:ea typeface="Microsoft YaHei"/>
                  <a:cs typeface="Arial"/>
                </a:rPr>
                <a:t>Real PowerPoint output</a:t>
              </a:r>
            </a:p>
          </p:txBody>
        </p:sp>
        <p:sp>
          <p:nvSpPr>
            <p:cNvPr id="13" name="TextBox 13"/>
            <p:cNvSpPr txBox="1"/>
            <p:nvPr/>
          </p:nvSpPr>
          <p:spPr>
            <a:xfrm>
              <a:off x="899160" y="2594610"/>
              <a:ext cx="6716649"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The native deck is intended for editing and delivery, while the SVG backup deck</a:t>
              </a:r>
            </a:p>
          </p:txBody>
        </p:sp>
        <p:sp>
          <p:nvSpPr>
            <p:cNvPr id="14" name="TextBox 14"/>
            <p:cNvSpPr txBox="1"/>
            <p:nvPr/>
          </p:nvSpPr>
          <p:spPr>
            <a:xfrm>
              <a:off x="899160" y="2823210"/>
              <a:ext cx="3053715"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acts as a visual reference version.</a:t>
              </a:r>
            </a:p>
          </p:txBody>
        </p:sp>
      </p:grpSp>
      <p:grpSp>
        <p:nvGrpSpPr>
          <p:cNvPr id="21" name="Group 21"/>
          <p:cNvGrpSpPr/>
          <p:nvPr/>
        </p:nvGrpSpPr>
        <p:grpSpPr>
          <a:xfrm>
            <a:off x="6305550" y="1581150"/>
            <a:ext cx="7000494" cy="2038350"/>
            <a:chOff x="6305550" y="1581150"/>
            <a:chExt cx="7000494" cy="2038350"/>
          </a:xfrm>
          <a:effectLst>
            <a:outerShdw blurRad="152400" dist="38100" dir="10799140" algn="tl" rotWithShape="0">
              <a:srgbClr val="0F172A">
                <a:alpha val="10000"/>
              </a:srgbClr>
            </a:outerShdw>
          </a:effectLst>
        </p:grpSpPr>
        <p:sp>
          <p:nvSpPr>
            <p:cNvPr id="16" name="Freeform 16"/>
            <p:cNvSpPr/>
            <p:nvPr/>
          </p:nvSpPr>
          <p:spPr>
            <a:xfrm>
              <a:off x="6305550" y="1581150"/>
              <a:ext cx="5314950" cy="2038350"/>
            </a:xfrm>
            <a:custGeom>
              <a:avLst/>
              <a:gdLst/>
              <a:ahLst/>
              <a:cxnLst/>
              <a:rect l="l" t="t" r="r" b="b"/>
              <a:pathLst>
                <a:path w="5314950" h="2038350">
                  <a:moveTo>
                    <a:pt x="247650" y="0"/>
                  </a:moveTo>
                  <a:lnTo>
                    <a:pt x="5067300" y="0"/>
                  </a:lnTo>
                  <a:cubicBezTo>
                    <a:pt x="5204073" y="0"/>
                    <a:pt x="5314950" y="110877"/>
                    <a:pt x="5314950" y="247650"/>
                  </a:cubicBezTo>
                  <a:lnTo>
                    <a:pt x="5314950" y="1790700"/>
                  </a:lnTo>
                  <a:cubicBezTo>
                    <a:pt x="5314950" y="1927473"/>
                    <a:pt x="5204073" y="2038350"/>
                    <a:pt x="5067300" y="2038350"/>
                  </a:cubicBezTo>
                  <a:lnTo>
                    <a:pt x="247650" y="2038350"/>
                  </a:lnTo>
                  <a:cubicBezTo>
                    <a:pt x="110877" y="2038350"/>
                    <a:pt x="0" y="1927473"/>
                    <a:pt x="0" y="1790700"/>
                  </a:cubicBezTo>
                  <a:lnTo>
                    <a:pt x="0" y="247650"/>
                  </a:lnTo>
                  <a:cubicBezTo>
                    <a:pt x="0" y="110877"/>
                    <a:pt x="110877" y="0"/>
                    <a:pt x="24765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17" name="Freeform 17"/>
            <p:cNvSpPr/>
            <p:nvPr/>
          </p:nvSpPr>
          <p:spPr>
            <a:xfrm>
              <a:off x="6698456" y="1943100"/>
              <a:ext cx="300038" cy="400050"/>
            </a:xfrm>
            <a:custGeom>
              <a:avLst/>
              <a:gdLst/>
              <a:ahLst/>
              <a:cxnLst/>
              <a:rect l="l" t="t" r="r" b="b"/>
              <a:pathLst>
                <a:path w="300038" h="400050">
                  <a:moveTo>
                    <a:pt x="105415" y="375047"/>
                  </a:moveTo>
                  <a:lnTo>
                    <a:pt x="102637" y="400050"/>
                  </a:lnTo>
                  <a:lnTo>
                    <a:pt x="152951" y="400050"/>
                  </a:lnTo>
                  <a:lnTo>
                    <a:pt x="155729" y="375047"/>
                  </a:lnTo>
                  <a:lnTo>
                    <a:pt x="200100" y="375047"/>
                  </a:lnTo>
                  <a:cubicBezTo>
                    <a:pt x="255294" y="375047"/>
                    <a:pt x="300038" y="330304"/>
                    <a:pt x="300038" y="275109"/>
                  </a:cubicBezTo>
                  <a:cubicBezTo>
                    <a:pt x="300038" y="228269"/>
                    <a:pt x="267506" y="187713"/>
                    <a:pt x="221780" y="177552"/>
                  </a:cubicBezTo>
                  <a:lnTo>
                    <a:pt x="178735" y="167987"/>
                  </a:lnTo>
                  <a:lnTo>
                    <a:pt x="186288" y="100012"/>
                  </a:lnTo>
                  <a:lnTo>
                    <a:pt x="275034" y="100012"/>
                  </a:lnTo>
                  <a:lnTo>
                    <a:pt x="275034" y="25003"/>
                  </a:lnTo>
                  <a:lnTo>
                    <a:pt x="194623" y="25003"/>
                  </a:lnTo>
                  <a:lnTo>
                    <a:pt x="197401" y="0"/>
                  </a:lnTo>
                  <a:lnTo>
                    <a:pt x="147087" y="0"/>
                  </a:lnTo>
                  <a:lnTo>
                    <a:pt x="144309" y="25003"/>
                  </a:lnTo>
                  <a:lnTo>
                    <a:pt x="99937" y="25003"/>
                  </a:lnTo>
                  <a:cubicBezTo>
                    <a:pt x="44743" y="25003"/>
                    <a:pt x="0" y="69746"/>
                    <a:pt x="0" y="124940"/>
                  </a:cubicBezTo>
                  <a:cubicBezTo>
                    <a:pt x="0" y="171781"/>
                    <a:pt x="32533" y="212337"/>
                    <a:pt x="78258" y="222498"/>
                  </a:cubicBezTo>
                  <a:lnTo>
                    <a:pt x="121302" y="232063"/>
                  </a:lnTo>
                  <a:lnTo>
                    <a:pt x="113749" y="300038"/>
                  </a:lnTo>
                  <a:lnTo>
                    <a:pt x="25003" y="300038"/>
                  </a:lnTo>
                  <a:lnTo>
                    <a:pt x="25003" y="375047"/>
                  </a:lnTo>
                  <a:lnTo>
                    <a:pt x="105415" y="375047"/>
                  </a:lnTo>
                  <a:close/>
                  <a:moveTo>
                    <a:pt x="164063" y="300038"/>
                  </a:moveTo>
                  <a:lnTo>
                    <a:pt x="200100" y="300038"/>
                  </a:lnTo>
                  <a:cubicBezTo>
                    <a:pt x="213867" y="300038"/>
                    <a:pt x="225028" y="288876"/>
                    <a:pt x="225028" y="275109"/>
                  </a:cubicBezTo>
                  <a:cubicBezTo>
                    <a:pt x="225028" y="263425"/>
                    <a:pt x="216912" y="253309"/>
                    <a:pt x="205508" y="250776"/>
                  </a:cubicBezTo>
                  <a:lnTo>
                    <a:pt x="170403" y="242974"/>
                  </a:lnTo>
                  <a:lnTo>
                    <a:pt x="164063" y="300038"/>
                  </a:lnTo>
                  <a:close/>
                  <a:moveTo>
                    <a:pt x="129634" y="157075"/>
                  </a:moveTo>
                  <a:lnTo>
                    <a:pt x="135974" y="100012"/>
                  </a:lnTo>
                  <a:lnTo>
                    <a:pt x="99937" y="100012"/>
                  </a:lnTo>
                  <a:cubicBezTo>
                    <a:pt x="86170" y="100012"/>
                    <a:pt x="75009" y="111173"/>
                    <a:pt x="75009" y="124940"/>
                  </a:cubicBezTo>
                  <a:cubicBezTo>
                    <a:pt x="75009" y="136624"/>
                    <a:pt x="83124" y="146740"/>
                    <a:pt x="94530" y="149274"/>
                  </a:cubicBezTo>
                  <a:lnTo>
                    <a:pt x="129634" y="157075"/>
                  </a:lnTo>
                  <a:close/>
                </a:path>
              </a:pathLst>
            </a:custGeom>
            <a:solidFill>
              <a:srgbClr val="4A90D9"/>
            </a:solidFill>
            <a:ln>
              <a:noFill/>
            </a:ln>
            <a:effectLst>
              <a:outerShdw blurRad="152400" dist="38100" dir="10799140" algn="tl" rotWithShape="0">
                <a:srgbClr val="0F172A">
                  <a:alpha val="10000"/>
                </a:srgbClr>
              </a:outerShdw>
            </a:effectLst>
          </p:spPr>
        </p:sp>
        <p:sp>
          <p:nvSpPr>
            <p:cNvPr id="18" name="TextBox 18"/>
            <p:cNvSpPr txBox="1"/>
            <p:nvPr/>
          </p:nvSpPr>
          <p:spPr>
            <a:xfrm>
              <a:off x="7178040" y="2015490"/>
              <a:ext cx="3275324"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800" b="1" dirty="0">
                  <a:solidFill>
                    <a:srgbClr val="1A1A2E"/>
                  </a:solidFill>
                  <a:latin typeface="Arial"/>
                  <a:ea typeface="Microsoft YaHei"/>
                  <a:cs typeface="Arial"/>
                </a:rPr>
                <a:t>Predictable cost profile</a:t>
              </a:r>
            </a:p>
          </p:txBody>
        </p:sp>
        <p:sp>
          <p:nvSpPr>
            <p:cNvPr id="19" name="TextBox 19"/>
            <p:cNvSpPr txBox="1"/>
            <p:nvPr/>
          </p:nvSpPr>
          <p:spPr>
            <a:xfrm>
              <a:off x="6633210" y="2594610"/>
              <a:ext cx="6672834"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The tool itself is open source; the main variable cost is the AI editor or model</a:t>
              </a:r>
            </a:p>
          </p:txBody>
        </p:sp>
        <p:sp>
          <p:nvSpPr>
            <p:cNvPr id="20" name="TextBox 20"/>
            <p:cNvSpPr txBox="1"/>
            <p:nvPr/>
          </p:nvSpPr>
          <p:spPr>
            <a:xfrm>
              <a:off x="6633210" y="2823210"/>
              <a:ext cx="2317623"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you already choose to use.</a:t>
              </a:r>
            </a:p>
          </p:txBody>
        </p:sp>
      </p:grpSp>
      <p:grpSp>
        <p:nvGrpSpPr>
          <p:cNvPr id="27" name="Group 27"/>
          <p:cNvGrpSpPr/>
          <p:nvPr/>
        </p:nvGrpSpPr>
        <p:grpSpPr>
          <a:xfrm>
            <a:off x="571500" y="3905250"/>
            <a:ext cx="7543800" cy="2038350"/>
            <a:chOff x="571500" y="3905250"/>
            <a:chExt cx="7543800" cy="2038350"/>
          </a:xfrm>
          <a:effectLst>
            <a:outerShdw blurRad="152400" dist="38100" dir="10799140" algn="tl" rotWithShape="0">
              <a:srgbClr val="0F172A">
                <a:alpha val="10000"/>
              </a:srgbClr>
            </a:outerShdw>
          </a:effectLst>
        </p:grpSpPr>
        <p:sp>
          <p:nvSpPr>
            <p:cNvPr id="22" name="Freeform 22"/>
            <p:cNvSpPr/>
            <p:nvPr/>
          </p:nvSpPr>
          <p:spPr>
            <a:xfrm>
              <a:off x="571500" y="3905250"/>
              <a:ext cx="5314950" cy="2038350"/>
            </a:xfrm>
            <a:custGeom>
              <a:avLst/>
              <a:gdLst/>
              <a:ahLst/>
              <a:cxnLst/>
              <a:rect l="l" t="t" r="r" b="b"/>
              <a:pathLst>
                <a:path w="5314950" h="2038350">
                  <a:moveTo>
                    <a:pt x="247650" y="0"/>
                  </a:moveTo>
                  <a:lnTo>
                    <a:pt x="5067300" y="0"/>
                  </a:lnTo>
                  <a:cubicBezTo>
                    <a:pt x="5204073" y="0"/>
                    <a:pt x="5314950" y="110877"/>
                    <a:pt x="5314950" y="247650"/>
                  </a:cubicBezTo>
                  <a:lnTo>
                    <a:pt x="5314950" y="1790700"/>
                  </a:lnTo>
                  <a:cubicBezTo>
                    <a:pt x="5314950" y="1927473"/>
                    <a:pt x="5204073" y="2038350"/>
                    <a:pt x="5067300" y="2038350"/>
                  </a:cubicBezTo>
                  <a:lnTo>
                    <a:pt x="247650" y="2038350"/>
                  </a:lnTo>
                  <a:cubicBezTo>
                    <a:pt x="110877" y="2038350"/>
                    <a:pt x="0" y="1927473"/>
                    <a:pt x="0" y="1790700"/>
                  </a:cubicBezTo>
                  <a:lnTo>
                    <a:pt x="0" y="247650"/>
                  </a:lnTo>
                  <a:cubicBezTo>
                    <a:pt x="0" y="110877"/>
                    <a:pt x="110877" y="0"/>
                    <a:pt x="24765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23" name="Freeform 23"/>
            <p:cNvSpPr/>
            <p:nvPr/>
          </p:nvSpPr>
          <p:spPr>
            <a:xfrm>
              <a:off x="939403" y="4267200"/>
              <a:ext cx="350044" cy="400050"/>
            </a:xfrm>
            <a:custGeom>
              <a:avLst/>
              <a:gdLst/>
              <a:ahLst/>
              <a:cxnLst/>
              <a:rect l="l" t="t" r="r" b="b"/>
              <a:pathLst>
                <a:path w="350044" h="400050">
                  <a:moveTo>
                    <a:pt x="175022" y="400050"/>
                  </a:moveTo>
                  <a:lnTo>
                    <a:pt x="83763" y="334864"/>
                  </a:lnTo>
                  <a:cubicBezTo>
                    <a:pt x="31197" y="297317"/>
                    <a:pt x="0" y="236696"/>
                    <a:pt x="0" y="172098"/>
                  </a:cubicBezTo>
                  <a:lnTo>
                    <a:pt x="0" y="75009"/>
                  </a:lnTo>
                  <a:lnTo>
                    <a:pt x="175022" y="0"/>
                  </a:lnTo>
                  <a:lnTo>
                    <a:pt x="350044" y="75009"/>
                  </a:lnTo>
                  <a:lnTo>
                    <a:pt x="350044" y="172098"/>
                  </a:lnTo>
                  <a:cubicBezTo>
                    <a:pt x="350044" y="236696"/>
                    <a:pt x="318847" y="297317"/>
                    <a:pt x="266281" y="334864"/>
                  </a:cubicBezTo>
                  <a:lnTo>
                    <a:pt x="175022" y="400050"/>
                  </a:lnTo>
                  <a:close/>
                  <a:moveTo>
                    <a:pt x="280213" y="142696"/>
                  </a:moveTo>
                  <a:lnTo>
                    <a:pt x="244853" y="107336"/>
                  </a:lnTo>
                  <a:lnTo>
                    <a:pt x="150019" y="202170"/>
                  </a:lnTo>
                  <a:lnTo>
                    <a:pt x="105191" y="157342"/>
                  </a:lnTo>
                  <a:lnTo>
                    <a:pt x="69831" y="192702"/>
                  </a:lnTo>
                  <a:lnTo>
                    <a:pt x="150019" y="272889"/>
                  </a:lnTo>
                  <a:lnTo>
                    <a:pt x="280213" y="142696"/>
                  </a:lnTo>
                  <a:close/>
                </a:path>
              </a:pathLst>
            </a:custGeom>
            <a:solidFill>
              <a:srgbClr val="10B981"/>
            </a:solidFill>
            <a:ln>
              <a:noFill/>
            </a:ln>
            <a:effectLst>
              <a:outerShdw blurRad="152400" dist="38100" dir="10799140" algn="tl" rotWithShape="0">
                <a:srgbClr val="0F172A">
                  <a:alpha val="10000"/>
                </a:srgbClr>
              </a:outerShdw>
            </a:effectLst>
          </p:spPr>
        </p:sp>
        <p:sp>
          <p:nvSpPr>
            <p:cNvPr id="24" name="TextBox 24"/>
            <p:cNvSpPr txBox="1"/>
            <p:nvPr/>
          </p:nvSpPr>
          <p:spPr>
            <a:xfrm>
              <a:off x="1443990" y="4339590"/>
              <a:ext cx="3427143"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800" b="1" dirty="0">
                  <a:solidFill>
                    <a:srgbClr val="1A1A2E"/>
                  </a:solidFill>
                  <a:latin typeface="Arial"/>
                  <a:ea typeface="Microsoft YaHei"/>
                  <a:cs typeface="Arial"/>
                </a:rPr>
                <a:t>Local-first data handling</a:t>
              </a:r>
            </a:p>
          </p:txBody>
        </p:sp>
        <p:sp>
          <p:nvSpPr>
            <p:cNvPr id="25" name="TextBox 25"/>
            <p:cNvSpPr txBox="1"/>
            <p:nvPr/>
          </p:nvSpPr>
          <p:spPr>
            <a:xfrm>
              <a:off x="899160" y="4918710"/>
              <a:ext cx="7216140"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Source conversion, SVG authoring, and PPTX export are kept on the user's machine.</a:t>
              </a:r>
            </a:p>
          </p:txBody>
        </p:sp>
        <p:sp>
          <p:nvSpPr>
            <p:cNvPr id="26" name="TextBox 26"/>
            <p:cNvSpPr txBox="1"/>
            <p:nvPr/>
          </p:nvSpPr>
          <p:spPr>
            <a:xfrm>
              <a:off x="899160" y="5147310"/>
              <a:ext cx="5516118"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That matters for finance, government, and private workflows.</a:t>
              </a:r>
            </a:p>
          </p:txBody>
        </p:sp>
      </p:grpSp>
      <p:grpSp>
        <p:nvGrpSpPr>
          <p:cNvPr id="33" name="Group 33"/>
          <p:cNvGrpSpPr/>
          <p:nvPr/>
        </p:nvGrpSpPr>
        <p:grpSpPr>
          <a:xfrm>
            <a:off x="6305550" y="3905250"/>
            <a:ext cx="6842760" cy="2038350"/>
            <a:chOff x="6305550" y="3905250"/>
            <a:chExt cx="6842760" cy="2038350"/>
          </a:xfrm>
          <a:effectLst>
            <a:outerShdw blurRad="152400" dist="38100" dir="10799140" algn="tl" rotWithShape="0">
              <a:srgbClr val="0F172A">
                <a:alpha val="10000"/>
              </a:srgbClr>
            </a:outerShdw>
          </a:effectLst>
        </p:grpSpPr>
        <p:sp>
          <p:nvSpPr>
            <p:cNvPr id="28" name="Freeform 28"/>
            <p:cNvSpPr/>
            <p:nvPr/>
          </p:nvSpPr>
          <p:spPr>
            <a:xfrm>
              <a:off x="6305550" y="3905250"/>
              <a:ext cx="5314950" cy="2038350"/>
            </a:xfrm>
            <a:custGeom>
              <a:avLst/>
              <a:gdLst/>
              <a:ahLst/>
              <a:cxnLst/>
              <a:rect l="l" t="t" r="r" b="b"/>
              <a:pathLst>
                <a:path w="5314950" h="2038350">
                  <a:moveTo>
                    <a:pt x="247650" y="0"/>
                  </a:moveTo>
                  <a:lnTo>
                    <a:pt x="5067300" y="0"/>
                  </a:lnTo>
                  <a:cubicBezTo>
                    <a:pt x="5204073" y="0"/>
                    <a:pt x="5314950" y="110877"/>
                    <a:pt x="5314950" y="247650"/>
                  </a:cubicBezTo>
                  <a:lnTo>
                    <a:pt x="5314950" y="1790700"/>
                  </a:lnTo>
                  <a:cubicBezTo>
                    <a:pt x="5314950" y="1927473"/>
                    <a:pt x="5204073" y="2038350"/>
                    <a:pt x="5067300" y="2038350"/>
                  </a:cubicBezTo>
                  <a:lnTo>
                    <a:pt x="247650" y="2038350"/>
                  </a:lnTo>
                  <a:cubicBezTo>
                    <a:pt x="110877" y="2038350"/>
                    <a:pt x="0" y="1927473"/>
                    <a:pt x="0" y="1790700"/>
                  </a:cubicBezTo>
                  <a:lnTo>
                    <a:pt x="0" y="247650"/>
                  </a:lnTo>
                  <a:cubicBezTo>
                    <a:pt x="0" y="110877"/>
                    <a:pt x="110877" y="0"/>
                    <a:pt x="24765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29" name="Freeform 29"/>
            <p:cNvSpPr/>
            <p:nvPr/>
          </p:nvSpPr>
          <p:spPr>
            <a:xfrm>
              <a:off x="6673453" y="4267200"/>
              <a:ext cx="350044" cy="400050"/>
            </a:xfrm>
            <a:custGeom>
              <a:avLst/>
              <a:gdLst/>
              <a:ahLst/>
              <a:cxnLst/>
              <a:rect l="l" t="t" r="r" b="b"/>
              <a:pathLst>
                <a:path w="350044" h="400050">
                  <a:moveTo>
                    <a:pt x="125016" y="0"/>
                  </a:moveTo>
                  <a:lnTo>
                    <a:pt x="125016" y="100012"/>
                  </a:lnTo>
                  <a:lnTo>
                    <a:pt x="225028" y="100012"/>
                  </a:lnTo>
                  <a:lnTo>
                    <a:pt x="225028" y="0"/>
                  </a:lnTo>
                  <a:lnTo>
                    <a:pt x="275034" y="0"/>
                  </a:lnTo>
                  <a:lnTo>
                    <a:pt x="275034" y="100012"/>
                  </a:lnTo>
                  <a:lnTo>
                    <a:pt x="350044" y="100012"/>
                  </a:lnTo>
                  <a:lnTo>
                    <a:pt x="350044" y="150019"/>
                  </a:lnTo>
                  <a:lnTo>
                    <a:pt x="300038" y="150019"/>
                  </a:lnTo>
                  <a:lnTo>
                    <a:pt x="300038" y="200025"/>
                  </a:lnTo>
                  <a:cubicBezTo>
                    <a:pt x="300038" y="260508"/>
                    <a:pt x="257087" y="310956"/>
                    <a:pt x="200025" y="322540"/>
                  </a:cubicBezTo>
                  <a:lnTo>
                    <a:pt x="200025" y="400050"/>
                  </a:lnTo>
                  <a:lnTo>
                    <a:pt x="150019" y="400050"/>
                  </a:lnTo>
                  <a:lnTo>
                    <a:pt x="150019" y="322540"/>
                  </a:lnTo>
                  <a:cubicBezTo>
                    <a:pt x="92956" y="310956"/>
                    <a:pt x="50006" y="260508"/>
                    <a:pt x="50006" y="200025"/>
                  </a:cubicBezTo>
                  <a:lnTo>
                    <a:pt x="50006" y="150019"/>
                  </a:lnTo>
                  <a:lnTo>
                    <a:pt x="0" y="150019"/>
                  </a:lnTo>
                  <a:lnTo>
                    <a:pt x="0" y="100012"/>
                  </a:lnTo>
                  <a:lnTo>
                    <a:pt x="75009" y="100012"/>
                  </a:lnTo>
                  <a:lnTo>
                    <a:pt x="75009" y="0"/>
                  </a:lnTo>
                  <a:lnTo>
                    <a:pt x="125016" y="0"/>
                  </a:lnTo>
                  <a:close/>
                </a:path>
              </a:pathLst>
            </a:custGeom>
            <a:solidFill>
              <a:srgbClr val="10B981"/>
            </a:solidFill>
            <a:ln>
              <a:noFill/>
            </a:ln>
            <a:effectLst>
              <a:outerShdw blurRad="152400" dist="38100" dir="10799140" algn="tl" rotWithShape="0">
                <a:srgbClr val="0F172A">
                  <a:alpha val="10000"/>
                </a:srgbClr>
              </a:outerShdw>
            </a:effectLst>
          </p:spPr>
        </p:sp>
        <p:sp>
          <p:nvSpPr>
            <p:cNvPr id="30" name="TextBox 30"/>
            <p:cNvSpPr txBox="1"/>
            <p:nvPr/>
          </p:nvSpPr>
          <p:spPr>
            <a:xfrm>
              <a:off x="7178040" y="4339590"/>
              <a:ext cx="4186237"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800" b="1" dirty="0">
                  <a:solidFill>
                    <a:srgbClr val="1A1A2E"/>
                  </a:solidFill>
                  <a:latin typeface="Arial"/>
                  <a:ea typeface="Microsoft YaHei"/>
                  <a:cs typeface="Arial"/>
                </a:rPr>
                <a:t>No lock-in on editors or models</a:t>
              </a:r>
            </a:p>
          </p:txBody>
        </p:sp>
        <p:sp>
          <p:nvSpPr>
            <p:cNvPr id="31" name="TextBox 31"/>
            <p:cNvSpPr txBox="1"/>
            <p:nvPr/>
          </p:nvSpPr>
          <p:spPr>
            <a:xfrm>
              <a:off x="6633210" y="4918710"/>
              <a:ext cx="6515100"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The project is presented as a framework that can work with multiple AI IDEs</a:t>
              </a:r>
            </a:p>
          </p:txBody>
        </p:sp>
        <p:sp>
          <p:nvSpPr>
            <p:cNvPr id="32" name="TextBox 32"/>
            <p:cNvSpPr txBox="1"/>
            <p:nvPr/>
          </p:nvSpPr>
          <p:spPr>
            <a:xfrm>
              <a:off x="6633210" y="5147310"/>
              <a:ext cx="2396490"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and multiple model families.</a:t>
              </a:r>
            </a:p>
          </p:txBody>
        </p:sp>
      </p:grpSp>
      <p:sp>
        <p:nvSpPr>
          <p:cNvPr id="34" name="TextBox 34"/>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04</a:t>
            </a:r>
          </a:p>
        </p:txBody>
      </p:sp>
    </p:spTree>
  </p:cSld>
  <p:clrMapOvr>
    <a:masterClrMapping/>
  </p:clrMapOvr>
  <p:transition 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D97757"/>
          </a:solidFill>
          <a:ln>
            <a:noFill/>
          </a:ln>
        </p:spPr>
      </p:sp>
      <p:sp>
        <p:nvSpPr>
          <p:cNvPr id="4" name="TextBox 4"/>
          <p:cNvSpPr txBox="1"/>
          <p:nvPr/>
        </p:nvSpPr>
        <p:spPr>
          <a:xfrm>
            <a:off x="559118" y="390049"/>
            <a:ext cx="996636" cy="198120"/>
          </a:xfrm>
          <a:prstGeom prst="rect">
            <a:avLst/>
          </a:prstGeom>
          <a:noFill/>
          <a:ln>
            <a:noFill/>
          </a:ln>
        </p:spPr>
        <p:txBody>
          <a:bodyPr wrap="none" lIns="0" tIns="0" rIns="0" bIns="0" anchor="t" anchorCtr="0">
            <a:spAutoFit/>
          </a:bodyPr>
          <a:lstStyle/>
          <a:p>
            <a:pPr algn="l"/>
            <a:r>
              <a:rPr lang="zh-CN" sz="975" b="1" dirty="0">
                <a:solidFill>
                  <a:srgbClr val="D97757"/>
                </a:solidFill>
                <a:latin typeface="Arial"/>
                <a:ea typeface="Microsoft YaHei"/>
                <a:cs typeface="Arial"/>
              </a:rPr>
              <a:t>SYSTEM LOGIC</a:t>
            </a:r>
          </a:p>
        </p:txBody>
      </p:sp>
      <p:sp>
        <p:nvSpPr>
          <p:cNvPr id="5" name="TextBox 5"/>
          <p:cNvSpPr txBox="1"/>
          <p:nvPr/>
        </p:nvSpPr>
        <p:spPr>
          <a:xfrm>
            <a:off x="539115" y="543878"/>
            <a:ext cx="10486223" cy="518160"/>
          </a:xfrm>
          <a:prstGeom prst="rect">
            <a:avLst/>
          </a:prstGeom>
          <a:noFill/>
          <a:ln>
            <a:noFill/>
          </a:ln>
        </p:spPr>
        <p:txBody>
          <a:bodyPr wrap="none" lIns="0" tIns="0" rIns="0" bIns="0" anchor="t" anchorCtr="0">
            <a:spAutoFit/>
          </a:bodyPr>
          <a:lstStyle/>
          <a:p>
            <a:pPr algn="l"/>
            <a:r>
              <a:rPr lang="zh-CN" sz="2550" b="1" dirty="0">
                <a:solidFill>
                  <a:srgbClr val="1A1A2E"/>
                </a:solidFill>
                <a:latin typeface="Arial"/>
                <a:ea typeface="Microsoft YaHei"/>
                <a:cs typeface="Arial"/>
              </a:rPr>
              <a:t>The workflow is a serial design-to-engineering pipeline</a:t>
            </a:r>
          </a:p>
        </p:txBody>
      </p:sp>
      <p:sp>
        <p:nvSpPr>
          <p:cNvPr id="6" name="TextBox 6"/>
          <p:cNvSpPr txBox="1"/>
          <p:nvPr/>
        </p:nvSpPr>
        <p:spPr>
          <a:xfrm>
            <a:off x="556260" y="975360"/>
            <a:ext cx="7855839"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The docs are explicit that every stage feeds the next and should not be parallelized blindly.</a:t>
            </a:r>
          </a:p>
        </p:txBody>
      </p:sp>
      <p:grpSp>
        <p:nvGrpSpPr>
          <p:cNvPr id="12" name="Group 12"/>
          <p:cNvGrpSpPr/>
          <p:nvPr/>
        </p:nvGrpSpPr>
        <p:grpSpPr>
          <a:xfrm>
            <a:off x="1047750" y="2781300"/>
            <a:ext cx="10096500" cy="228600"/>
            <a:chOff x="1047750" y="2781300"/>
            <a:chExt cx="10096500" cy="228600"/>
          </a:xfrm>
        </p:grpSpPr>
        <p:sp>
          <p:nvSpPr>
            <p:cNvPr id="7" name="Freeform 7"/>
            <p:cNvSpPr/>
            <p:nvPr/>
          </p:nvSpPr>
          <p:spPr>
            <a:xfrm>
              <a:off x="1047750" y="2857500"/>
              <a:ext cx="10096500" cy="76200"/>
            </a:xfrm>
            <a:custGeom>
              <a:avLst/>
              <a:gdLst/>
              <a:ahLst/>
              <a:cxnLst/>
              <a:rect l="l" t="t" r="r" b="b"/>
              <a:pathLst>
                <a:path w="10096500" h="76200">
                  <a:moveTo>
                    <a:pt x="38100" y="0"/>
                  </a:moveTo>
                  <a:lnTo>
                    <a:pt x="10058400" y="0"/>
                  </a:lnTo>
                  <a:cubicBezTo>
                    <a:pt x="10079442" y="0"/>
                    <a:pt x="10096500" y="17058"/>
                    <a:pt x="10096500" y="38100"/>
                  </a:cubicBezTo>
                  <a:lnTo>
                    <a:pt x="10096500" y="38100"/>
                  </a:lnTo>
                  <a:cubicBezTo>
                    <a:pt x="10096500" y="59142"/>
                    <a:pt x="10079442" y="76200"/>
                    <a:pt x="10058400" y="76200"/>
                  </a:cubicBezTo>
                  <a:lnTo>
                    <a:pt x="38100" y="76200"/>
                  </a:lnTo>
                  <a:cubicBezTo>
                    <a:pt x="17058" y="76200"/>
                    <a:pt x="0" y="59142"/>
                    <a:pt x="0" y="38100"/>
                  </a:cubicBezTo>
                  <a:lnTo>
                    <a:pt x="0" y="38100"/>
                  </a:lnTo>
                  <a:cubicBezTo>
                    <a:pt x="0" y="17058"/>
                    <a:pt x="17058" y="0"/>
                    <a:pt x="38100" y="0"/>
                  </a:cubicBezTo>
                  <a:close/>
                </a:path>
              </a:pathLst>
            </a:custGeom>
            <a:solidFill>
              <a:srgbClr val="E2E8F0"/>
            </a:solidFill>
            <a:ln>
              <a:noFill/>
            </a:ln>
          </p:spPr>
        </p:sp>
        <p:sp>
          <p:nvSpPr>
            <p:cNvPr id="8" name="Polygon 8"/>
            <p:cNvSpPr/>
            <p:nvPr/>
          </p:nvSpPr>
          <p:spPr>
            <a:xfrm>
              <a:off x="2990850" y="2781300"/>
              <a:ext cx="152400" cy="228600"/>
            </a:xfrm>
            <a:custGeom>
              <a:avLst/>
              <a:gdLst/>
              <a:ahLst/>
              <a:cxnLst/>
              <a:rect l="l" t="t" r="r" b="b"/>
              <a:pathLst>
                <a:path w="152400" h="228600">
                  <a:moveTo>
                    <a:pt x="152400" y="114300"/>
                  </a:moveTo>
                  <a:lnTo>
                    <a:pt x="0" y="0"/>
                  </a:lnTo>
                  <a:lnTo>
                    <a:pt x="0" y="228600"/>
                  </a:lnTo>
                  <a:close/>
                </a:path>
              </a:pathLst>
            </a:custGeom>
            <a:solidFill>
              <a:srgbClr val="B5C1D4"/>
            </a:solidFill>
            <a:ln>
              <a:noFill/>
            </a:ln>
          </p:spPr>
        </p:sp>
        <p:sp>
          <p:nvSpPr>
            <p:cNvPr id="9" name="Polygon 9"/>
            <p:cNvSpPr/>
            <p:nvPr/>
          </p:nvSpPr>
          <p:spPr>
            <a:xfrm>
              <a:off x="5181600" y="2781300"/>
              <a:ext cx="152400" cy="228600"/>
            </a:xfrm>
            <a:custGeom>
              <a:avLst/>
              <a:gdLst/>
              <a:ahLst/>
              <a:cxnLst/>
              <a:rect l="l" t="t" r="r" b="b"/>
              <a:pathLst>
                <a:path w="152400" h="228600">
                  <a:moveTo>
                    <a:pt x="152400" y="114300"/>
                  </a:moveTo>
                  <a:lnTo>
                    <a:pt x="0" y="0"/>
                  </a:lnTo>
                  <a:lnTo>
                    <a:pt x="0" y="228600"/>
                  </a:lnTo>
                  <a:close/>
                </a:path>
              </a:pathLst>
            </a:custGeom>
            <a:solidFill>
              <a:srgbClr val="B5C1D4"/>
            </a:solidFill>
            <a:ln>
              <a:noFill/>
            </a:ln>
          </p:spPr>
        </p:sp>
        <p:sp>
          <p:nvSpPr>
            <p:cNvPr id="10" name="Polygon 10"/>
            <p:cNvSpPr/>
            <p:nvPr/>
          </p:nvSpPr>
          <p:spPr>
            <a:xfrm>
              <a:off x="7372350" y="2781300"/>
              <a:ext cx="152400" cy="228600"/>
            </a:xfrm>
            <a:custGeom>
              <a:avLst/>
              <a:gdLst/>
              <a:ahLst/>
              <a:cxnLst/>
              <a:rect l="l" t="t" r="r" b="b"/>
              <a:pathLst>
                <a:path w="152400" h="228600">
                  <a:moveTo>
                    <a:pt x="152400" y="114300"/>
                  </a:moveTo>
                  <a:lnTo>
                    <a:pt x="0" y="0"/>
                  </a:lnTo>
                  <a:lnTo>
                    <a:pt x="0" y="228600"/>
                  </a:lnTo>
                  <a:close/>
                </a:path>
              </a:pathLst>
            </a:custGeom>
            <a:solidFill>
              <a:srgbClr val="B5C1D4"/>
            </a:solidFill>
            <a:ln>
              <a:noFill/>
            </a:ln>
          </p:spPr>
        </p:sp>
        <p:sp>
          <p:nvSpPr>
            <p:cNvPr id="11" name="Polygon 11"/>
            <p:cNvSpPr/>
            <p:nvPr/>
          </p:nvSpPr>
          <p:spPr>
            <a:xfrm>
              <a:off x="9563100" y="2781300"/>
              <a:ext cx="152400" cy="228600"/>
            </a:xfrm>
            <a:custGeom>
              <a:avLst/>
              <a:gdLst/>
              <a:ahLst/>
              <a:cxnLst/>
              <a:rect l="l" t="t" r="r" b="b"/>
              <a:pathLst>
                <a:path w="152400" h="228600">
                  <a:moveTo>
                    <a:pt x="152400" y="114300"/>
                  </a:moveTo>
                  <a:lnTo>
                    <a:pt x="0" y="0"/>
                  </a:lnTo>
                  <a:lnTo>
                    <a:pt x="0" y="228600"/>
                  </a:lnTo>
                  <a:close/>
                </a:path>
              </a:pathLst>
            </a:custGeom>
            <a:solidFill>
              <a:srgbClr val="B5C1D4"/>
            </a:solidFill>
            <a:ln>
              <a:noFill/>
            </a:ln>
          </p:spPr>
        </p:sp>
      </p:grpSp>
      <p:grpSp>
        <p:nvGrpSpPr>
          <p:cNvPr id="16" name="Group 16"/>
          <p:cNvGrpSpPr/>
          <p:nvPr/>
        </p:nvGrpSpPr>
        <p:grpSpPr>
          <a:xfrm>
            <a:off x="1219200" y="2495550"/>
            <a:ext cx="800100" cy="800100"/>
            <a:chOff x="1219200" y="2495550"/>
            <a:chExt cx="800100" cy="800100"/>
          </a:xfrm>
          <a:effectLst>
            <a:outerShdw blurRad="133350" dist="38100" dir="10799140" algn="tl" rotWithShape="0">
              <a:srgbClr val="0F172A">
                <a:alpha val="10000"/>
              </a:srgbClr>
            </a:outerShdw>
          </a:effectLst>
        </p:grpSpPr>
        <p:sp>
          <p:nvSpPr>
            <p:cNvPr id="13" name="Ellipse 13"/>
            <p:cNvSpPr/>
            <p:nvPr/>
          </p:nvSpPr>
          <p:spPr>
            <a:xfrm>
              <a:off x="1219200" y="2495550"/>
              <a:ext cx="800100" cy="800100"/>
            </a:xfrm>
            <a:prstGeom prst="ellipse">
              <a:avLst/>
            </a:prstGeom>
            <a:solidFill>
              <a:srgbClr val="D97757"/>
            </a:solidFill>
            <a:ln>
              <a:noFill/>
            </a:ln>
            <a:effectLst>
              <a:outerShdw blurRad="133350" dist="38100" dir="10799140" algn="tl" rotWithShape="0">
                <a:srgbClr val="0F172A">
                  <a:alpha val="10000"/>
                </a:srgbClr>
              </a:outerShdw>
            </a:effectLst>
          </p:spPr>
        </p:sp>
        <p:sp>
          <p:nvSpPr>
            <p:cNvPr id="14" name="TextBox 14"/>
            <p:cNvSpPr txBox="1"/>
            <p:nvPr/>
          </p:nvSpPr>
          <p:spPr>
            <a:xfrm>
              <a:off x="1345210" y="2714149"/>
              <a:ext cx="548080" cy="1981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75" b="1" dirty="0">
                  <a:solidFill>
                    <a:srgbClr val="FFFFFF"/>
                  </a:solidFill>
                  <a:latin typeface="Arial"/>
                  <a:ea typeface="Microsoft YaHei"/>
                  <a:cs typeface="Arial"/>
                </a:rPr>
                <a:t>SOURCE</a:t>
              </a:r>
            </a:p>
          </p:txBody>
        </p:sp>
        <p:sp>
          <p:nvSpPr>
            <p:cNvPr id="15" name="TextBox 15"/>
            <p:cNvSpPr txBox="1"/>
            <p:nvPr/>
          </p:nvSpPr>
          <p:spPr>
            <a:xfrm>
              <a:off x="1419969" y="2885599"/>
              <a:ext cx="398562" cy="1981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75" b="1" dirty="0">
                  <a:solidFill>
                    <a:srgbClr val="FFFFFF"/>
                  </a:solidFill>
                  <a:latin typeface="Arial"/>
                  <a:ea typeface="Microsoft YaHei"/>
                  <a:cs typeface="Arial"/>
                </a:rPr>
                <a:t>INPUT</a:t>
              </a:r>
            </a:p>
          </p:txBody>
        </p:sp>
      </p:grpSp>
      <p:grpSp>
        <p:nvGrpSpPr>
          <p:cNvPr id="21" name="Group 21"/>
          <p:cNvGrpSpPr/>
          <p:nvPr/>
        </p:nvGrpSpPr>
        <p:grpSpPr>
          <a:xfrm>
            <a:off x="571500" y="3752850"/>
            <a:ext cx="3238500" cy="1790700"/>
            <a:chOff x="571500" y="3752850"/>
            <a:chExt cx="3238500" cy="1790700"/>
          </a:xfrm>
          <a:effectLst>
            <a:outerShdw blurRad="133350" dist="38100" dir="10799140" algn="tl" rotWithShape="0">
              <a:srgbClr val="0F172A">
                <a:alpha val="10000"/>
              </a:srgbClr>
            </a:outerShdw>
          </a:effectLst>
        </p:grpSpPr>
        <p:sp>
          <p:nvSpPr>
            <p:cNvPr id="17" name="Freeform 17"/>
            <p:cNvSpPr/>
            <p:nvPr/>
          </p:nvSpPr>
          <p:spPr>
            <a:xfrm>
              <a:off x="571500" y="3752850"/>
              <a:ext cx="2095500" cy="1790700"/>
            </a:xfrm>
            <a:custGeom>
              <a:avLst/>
              <a:gdLst/>
              <a:ahLst/>
              <a:cxnLst/>
              <a:rect l="l" t="t" r="r" b="b"/>
              <a:pathLst>
                <a:path w="2095500" h="1790700">
                  <a:moveTo>
                    <a:pt x="209550" y="0"/>
                  </a:moveTo>
                  <a:lnTo>
                    <a:pt x="1885950" y="0"/>
                  </a:lnTo>
                  <a:cubicBezTo>
                    <a:pt x="2001681" y="0"/>
                    <a:pt x="2095500" y="93819"/>
                    <a:pt x="2095500" y="209550"/>
                  </a:cubicBezTo>
                  <a:lnTo>
                    <a:pt x="2095500" y="1581150"/>
                  </a:lnTo>
                  <a:cubicBezTo>
                    <a:pt x="2095500" y="1696881"/>
                    <a:pt x="2001681" y="1790700"/>
                    <a:pt x="1885950" y="1790700"/>
                  </a:cubicBezTo>
                  <a:lnTo>
                    <a:pt x="209550" y="1790700"/>
                  </a:lnTo>
                  <a:cubicBezTo>
                    <a:pt x="93819" y="1790700"/>
                    <a:pt x="0" y="1696881"/>
                    <a:pt x="0" y="1581150"/>
                  </a:cubicBezTo>
                  <a:lnTo>
                    <a:pt x="0" y="209550"/>
                  </a:lnTo>
                  <a:cubicBezTo>
                    <a:pt x="0" y="93819"/>
                    <a:pt x="93819" y="0"/>
                    <a:pt x="209550" y="0"/>
                  </a:cubicBezTo>
                  <a:close/>
                </a:path>
              </a:pathLst>
            </a:custGeom>
            <a:solidFill>
              <a:srgbClr val="F8FAFC"/>
            </a:solidFill>
            <a:ln>
              <a:noFill/>
            </a:ln>
            <a:effectLst>
              <a:outerShdw blurRad="133350" dist="38100" dir="10799140" algn="tl" rotWithShape="0">
                <a:srgbClr val="0F172A">
                  <a:alpha val="10000"/>
                </a:srgbClr>
              </a:outerShdw>
            </a:effectLst>
          </p:spPr>
        </p:sp>
        <p:sp>
          <p:nvSpPr>
            <p:cNvPr id="18" name="TextBox 18"/>
            <p:cNvSpPr txBox="1"/>
            <p:nvPr/>
          </p:nvSpPr>
          <p:spPr>
            <a:xfrm>
              <a:off x="819150" y="3952875"/>
              <a:ext cx="2062353" cy="3048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1A1A2E"/>
                  </a:solidFill>
                  <a:latin typeface="Arial"/>
                  <a:ea typeface="Microsoft YaHei"/>
                  <a:cs typeface="Arial"/>
                </a:rPr>
                <a:t>Normalize content</a:t>
              </a:r>
            </a:p>
          </p:txBody>
        </p:sp>
        <p:sp>
          <p:nvSpPr>
            <p:cNvPr id="19" name="TextBox 19"/>
            <p:cNvSpPr txBox="1"/>
            <p:nvPr/>
          </p:nvSpPr>
          <p:spPr>
            <a:xfrm>
              <a:off x="823912" y="4336256"/>
              <a:ext cx="249316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PDF, DOCX, URL, and Markdown</a:t>
              </a:r>
            </a:p>
          </p:txBody>
        </p:sp>
        <p:sp>
          <p:nvSpPr>
            <p:cNvPr id="20" name="TextBox 20"/>
            <p:cNvSpPr txBox="1"/>
            <p:nvPr/>
          </p:nvSpPr>
          <p:spPr>
            <a:xfrm>
              <a:off x="823912" y="4545806"/>
              <a:ext cx="2986088"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are converted into structured text.</a:t>
              </a:r>
            </a:p>
          </p:txBody>
        </p:sp>
      </p:grpSp>
      <p:grpSp>
        <p:nvGrpSpPr>
          <p:cNvPr id="25" name="Group 25"/>
          <p:cNvGrpSpPr/>
          <p:nvPr/>
        </p:nvGrpSpPr>
        <p:grpSpPr>
          <a:xfrm>
            <a:off x="3409950" y="2495550"/>
            <a:ext cx="800100" cy="800100"/>
            <a:chOff x="3409950" y="2495550"/>
            <a:chExt cx="800100" cy="800100"/>
          </a:xfrm>
          <a:effectLst>
            <a:outerShdw blurRad="133350" dist="38100" dir="10799140" algn="tl" rotWithShape="0">
              <a:srgbClr val="0F172A">
                <a:alpha val="10000"/>
              </a:srgbClr>
            </a:outerShdw>
          </a:effectLst>
        </p:grpSpPr>
        <p:sp>
          <p:nvSpPr>
            <p:cNvPr id="22" name="Ellipse 22"/>
            <p:cNvSpPr/>
            <p:nvPr/>
          </p:nvSpPr>
          <p:spPr>
            <a:xfrm>
              <a:off x="3409950" y="2495550"/>
              <a:ext cx="800100" cy="800100"/>
            </a:xfrm>
            <a:prstGeom prst="ellipse">
              <a:avLst/>
            </a:prstGeom>
            <a:solidFill>
              <a:srgbClr val="4A90D9"/>
            </a:solidFill>
            <a:ln>
              <a:noFill/>
            </a:ln>
            <a:effectLst>
              <a:outerShdw blurRad="133350" dist="38100" dir="10799140" algn="tl" rotWithShape="0">
                <a:srgbClr val="0F172A">
                  <a:alpha val="10000"/>
                </a:srgbClr>
              </a:outerShdw>
            </a:effectLst>
          </p:spPr>
        </p:sp>
        <p:sp>
          <p:nvSpPr>
            <p:cNvPr id="23" name="TextBox 23"/>
            <p:cNvSpPr txBox="1"/>
            <p:nvPr/>
          </p:nvSpPr>
          <p:spPr>
            <a:xfrm>
              <a:off x="3592029" y="2752249"/>
              <a:ext cx="435941" cy="1981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75" b="1" dirty="0">
                  <a:solidFill>
                    <a:srgbClr val="FFFFFF"/>
                  </a:solidFill>
                  <a:latin typeface="Arial"/>
                  <a:ea typeface="Microsoft YaHei"/>
                  <a:cs typeface="Arial"/>
                </a:rPr>
                <a:t>STRAT</a:t>
              </a:r>
            </a:p>
          </p:txBody>
        </p:sp>
        <p:sp>
          <p:nvSpPr>
            <p:cNvPr id="24" name="TextBox 24"/>
            <p:cNvSpPr txBox="1"/>
            <p:nvPr/>
          </p:nvSpPr>
          <p:spPr>
            <a:xfrm>
              <a:off x="3610719" y="2904649"/>
              <a:ext cx="398562" cy="1981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75" b="1" dirty="0">
                  <a:solidFill>
                    <a:srgbClr val="FFFFFF"/>
                  </a:solidFill>
                  <a:latin typeface="Arial"/>
                  <a:ea typeface="Microsoft YaHei"/>
                  <a:cs typeface="Arial"/>
                </a:rPr>
                <a:t>EGIST</a:t>
              </a:r>
            </a:p>
          </p:txBody>
        </p:sp>
      </p:grpSp>
      <p:grpSp>
        <p:nvGrpSpPr>
          <p:cNvPr id="30" name="Group 30"/>
          <p:cNvGrpSpPr/>
          <p:nvPr/>
        </p:nvGrpSpPr>
        <p:grpSpPr>
          <a:xfrm>
            <a:off x="2762250" y="3752850"/>
            <a:ext cx="3148131" cy="1790700"/>
            <a:chOff x="2762250" y="3752850"/>
            <a:chExt cx="3148131" cy="1790700"/>
          </a:xfrm>
          <a:effectLst>
            <a:outerShdw blurRad="133350" dist="38100" dir="10799140" algn="tl" rotWithShape="0">
              <a:srgbClr val="0F172A">
                <a:alpha val="10000"/>
              </a:srgbClr>
            </a:outerShdw>
          </a:effectLst>
        </p:grpSpPr>
        <p:sp>
          <p:nvSpPr>
            <p:cNvPr id="26" name="Freeform 26"/>
            <p:cNvSpPr/>
            <p:nvPr/>
          </p:nvSpPr>
          <p:spPr>
            <a:xfrm>
              <a:off x="2762250" y="3752850"/>
              <a:ext cx="2095500" cy="1790700"/>
            </a:xfrm>
            <a:custGeom>
              <a:avLst/>
              <a:gdLst/>
              <a:ahLst/>
              <a:cxnLst/>
              <a:rect l="l" t="t" r="r" b="b"/>
              <a:pathLst>
                <a:path w="2095500" h="1790700">
                  <a:moveTo>
                    <a:pt x="209550" y="0"/>
                  </a:moveTo>
                  <a:lnTo>
                    <a:pt x="1885950" y="0"/>
                  </a:lnTo>
                  <a:cubicBezTo>
                    <a:pt x="2001681" y="0"/>
                    <a:pt x="2095500" y="93819"/>
                    <a:pt x="2095500" y="209550"/>
                  </a:cubicBezTo>
                  <a:lnTo>
                    <a:pt x="2095500" y="1581150"/>
                  </a:lnTo>
                  <a:cubicBezTo>
                    <a:pt x="2095500" y="1696881"/>
                    <a:pt x="2001681" y="1790700"/>
                    <a:pt x="1885950" y="1790700"/>
                  </a:cubicBezTo>
                  <a:lnTo>
                    <a:pt x="209550" y="1790700"/>
                  </a:lnTo>
                  <a:cubicBezTo>
                    <a:pt x="93819" y="1790700"/>
                    <a:pt x="0" y="1696881"/>
                    <a:pt x="0" y="1581150"/>
                  </a:cubicBezTo>
                  <a:lnTo>
                    <a:pt x="0" y="209550"/>
                  </a:lnTo>
                  <a:cubicBezTo>
                    <a:pt x="0" y="93819"/>
                    <a:pt x="93819" y="0"/>
                    <a:pt x="209550" y="0"/>
                  </a:cubicBezTo>
                  <a:close/>
                </a:path>
              </a:pathLst>
            </a:custGeom>
            <a:solidFill>
              <a:srgbClr val="F8FAFC"/>
            </a:solidFill>
            <a:ln>
              <a:noFill/>
            </a:ln>
            <a:effectLst>
              <a:outerShdw blurRad="133350" dist="38100" dir="10799140" algn="tl" rotWithShape="0">
                <a:srgbClr val="0F172A">
                  <a:alpha val="10000"/>
                </a:srgbClr>
              </a:outerShdw>
            </a:effectLst>
          </p:spPr>
        </p:sp>
        <p:sp>
          <p:nvSpPr>
            <p:cNvPr id="27" name="TextBox 27"/>
            <p:cNvSpPr txBox="1"/>
            <p:nvPr/>
          </p:nvSpPr>
          <p:spPr>
            <a:xfrm>
              <a:off x="3009900" y="3952875"/>
              <a:ext cx="1510284" cy="3048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1A1A2E"/>
                  </a:solidFill>
                  <a:latin typeface="Arial"/>
                  <a:ea typeface="Microsoft YaHei"/>
                  <a:cs typeface="Arial"/>
                </a:rPr>
                <a:t>Plan the deck</a:t>
              </a:r>
            </a:p>
          </p:txBody>
        </p:sp>
        <p:sp>
          <p:nvSpPr>
            <p:cNvPr id="28" name="TextBox 28"/>
            <p:cNvSpPr txBox="1"/>
            <p:nvPr/>
          </p:nvSpPr>
          <p:spPr>
            <a:xfrm>
              <a:off x="3014662" y="4336256"/>
              <a:ext cx="285464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The strategist defines page count,</a:t>
              </a:r>
            </a:p>
          </p:txBody>
        </p:sp>
        <p:sp>
          <p:nvSpPr>
            <p:cNvPr id="29" name="TextBox 29"/>
            <p:cNvSpPr txBox="1"/>
            <p:nvPr/>
          </p:nvSpPr>
          <p:spPr>
            <a:xfrm>
              <a:off x="3014662" y="4545806"/>
              <a:ext cx="289571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visual system, and content outline.</a:t>
              </a:r>
            </a:p>
          </p:txBody>
        </p:sp>
      </p:grpSp>
      <p:grpSp>
        <p:nvGrpSpPr>
          <p:cNvPr id="34" name="Group 34"/>
          <p:cNvGrpSpPr/>
          <p:nvPr/>
        </p:nvGrpSpPr>
        <p:grpSpPr>
          <a:xfrm>
            <a:off x="5600700" y="2495550"/>
            <a:ext cx="800100" cy="800100"/>
            <a:chOff x="5600700" y="2495550"/>
            <a:chExt cx="800100" cy="800100"/>
          </a:xfrm>
          <a:effectLst>
            <a:outerShdw blurRad="133350" dist="38100" dir="10799140" algn="tl" rotWithShape="0">
              <a:srgbClr val="0F172A">
                <a:alpha val="10000"/>
              </a:srgbClr>
            </a:outerShdw>
          </a:effectLst>
        </p:grpSpPr>
        <p:sp>
          <p:nvSpPr>
            <p:cNvPr id="31" name="Ellipse 31"/>
            <p:cNvSpPr/>
            <p:nvPr/>
          </p:nvSpPr>
          <p:spPr>
            <a:xfrm>
              <a:off x="5600700" y="2495550"/>
              <a:ext cx="800100" cy="800100"/>
            </a:xfrm>
            <a:prstGeom prst="ellipse">
              <a:avLst/>
            </a:prstGeom>
            <a:solidFill>
              <a:srgbClr val="10B981"/>
            </a:solidFill>
            <a:ln>
              <a:noFill/>
            </a:ln>
            <a:effectLst>
              <a:outerShdw blurRad="133350" dist="38100" dir="10799140" algn="tl" rotWithShape="0">
                <a:srgbClr val="0F172A">
                  <a:alpha val="10000"/>
                </a:srgbClr>
              </a:outerShdw>
            </a:effectLst>
          </p:spPr>
        </p:sp>
        <p:sp>
          <p:nvSpPr>
            <p:cNvPr id="32" name="TextBox 32"/>
            <p:cNvSpPr txBox="1"/>
            <p:nvPr/>
          </p:nvSpPr>
          <p:spPr>
            <a:xfrm>
              <a:off x="5823897" y="2752249"/>
              <a:ext cx="353706" cy="1981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75" b="1" dirty="0">
                  <a:solidFill>
                    <a:srgbClr val="FFFFFF"/>
                  </a:solidFill>
                  <a:latin typeface="Arial"/>
                  <a:ea typeface="Microsoft YaHei"/>
                  <a:cs typeface="Arial"/>
                </a:rPr>
                <a:t>EXEC</a:t>
              </a:r>
            </a:p>
          </p:txBody>
        </p:sp>
        <p:sp>
          <p:nvSpPr>
            <p:cNvPr id="33" name="TextBox 33"/>
            <p:cNvSpPr txBox="1"/>
            <p:nvPr/>
          </p:nvSpPr>
          <p:spPr>
            <a:xfrm>
              <a:off x="5808945" y="2904649"/>
              <a:ext cx="383610" cy="1981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75" b="1" dirty="0">
                  <a:solidFill>
                    <a:srgbClr val="FFFFFF"/>
                  </a:solidFill>
                  <a:latin typeface="Arial"/>
                  <a:ea typeface="Microsoft YaHei"/>
                  <a:cs typeface="Arial"/>
                </a:rPr>
                <a:t>UTOR</a:t>
              </a:r>
            </a:p>
          </p:txBody>
        </p:sp>
      </p:grpSp>
      <p:grpSp>
        <p:nvGrpSpPr>
          <p:cNvPr id="39" name="Group 39"/>
          <p:cNvGrpSpPr/>
          <p:nvPr/>
        </p:nvGrpSpPr>
        <p:grpSpPr>
          <a:xfrm>
            <a:off x="4953000" y="3752850"/>
            <a:ext cx="3057763" cy="1790700"/>
            <a:chOff x="4953000" y="3752850"/>
            <a:chExt cx="3057763" cy="1790700"/>
          </a:xfrm>
          <a:effectLst>
            <a:outerShdw blurRad="133350" dist="38100" dir="10799140" algn="tl" rotWithShape="0">
              <a:srgbClr val="0F172A">
                <a:alpha val="10000"/>
              </a:srgbClr>
            </a:outerShdw>
          </a:effectLst>
        </p:grpSpPr>
        <p:sp>
          <p:nvSpPr>
            <p:cNvPr id="35" name="Freeform 35"/>
            <p:cNvSpPr/>
            <p:nvPr/>
          </p:nvSpPr>
          <p:spPr>
            <a:xfrm>
              <a:off x="4953000" y="3752850"/>
              <a:ext cx="2095500" cy="1790700"/>
            </a:xfrm>
            <a:custGeom>
              <a:avLst/>
              <a:gdLst/>
              <a:ahLst/>
              <a:cxnLst/>
              <a:rect l="l" t="t" r="r" b="b"/>
              <a:pathLst>
                <a:path w="2095500" h="1790700">
                  <a:moveTo>
                    <a:pt x="209550" y="0"/>
                  </a:moveTo>
                  <a:lnTo>
                    <a:pt x="1885950" y="0"/>
                  </a:lnTo>
                  <a:cubicBezTo>
                    <a:pt x="2001681" y="0"/>
                    <a:pt x="2095500" y="93819"/>
                    <a:pt x="2095500" y="209550"/>
                  </a:cubicBezTo>
                  <a:lnTo>
                    <a:pt x="2095500" y="1581150"/>
                  </a:lnTo>
                  <a:cubicBezTo>
                    <a:pt x="2095500" y="1696881"/>
                    <a:pt x="2001681" y="1790700"/>
                    <a:pt x="1885950" y="1790700"/>
                  </a:cubicBezTo>
                  <a:lnTo>
                    <a:pt x="209550" y="1790700"/>
                  </a:lnTo>
                  <a:cubicBezTo>
                    <a:pt x="93819" y="1790700"/>
                    <a:pt x="0" y="1696881"/>
                    <a:pt x="0" y="1581150"/>
                  </a:cubicBezTo>
                  <a:lnTo>
                    <a:pt x="0" y="209550"/>
                  </a:lnTo>
                  <a:cubicBezTo>
                    <a:pt x="0" y="93819"/>
                    <a:pt x="93819" y="0"/>
                    <a:pt x="209550" y="0"/>
                  </a:cubicBezTo>
                  <a:close/>
                </a:path>
              </a:pathLst>
            </a:custGeom>
            <a:solidFill>
              <a:srgbClr val="F8FAFC"/>
            </a:solidFill>
            <a:ln>
              <a:noFill/>
            </a:ln>
            <a:effectLst>
              <a:outerShdw blurRad="133350" dist="38100" dir="10799140" algn="tl" rotWithShape="0">
                <a:srgbClr val="0F172A">
                  <a:alpha val="10000"/>
                </a:srgbClr>
              </a:outerShdw>
            </a:effectLst>
          </p:spPr>
        </p:sp>
        <p:sp>
          <p:nvSpPr>
            <p:cNvPr id="36" name="TextBox 36"/>
            <p:cNvSpPr txBox="1"/>
            <p:nvPr/>
          </p:nvSpPr>
          <p:spPr>
            <a:xfrm>
              <a:off x="5200650" y="3952875"/>
              <a:ext cx="2200370" cy="3048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1A1A2E"/>
                  </a:solidFill>
                  <a:latin typeface="Arial"/>
                  <a:ea typeface="Microsoft YaHei"/>
                  <a:cs typeface="Arial"/>
                </a:rPr>
                <a:t>Generate SVG pages</a:t>
              </a:r>
            </a:p>
          </p:txBody>
        </p:sp>
        <p:sp>
          <p:nvSpPr>
            <p:cNvPr id="37" name="TextBox 37"/>
            <p:cNvSpPr txBox="1"/>
            <p:nvPr/>
          </p:nvSpPr>
          <p:spPr>
            <a:xfrm>
              <a:off x="5205412" y="4336256"/>
              <a:ext cx="2805351"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The main agent produces slide SVGs</a:t>
              </a:r>
            </a:p>
          </p:txBody>
        </p:sp>
        <p:sp>
          <p:nvSpPr>
            <p:cNvPr id="38" name="TextBox 38"/>
            <p:cNvSpPr txBox="1"/>
            <p:nvPr/>
          </p:nvSpPr>
          <p:spPr>
            <a:xfrm>
              <a:off x="5205412" y="4545806"/>
              <a:ext cx="2337078"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and complete speaker notes.</a:t>
              </a:r>
            </a:p>
          </p:txBody>
        </p:sp>
      </p:grpSp>
      <p:grpSp>
        <p:nvGrpSpPr>
          <p:cNvPr id="43" name="Group 43"/>
          <p:cNvGrpSpPr/>
          <p:nvPr/>
        </p:nvGrpSpPr>
        <p:grpSpPr>
          <a:xfrm>
            <a:off x="7791450" y="2495550"/>
            <a:ext cx="800100" cy="800100"/>
            <a:chOff x="7791450" y="2495550"/>
            <a:chExt cx="800100" cy="800100"/>
          </a:xfrm>
          <a:effectLst>
            <a:outerShdw blurRad="133350" dist="38100" dir="10799140" algn="tl" rotWithShape="0">
              <a:srgbClr val="0F172A">
                <a:alpha val="10000"/>
              </a:srgbClr>
            </a:outerShdw>
          </a:effectLst>
        </p:grpSpPr>
        <p:sp>
          <p:nvSpPr>
            <p:cNvPr id="40" name="Ellipse 40"/>
            <p:cNvSpPr/>
            <p:nvPr/>
          </p:nvSpPr>
          <p:spPr>
            <a:xfrm>
              <a:off x="7791450" y="2495550"/>
              <a:ext cx="800100" cy="800100"/>
            </a:xfrm>
            <a:prstGeom prst="ellipse">
              <a:avLst/>
            </a:prstGeom>
            <a:solidFill>
              <a:srgbClr val="10B981"/>
            </a:solidFill>
            <a:ln>
              <a:noFill/>
            </a:ln>
            <a:effectLst>
              <a:outerShdw blurRad="133350" dist="38100" dir="10799140" algn="tl" rotWithShape="0">
                <a:srgbClr val="0F172A">
                  <a:alpha val="10000"/>
                </a:srgbClr>
              </a:outerShdw>
            </a:effectLst>
          </p:spPr>
        </p:sp>
        <p:sp>
          <p:nvSpPr>
            <p:cNvPr id="41" name="TextBox 41"/>
            <p:cNvSpPr txBox="1"/>
            <p:nvPr/>
          </p:nvSpPr>
          <p:spPr>
            <a:xfrm>
              <a:off x="8007548" y="2760345"/>
              <a:ext cx="367903" cy="1828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00" b="1" dirty="0">
                  <a:solidFill>
                    <a:srgbClr val="FFFFFF"/>
                  </a:solidFill>
                  <a:latin typeface="Arial"/>
                  <a:ea typeface="Microsoft YaHei"/>
                  <a:cs typeface="Arial"/>
                </a:rPr>
                <a:t>FINAL</a:t>
              </a:r>
            </a:p>
          </p:txBody>
        </p:sp>
        <p:sp>
          <p:nvSpPr>
            <p:cNvPr id="42" name="TextBox 42"/>
            <p:cNvSpPr txBox="1"/>
            <p:nvPr/>
          </p:nvSpPr>
          <p:spPr>
            <a:xfrm>
              <a:off x="8083458" y="2912745"/>
              <a:ext cx="216084" cy="1828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00" b="1" dirty="0">
                  <a:solidFill>
                    <a:srgbClr val="FFFFFF"/>
                  </a:solidFill>
                  <a:latin typeface="Arial"/>
                  <a:ea typeface="Microsoft YaHei"/>
                  <a:cs typeface="Arial"/>
                </a:rPr>
                <a:t>IZE</a:t>
              </a:r>
            </a:p>
          </p:txBody>
        </p:sp>
      </p:grpSp>
      <p:grpSp>
        <p:nvGrpSpPr>
          <p:cNvPr id="48" name="Group 48"/>
          <p:cNvGrpSpPr/>
          <p:nvPr/>
        </p:nvGrpSpPr>
        <p:grpSpPr>
          <a:xfrm>
            <a:off x="7143750" y="3752850"/>
            <a:ext cx="3682126" cy="1790700"/>
            <a:chOff x="7143750" y="3752850"/>
            <a:chExt cx="3682126" cy="1790700"/>
          </a:xfrm>
          <a:effectLst>
            <a:outerShdw blurRad="133350" dist="38100" dir="10799140" algn="tl" rotWithShape="0">
              <a:srgbClr val="0F172A">
                <a:alpha val="10000"/>
              </a:srgbClr>
            </a:outerShdw>
          </a:effectLst>
        </p:grpSpPr>
        <p:sp>
          <p:nvSpPr>
            <p:cNvPr id="44" name="Freeform 44"/>
            <p:cNvSpPr/>
            <p:nvPr/>
          </p:nvSpPr>
          <p:spPr>
            <a:xfrm>
              <a:off x="7143750" y="3752850"/>
              <a:ext cx="2095500" cy="1790700"/>
            </a:xfrm>
            <a:custGeom>
              <a:avLst/>
              <a:gdLst/>
              <a:ahLst/>
              <a:cxnLst/>
              <a:rect l="l" t="t" r="r" b="b"/>
              <a:pathLst>
                <a:path w="2095500" h="1790700">
                  <a:moveTo>
                    <a:pt x="209550" y="0"/>
                  </a:moveTo>
                  <a:lnTo>
                    <a:pt x="1885950" y="0"/>
                  </a:lnTo>
                  <a:cubicBezTo>
                    <a:pt x="2001681" y="0"/>
                    <a:pt x="2095500" y="93819"/>
                    <a:pt x="2095500" y="209550"/>
                  </a:cubicBezTo>
                  <a:lnTo>
                    <a:pt x="2095500" y="1581150"/>
                  </a:lnTo>
                  <a:cubicBezTo>
                    <a:pt x="2095500" y="1696881"/>
                    <a:pt x="2001681" y="1790700"/>
                    <a:pt x="1885950" y="1790700"/>
                  </a:cubicBezTo>
                  <a:lnTo>
                    <a:pt x="209550" y="1790700"/>
                  </a:lnTo>
                  <a:cubicBezTo>
                    <a:pt x="93819" y="1790700"/>
                    <a:pt x="0" y="1696881"/>
                    <a:pt x="0" y="1581150"/>
                  </a:cubicBezTo>
                  <a:lnTo>
                    <a:pt x="0" y="209550"/>
                  </a:lnTo>
                  <a:cubicBezTo>
                    <a:pt x="0" y="93819"/>
                    <a:pt x="93819" y="0"/>
                    <a:pt x="209550" y="0"/>
                  </a:cubicBezTo>
                  <a:close/>
                </a:path>
              </a:pathLst>
            </a:custGeom>
            <a:solidFill>
              <a:srgbClr val="F8FAFC"/>
            </a:solidFill>
            <a:ln>
              <a:noFill/>
            </a:ln>
            <a:effectLst>
              <a:outerShdw blurRad="133350" dist="38100" dir="10799140" algn="tl" rotWithShape="0">
                <a:srgbClr val="0F172A">
                  <a:alpha val="10000"/>
                </a:srgbClr>
              </a:outerShdw>
            </a:effectLst>
          </p:spPr>
        </p:sp>
        <p:sp>
          <p:nvSpPr>
            <p:cNvPr id="45" name="TextBox 45"/>
            <p:cNvSpPr txBox="1"/>
            <p:nvPr/>
          </p:nvSpPr>
          <p:spPr>
            <a:xfrm>
              <a:off x="7391400" y="3952875"/>
              <a:ext cx="2384393" cy="3048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1A1A2E"/>
                  </a:solidFill>
                  <a:latin typeface="Arial"/>
                  <a:ea typeface="Microsoft YaHei"/>
                  <a:cs typeface="Arial"/>
                </a:rPr>
                <a:t>Post-process assets</a:t>
              </a:r>
            </a:p>
          </p:txBody>
        </p:sp>
        <p:sp>
          <p:nvSpPr>
            <p:cNvPr id="46" name="TextBox 46"/>
            <p:cNvSpPr txBox="1"/>
            <p:nvPr/>
          </p:nvSpPr>
          <p:spPr>
            <a:xfrm>
              <a:off x="7396162" y="4336256"/>
              <a:ext cx="257532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Icons, images, text flattening,</a:t>
              </a:r>
            </a:p>
          </p:txBody>
        </p:sp>
        <p:sp>
          <p:nvSpPr>
            <p:cNvPr id="47" name="TextBox 47"/>
            <p:cNvSpPr txBox="1"/>
            <p:nvPr/>
          </p:nvSpPr>
          <p:spPr>
            <a:xfrm>
              <a:off x="7396162" y="4545806"/>
              <a:ext cx="3429714"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and PowerPoint-safe cleanup happen here.</a:t>
              </a:r>
            </a:p>
          </p:txBody>
        </p:sp>
      </p:grpSp>
      <p:grpSp>
        <p:nvGrpSpPr>
          <p:cNvPr id="52" name="Group 52"/>
          <p:cNvGrpSpPr/>
          <p:nvPr/>
        </p:nvGrpSpPr>
        <p:grpSpPr>
          <a:xfrm>
            <a:off x="9982200" y="2495550"/>
            <a:ext cx="800100" cy="800100"/>
            <a:chOff x="9982200" y="2495550"/>
            <a:chExt cx="800100" cy="800100"/>
          </a:xfrm>
          <a:effectLst>
            <a:outerShdw blurRad="133350" dist="38100" dir="10799140" algn="tl" rotWithShape="0">
              <a:srgbClr val="0F172A">
                <a:alpha val="10000"/>
              </a:srgbClr>
            </a:outerShdw>
          </a:effectLst>
        </p:grpSpPr>
        <p:sp>
          <p:nvSpPr>
            <p:cNvPr id="49" name="Ellipse 49"/>
            <p:cNvSpPr/>
            <p:nvPr/>
          </p:nvSpPr>
          <p:spPr>
            <a:xfrm>
              <a:off x="9982200" y="2495550"/>
              <a:ext cx="800100" cy="800100"/>
            </a:xfrm>
            <a:prstGeom prst="ellipse">
              <a:avLst/>
            </a:prstGeom>
            <a:solidFill>
              <a:srgbClr val="EF4444"/>
            </a:solidFill>
            <a:ln>
              <a:noFill/>
            </a:ln>
            <a:effectLst>
              <a:outerShdw blurRad="133350" dist="38100" dir="10799140" algn="tl" rotWithShape="0">
                <a:srgbClr val="0F172A">
                  <a:alpha val="10000"/>
                </a:srgbClr>
              </a:outerShdw>
            </a:effectLst>
          </p:spPr>
        </p:sp>
        <p:sp>
          <p:nvSpPr>
            <p:cNvPr id="50" name="TextBox 50"/>
            <p:cNvSpPr txBox="1"/>
            <p:nvPr/>
          </p:nvSpPr>
          <p:spPr>
            <a:xfrm>
              <a:off x="10219001" y="2760345"/>
              <a:ext cx="326498" cy="1828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00" b="1" dirty="0">
                  <a:solidFill>
                    <a:srgbClr val="FFFFFF"/>
                  </a:solidFill>
                  <a:latin typeface="Arial"/>
                  <a:ea typeface="Microsoft YaHei"/>
                  <a:cs typeface="Arial"/>
                </a:rPr>
                <a:t>PPTX</a:t>
              </a:r>
            </a:p>
          </p:txBody>
        </p:sp>
        <p:sp>
          <p:nvSpPr>
            <p:cNvPr id="51" name="TextBox 51"/>
            <p:cNvSpPr txBox="1"/>
            <p:nvPr/>
          </p:nvSpPr>
          <p:spPr>
            <a:xfrm>
              <a:off x="10243154" y="2912745"/>
              <a:ext cx="278192" cy="1828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00" b="1" dirty="0">
                  <a:solidFill>
                    <a:srgbClr val="FFFFFF"/>
                  </a:solidFill>
                  <a:latin typeface="Arial"/>
                  <a:ea typeface="Microsoft YaHei"/>
                  <a:cs typeface="Arial"/>
                </a:rPr>
                <a:t>OUT</a:t>
              </a:r>
            </a:p>
          </p:txBody>
        </p:sp>
      </p:grpSp>
      <p:grpSp>
        <p:nvGrpSpPr>
          <p:cNvPr id="57" name="Group 57"/>
          <p:cNvGrpSpPr/>
          <p:nvPr/>
        </p:nvGrpSpPr>
        <p:grpSpPr>
          <a:xfrm>
            <a:off x="9334500" y="3752850"/>
            <a:ext cx="3189208" cy="1790700"/>
            <a:chOff x="9334500" y="3752850"/>
            <a:chExt cx="3189208" cy="1790700"/>
          </a:xfrm>
          <a:effectLst>
            <a:outerShdw blurRad="133350" dist="38100" dir="10799140" algn="tl" rotWithShape="0">
              <a:srgbClr val="0F172A">
                <a:alpha val="10000"/>
              </a:srgbClr>
            </a:outerShdw>
          </a:effectLst>
        </p:grpSpPr>
        <p:sp>
          <p:nvSpPr>
            <p:cNvPr id="53" name="Freeform 53"/>
            <p:cNvSpPr/>
            <p:nvPr/>
          </p:nvSpPr>
          <p:spPr>
            <a:xfrm>
              <a:off x="9334500" y="3752850"/>
              <a:ext cx="2286000" cy="1790700"/>
            </a:xfrm>
            <a:custGeom>
              <a:avLst/>
              <a:gdLst/>
              <a:ahLst/>
              <a:cxnLst/>
              <a:rect l="l" t="t" r="r" b="b"/>
              <a:pathLst>
                <a:path w="2286000" h="1790700">
                  <a:moveTo>
                    <a:pt x="209550" y="0"/>
                  </a:moveTo>
                  <a:lnTo>
                    <a:pt x="2076450" y="0"/>
                  </a:lnTo>
                  <a:cubicBezTo>
                    <a:pt x="2192181" y="0"/>
                    <a:pt x="2286000" y="93819"/>
                    <a:pt x="2286000" y="209550"/>
                  </a:cubicBezTo>
                  <a:lnTo>
                    <a:pt x="2286000" y="1581150"/>
                  </a:lnTo>
                  <a:cubicBezTo>
                    <a:pt x="2286000" y="1696881"/>
                    <a:pt x="2192181" y="1790700"/>
                    <a:pt x="2076450" y="1790700"/>
                  </a:cubicBezTo>
                  <a:lnTo>
                    <a:pt x="209550" y="1790700"/>
                  </a:lnTo>
                  <a:cubicBezTo>
                    <a:pt x="93819" y="1790700"/>
                    <a:pt x="0" y="1696881"/>
                    <a:pt x="0" y="1581150"/>
                  </a:cubicBezTo>
                  <a:lnTo>
                    <a:pt x="0" y="209550"/>
                  </a:lnTo>
                  <a:cubicBezTo>
                    <a:pt x="0" y="93819"/>
                    <a:pt x="93819" y="0"/>
                    <a:pt x="209550" y="0"/>
                  </a:cubicBezTo>
                  <a:close/>
                </a:path>
              </a:pathLst>
            </a:custGeom>
            <a:solidFill>
              <a:srgbClr val="F8FAFC"/>
            </a:solidFill>
            <a:ln>
              <a:noFill/>
            </a:ln>
            <a:effectLst>
              <a:outerShdw blurRad="133350" dist="38100" dir="10799140" algn="tl" rotWithShape="0">
                <a:srgbClr val="0F172A">
                  <a:alpha val="10000"/>
                </a:srgbClr>
              </a:outerShdw>
            </a:effectLst>
          </p:spPr>
        </p:sp>
        <p:sp>
          <p:nvSpPr>
            <p:cNvPr id="54" name="TextBox 54"/>
            <p:cNvSpPr txBox="1"/>
            <p:nvPr/>
          </p:nvSpPr>
          <p:spPr>
            <a:xfrm>
              <a:off x="9582150" y="3952875"/>
              <a:ext cx="2338387" cy="3048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1A1A2E"/>
                  </a:solidFill>
                  <a:latin typeface="Arial"/>
                  <a:ea typeface="Microsoft YaHei"/>
                  <a:cs typeface="Arial"/>
                </a:rPr>
                <a:t>Export editable deck</a:t>
              </a:r>
            </a:p>
          </p:txBody>
        </p:sp>
        <p:sp>
          <p:nvSpPr>
            <p:cNvPr id="55" name="TextBox 55"/>
            <p:cNvSpPr txBox="1"/>
            <p:nvPr/>
          </p:nvSpPr>
          <p:spPr>
            <a:xfrm>
              <a:off x="9586912" y="4336256"/>
              <a:ext cx="2936796"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The converter emits a native shapes</a:t>
              </a:r>
            </a:p>
          </p:txBody>
        </p:sp>
        <p:sp>
          <p:nvSpPr>
            <p:cNvPr id="56" name="TextBox 56"/>
            <p:cNvSpPr txBox="1"/>
            <p:nvPr/>
          </p:nvSpPr>
          <p:spPr>
            <a:xfrm>
              <a:off x="9586912" y="4545806"/>
              <a:ext cx="285464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deck plus an SVG reference backup.</a:t>
              </a:r>
            </a:p>
          </p:txBody>
        </p:sp>
      </p:grpSp>
      <p:sp>
        <p:nvSpPr>
          <p:cNvPr id="58" name="TextBox 58"/>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05</a:t>
            </a:r>
          </a:p>
        </p:txBody>
      </p:sp>
    </p:spTree>
  </p:cSld>
  <p:clrMapOvr>
    <a:masterClrMapping/>
  </p:clrMapOvr>
  <p:transition 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D97757"/>
          </a:solidFill>
          <a:ln>
            <a:noFill/>
          </a:ln>
        </p:spPr>
      </p:sp>
      <p:sp>
        <p:nvSpPr>
          <p:cNvPr id="4" name="TextBox 4"/>
          <p:cNvSpPr txBox="1"/>
          <p:nvPr/>
        </p:nvSpPr>
        <p:spPr>
          <a:xfrm>
            <a:off x="559118" y="390049"/>
            <a:ext cx="974209" cy="198120"/>
          </a:xfrm>
          <a:prstGeom prst="rect">
            <a:avLst/>
          </a:prstGeom>
          <a:noFill/>
          <a:ln>
            <a:noFill/>
          </a:ln>
        </p:spPr>
        <p:txBody>
          <a:bodyPr wrap="none" lIns="0" tIns="0" rIns="0" bIns="0" anchor="t" anchorCtr="0">
            <a:spAutoFit/>
          </a:bodyPr>
          <a:lstStyle/>
          <a:p>
            <a:pPr algn="l"/>
            <a:r>
              <a:rPr lang="zh-CN" sz="975" b="1" dirty="0">
                <a:solidFill>
                  <a:srgbClr val="D97757"/>
                </a:solidFill>
                <a:latin typeface="Arial"/>
                <a:ea typeface="Microsoft YaHei"/>
                <a:cs typeface="Arial"/>
              </a:rPr>
              <a:t>THREE STAGES</a:t>
            </a:r>
          </a:p>
        </p:txBody>
      </p:sp>
      <p:sp>
        <p:nvSpPr>
          <p:cNvPr id="5" name="TextBox 5"/>
          <p:cNvSpPr txBox="1"/>
          <p:nvPr/>
        </p:nvSpPr>
        <p:spPr>
          <a:xfrm>
            <a:off x="539115" y="543878"/>
            <a:ext cx="6106475" cy="518160"/>
          </a:xfrm>
          <a:prstGeom prst="rect">
            <a:avLst/>
          </a:prstGeom>
          <a:noFill/>
          <a:ln>
            <a:noFill/>
          </a:ln>
        </p:spPr>
        <p:txBody>
          <a:bodyPr wrap="none" lIns="0" tIns="0" rIns="0" bIns="0" anchor="t" anchorCtr="0">
            <a:spAutoFit/>
          </a:bodyPr>
          <a:lstStyle/>
          <a:p>
            <a:pPr algn="l"/>
            <a:r>
              <a:rPr lang="zh-CN" sz="2550" b="1" dirty="0">
                <a:solidFill>
                  <a:srgbClr val="1A1A2E"/>
                </a:solidFill>
                <a:latin typeface="Arial"/>
                <a:ea typeface="Microsoft YaHei"/>
                <a:cs typeface="Arial"/>
              </a:rPr>
              <a:t>Understand, generate, convert</a:t>
            </a:r>
          </a:p>
        </p:txBody>
      </p:sp>
      <p:sp>
        <p:nvSpPr>
          <p:cNvPr id="6" name="TextBox 6"/>
          <p:cNvSpPr txBox="1"/>
          <p:nvPr/>
        </p:nvSpPr>
        <p:spPr>
          <a:xfrm>
            <a:off x="556260" y="975360"/>
            <a:ext cx="6865620"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The technical design doc simplifies the entire engine into three distinct phases.</a:t>
            </a:r>
          </a:p>
        </p:txBody>
      </p:sp>
      <p:sp>
        <p:nvSpPr>
          <p:cNvPr id="7" name="Line 7"/>
          <p:cNvSpPr/>
          <p:nvPr/>
        </p:nvSpPr>
        <p:spPr>
          <a:xfrm>
            <a:off x="1524000" y="2457450"/>
            <a:ext cx="9144000" cy="9525"/>
          </a:xfrm>
          <a:custGeom>
            <a:avLst/>
            <a:gdLst/>
            <a:ahLst/>
            <a:cxnLst/>
            <a:rect l="l" t="t" r="r" b="b"/>
            <a:pathLst>
              <a:path w="9144000" h="9525">
                <a:moveTo>
                  <a:pt x="0" y="0"/>
                </a:moveTo>
                <a:lnTo>
                  <a:pt x="9144000" y="0"/>
                </a:lnTo>
              </a:path>
            </a:pathLst>
          </a:custGeom>
          <a:noFill/>
          <a:ln w="38100">
            <a:solidFill>
              <a:srgbClr val="D6DEEA"/>
            </a:solidFill>
          </a:ln>
        </p:spPr>
      </p:sp>
      <p:sp>
        <p:nvSpPr>
          <p:cNvPr id="8" name="Polygon 8"/>
          <p:cNvSpPr/>
          <p:nvPr/>
        </p:nvSpPr>
        <p:spPr>
          <a:xfrm>
            <a:off x="4324350" y="2343150"/>
            <a:ext cx="152400" cy="228600"/>
          </a:xfrm>
          <a:custGeom>
            <a:avLst/>
            <a:gdLst/>
            <a:ahLst/>
            <a:cxnLst/>
            <a:rect l="l" t="t" r="r" b="b"/>
            <a:pathLst>
              <a:path w="152400" h="228600">
                <a:moveTo>
                  <a:pt x="152400" y="114300"/>
                </a:moveTo>
                <a:lnTo>
                  <a:pt x="0" y="0"/>
                </a:lnTo>
                <a:lnTo>
                  <a:pt x="0" y="228600"/>
                </a:lnTo>
                <a:close/>
              </a:path>
            </a:pathLst>
          </a:custGeom>
          <a:solidFill>
            <a:srgbClr val="C7D0DE"/>
          </a:solidFill>
          <a:ln>
            <a:noFill/>
          </a:ln>
        </p:spPr>
      </p:sp>
      <p:sp>
        <p:nvSpPr>
          <p:cNvPr id="9" name="Polygon 9"/>
          <p:cNvSpPr/>
          <p:nvPr/>
        </p:nvSpPr>
        <p:spPr>
          <a:xfrm>
            <a:off x="7372350" y="2343150"/>
            <a:ext cx="152400" cy="228600"/>
          </a:xfrm>
          <a:custGeom>
            <a:avLst/>
            <a:gdLst/>
            <a:ahLst/>
            <a:cxnLst/>
            <a:rect l="l" t="t" r="r" b="b"/>
            <a:pathLst>
              <a:path w="152400" h="228600">
                <a:moveTo>
                  <a:pt x="152400" y="114300"/>
                </a:moveTo>
                <a:lnTo>
                  <a:pt x="0" y="0"/>
                </a:lnTo>
                <a:lnTo>
                  <a:pt x="0" y="228600"/>
                </a:lnTo>
                <a:close/>
              </a:path>
            </a:pathLst>
          </a:custGeom>
          <a:solidFill>
            <a:srgbClr val="C7D0DE"/>
          </a:solidFill>
          <a:ln>
            <a:noFill/>
          </a:ln>
        </p:spPr>
      </p:sp>
      <p:grpSp>
        <p:nvGrpSpPr>
          <p:cNvPr id="19" name="Group 19"/>
          <p:cNvGrpSpPr/>
          <p:nvPr/>
        </p:nvGrpSpPr>
        <p:grpSpPr>
          <a:xfrm>
            <a:off x="857250" y="2038350"/>
            <a:ext cx="4005143" cy="3657600"/>
            <a:chOff x="857250" y="2038350"/>
            <a:chExt cx="4005143" cy="3657600"/>
          </a:xfrm>
          <a:effectLst>
            <a:outerShdw blurRad="152400" dist="38100" dir="10799140" algn="tl" rotWithShape="0">
              <a:srgbClr val="0F172A">
                <a:alpha val="10000"/>
              </a:srgbClr>
            </a:outerShdw>
          </a:effectLst>
        </p:grpSpPr>
        <p:sp>
          <p:nvSpPr>
            <p:cNvPr id="10" name="Ellipse 10"/>
            <p:cNvSpPr/>
            <p:nvPr/>
          </p:nvSpPr>
          <p:spPr>
            <a:xfrm>
              <a:off x="1676400" y="2038350"/>
              <a:ext cx="838200" cy="838200"/>
            </a:xfrm>
            <a:prstGeom prst="ellipse">
              <a:avLst/>
            </a:prstGeom>
            <a:solidFill>
              <a:srgbClr val="D97757"/>
            </a:solidFill>
            <a:ln>
              <a:noFill/>
            </a:ln>
            <a:effectLst>
              <a:outerShdw blurRad="152400" dist="38100" dir="10799140" algn="tl" rotWithShape="0">
                <a:srgbClr val="0F172A">
                  <a:alpha val="10000"/>
                </a:srgbClr>
              </a:outerShdw>
            </a:effectLst>
          </p:spPr>
        </p:sp>
        <p:sp>
          <p:nvSpPr>
            <p:cNvPr id="11" name="TextBox 11"/>
            <p:cNvSpPr txBox="1"/>
            <p:nvPr/>
          </p:nvSpPr>
          <p:spPr>
            <a:xfrm>
              <a:off x="1955325" y="2186940"/>
              <a:ext cx="280349"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800" b="1" dirty="0">
                  <a:solidFill>
                    <a:srgbClr val="FFFFFF"/>
                  </a:solidFill>
                  <a:latin typeface="Arial"/>
                  <a:ea typeface="Microsoft YaHei"/>
                  <a:cs typeface="Arial"/>
                </a:rPr>
                <a:t>01</a:t>
              </a:r>
            </a:p>
          </p:txBody>
        </p:sp>
        <p:sp>
          <p:nvSpPr>
            <p:cNvPr id="12" name="TextBox 12"/>
            <p:cNvSpPr txBox="1"/>
            <p:nvPr/>
          </p:nvSpPr>
          <p:spPr>
            <a:xfrm>
              <a:off x="1927830" y="2490788"/>
              <a:ext cx="335340" cy="1524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750" b="1" dirty="0">
                  <a:solidFill>
                    <a:srgbClr val="FFFFFF"/>
                  </a:solidFill>
                  <a:latin typeface="Arial"/>
                  <a:ea typeface="Microsoft YaHei"/>
                  <a:cs typeface="Arial"/>
                </a:rPr>
                <a:t>STAGE</a:t>
              </a:r>
            </a:p>
          </p:txBody>
        </p:sp>
        <p:sp>
          <p:nvSpPr>
            <p:cNvPr id="13" name="Freeform 13"/>
            <p:cNvSpPr/>
            <p:nvPr/>
          </p:nvSpPr>
          <p:spPr>
            <a:xfrm>
              <a:off x="857250" y="3219450"/>
              <a:ext cx="2476500" cy="2476500"/>
            </a:xfrm>
            <a:custGeom>
              <a:avLst/>
              <a:gdLst/>
              <a:ahLst/>
              <a:cxnLst/>
              <a:rect l="l" t="t" r="r" b="b"/>
              <a:pathLst>
                <a:path w="2476500" h="2476500">
                  <a:moveTo>
                    <a:pt x="228600" y="0"/>
                  </a:moveTo>
                  <a:lnTo>
                    <a:pt x="2247900" y="0"/>
                  </a:lnTo>
                  <a:cubicBezTo>
                    <a:pt x="2374152" y="0"/>
                    <a:pt x="2476500" y="102348"/>
                    <a:pt x="2476500" y="228600"/>
                  </a:cubicBezTo>
                  <a:lnTo>
                    <a:pt x="2476500" y="2247900"/>
                  </a:lnTo>
                  <a:cubicBezTo>
                    <a:pt x="2476500" y="2374152"/>
                    <a:pt x="2374152" y="2476500"/>
                    <a:pt x="2247900" y="2476500"/>
                  </a:cubicBezTo>
                  <a:lnTo>
                    <a:pt x="228600" y="2476500"/>
                  </a:lnTo>
                  <a:cubicBezTo>
                    <a:pt x="102348" y="2476500"/>
                    <a:pt x="0" y="2374152"/>
                    <a:pt x="0" y="2247900"/>
                  </a:cubicBezTo>
                  <a:lnTo>
                    <a:pt x="0" y="228600"/>
                  </a:lnTo>
                  <a:cubicBezTo>
                    <a:pt x="0" y="102348"/>
                    <a:pt x="102348" y="0"/>
                    <a:pt x="22860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14" name="TextBox 14"/>
            <p:cNvSpPr txBox="1"/>
            <p:nvPr/>
          </p:nvSpPr>
          <p:spPr>
            <a:xfrm>
              <a:off x="1122045" y="3441382"/>
              <a:ext cx="2837909"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A1A2E"/>
                  </a:solidFill>
                  <a:latin typeface="Arial"/>
                  <a:ea typeface="Microsoft YaHei"/>
                  <a:cs typeface="Arial"/>
                </a:rPr>
                <a:t>Content understanding</a:t>
              </a:r>
            </a:p>
          </p:txBody>
        </p:sp>
        <p:sp>
          <p:nvSpPr>
            <p:cNvPr id="15" name="TextBox 15"/>
            <p:cNvSpPr txBox="1"/>
            <p:nvPr/>
          </p:nvSpPr>
          <p:spPr>
            <a:xfrm>
              <a:off x="1128712" y="3840956"/>
              <a:ext cx="3709035"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Source files are transformed into structured</a:t>
              </a:r>
            </a:p>
          </p:txBody>
        </p:sp>
        <p:sp>
          <p:nvSpPr>
            <p:cNvPr id="16" name="TextBox 16"/>
            <p:cNvSpPr txBox="1"/>
            <p:nvPr/>
          </p:nvSpPr>
          <p:spPr>
            <a:xfrm>
              <a:off x="1128712" y="4050506"/>
              <a:ext cx="3733681"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text, then interpreted into a slide narrative.</a:t>
              </a:r>
            </a:p>
          </p:txBody>
        </p:sp>
        <p:sp>
          <p:nvSpPr>
            <p:cNvPr id="17" name="TextBox 17"/>
            <p:cNvSpPr txBox="1"/>
            <p:nvPr/>
          </p:nvSpPr>
          <p:spPr>
            <a:xfrm>
              <a:off x="1128712" y="4336256"/>
              <a:ext cx="3175040"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The strategist defines the deck before</a:t>
              </a:r>
            </a:p>
          </p:txBody>
        </p:sp>
        <p:sp>
          <p:nvSpPr>
            <p:cNvPr id="18" name="TextBox 18"/>
            <p:cNvSpPr txBox="1"/>
            <p:nvPr/>
          </p:nvSpPr>
          <p:spPr>
            <a:xfrm>
              <a:off x="1128712" y="4545806"/>
              <a:ext cx="1950958"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visual execution begins.</a:t>
              </a:r>
            </a:p>
          </p:txBody>
        </p:sp>
      </p:grpSp>
      <p:grpSp>
        <p:nvGrpSpPr>
          <p:cNvPr id="28" name="Group 28"/>
          <p:cNvGrpSpPr/>
          <p:nvPr/>
        </p:nvGrpSpPr>
        <p:grpSpPr>
          <a:xfrm>
            <a:off x="3905250" y="2038350"/>
            <a:ext cx="4251602" cy="3657600"/>
            <a:chOff x="3905250" y="2038350"/>
            <a:chExt cx="4251602" cy="3657600"/>
          </a:xfrm>
          <a:effectLst>
            <a:outerShdw blurRad="152400" dist="38100" dir="10799140" algn="tl" rotWithShape="0">
              <a:srgbClr val="0F172A">
                <a:alpha val="10000"/>
              </a:srgbClr>
            </a:outerShdw>
          </a:effectLst>
        </p:grpSpPr>
        <p:sp>
          <p:nvSpPr>
            <p:cNvPr id="20" name="Ellipse 20"/>
            <p:cNvSpPr/>
            <p:nvPr/>
          </p:nvSpPr>
          <p:spPr>
            <a:xfrm>
              <a:off x="4724400" y="2038350"/>
              <a:ext cx="838200" cy="838200"/>
            </a:xfrm>
            <a:prstGeom prst="ellipse">
              <a:avLst/>
            </a:prstGeom>
            <a:solidFill>
              <a:srgbClr val="4A90D9"/>
            </a:solidFill>
            <a:ln>
              <a:noFill/>
            </a:ln>
            <a:effectLst>
              <a:outerShdw blurRad="152400" dist="38100" dir="10799140" algn="tl" rotWithShape="0">
                <a:srgbClr val="0F172A">
                  <a:alpha val="10000"/>
                </a:srgbClr>
              </a:outerShdw>
            </a:effectLst>
          </p:spPr>
        </p:sp>
        <p:sp>
          <p:nvSpPr>
            <p:cNvPr id="21" name="TextBox 21"/>
            <p:cNvSpPr txBox="1"/>
            <p:nvPr/>
          </p:nvSpPr>
          <p:spPr>
            <a:xfrm>
              <a:off x="4968821" y="2186940"/>
              <a:ext cx="349358"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800" b="1" dirty="0">
                  <a:solidFill>
                    <a:srgbClr val="FFFFFF"/>
                  </a:solidFill>
                  <a:latin typeface="Arial"/>
                  <a:ea typeface="Microsoft YaHei"/>
                  <a:cs typeface="Arial"/>
                </a:rPr>
                <a:t>02</a:t>
              </a:r>
            </a:p>
          </p:txBody>
        </p:sp>
        <p:sp>
          <p:nvSpPr>
            <p:cNvPr id="22" name="TextBox 22"/>
            <p:cNvSpPr txBox="1"/>
            <p:nvPr/>
          </p:nvSpPr>
          <p:spPr>
            <a:xfrm>
              <a:off x="4975830" y="2490788"/>
              <a:ext cx="335340" cy="1524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750" b="1" dirty="0">
                  <a:solidFill>
                    <a:srgbClr val="FFFFFF"/>
                  </a:solidFill>
                  <a:latin typeface="Arial"/>
                  <a:ea typeface="Microsoft YaHei"/>
                  <a:cs typeface="Arial"/>
                </a:rPr>
                <a:t>STAGE</a:t>
              </a:r>
            </a:p>
          </p:txBody>
        </p:sp>
        <p:sp>
          <p:nvSpPr>
            <p:cNvPr id="23" name="Freeform 23"/>
            <p:cNvSpPr/>
            <p:nvPr/>
          </p:nvSpPr>
          <p:spPr>
            <a:xfrm>
              <a:off x="3905250" y="3219450"/>
              <a:ext cx="2476500" cy="2476500"/>
            </a:xfrm>
            <a:custGeom>
              <a:avLst/>
              <a:gdLst/>
              <a:ahLst/>
              <a:cxnLst/>
              <a:rect l="l" t="t" r="r" b="b"/>
              <a:pathLst>
                <a:path w="2476500" h="2476500">
                  <a:moveTo>
                    <a:pt x="228600" y="0"/>
                  </a:moveTo>
                  <a:lnTo>
                    <a:pt x="2247900" y="0"/>
                  </a:lnTo>
                  <a:cubicBezTo>
                    <a:pt x="2374152" y="0"/>
                    <a:pt x="2476500" y="102348"/>
                    <a:pt x="2476500" y="228600"/>
                  </a:cubicBezTo>
                  <a:lnTo>
                    <a:pt x="2476500" y="2247900"/>
                  </a:lnTo>
                  <a:cubicBezTo>
                    <a:pt x="2476500" y="2374152"/>
                    <a:pt x="2374152" y="2476500"/>
                    <a:pt x="2247900" y="2476500"/>
                  </a:cubicBezTo>
                  <a:lnTo>
                    <a:pt x="228600" y="2476500"/>
                  </a:lnTo>
                  <a:cubicBezTo>
                    <a:pt x="102348" y="2476500"/>
                    <a:pt x="0" y="2374152"/>
                    <a:pt x="0" y="2247900"/>
                  </a:cubicBezTo>
                  <a:lnTo>
                    <a:pt x="0" y="228600"/>
                  </a:lnTo>
                  <a:cubicBezTo>
                    <a:pt x="0" y="102348"/>
                    <a:pt x="102348" y="0"/>
                    <a:pt x="22860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24" name="TextBox 24"/>
            <p:cNvSpPr txBox="1"/>
            <p:nvPr/>
          </p:nvSpPr>
          <p:spPr>
            <a:xfrm>
              <a:off x="4170045" y="3441382"/>
              <a:ext cx="2445710"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A1A2E"/>
                  </a:solidFill>
                  <a:latin typeface="Arial"/>
                  <a:ea typeface="Microsoft YaHei"/>
                  <a:cs typeface="Arial"/>
                </a:rPr>
                <a:t>AI visual generation</a:t>
              </a:r>
            </a:p>
          </p:txBody>
        </p:sp>
        <p:sp>
          <p:nvSpPr>
            <p:cNvPr id="25" name="TextBox 25"/>
            <p:cNvSpPr txBox="1"/>
            <p:nvPr/>
          </p:nvSpPr>
          <p:spPr>
            <a:xfrm>
              <a:off x="4176712" y="3840956"/>
              <a:ext cx="3224332"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The executor authors each slide as SVG,</a:t>
              </a:r>
            </a:p>
          </p:txBody>
        </p:sp>
        <p:sp>
          <p:nvSpPr>
            <p:cNvPr id="26" name="TextBox 26"/>
            <p:cNvSpPr txBox="1"/>
            <p:nvPr/>
          </p:nvSpPr>
          <p:spPr>
            <a:xfrm>
              <a:off x="4176712" y="4050506"/>
              <a:ext cx="3980140"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keeping the absolute-coordinate canvas mindset.</a:t>
              </a:r>
            </a:p>
          </p:txBody>
        </p:sp>
        <p:sp>
          <p:nvSpPr>
            <p:cNvPr id="27" name="TextBox 27"/>
            <p:cNvSpPr txBox="1"/>
            <p:nvPr/>
          </p:nvSpPr>
          <p:spPr>
            <a:xfrm>
              <a:off x="4176712" y="4336256"/>
              <a:ext cx="2994303"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This stage creates the design draft.</a:t>
              </a:r>
            </a:p>
          </p:txBody>
        </p:sp>
      </p:grpSp>
      <p:grpSp>
        <p:nvGrpSpPr>
          <p:cNvPr id="37" name="Group 37"/>
          <p:cNvGrpSpPr/>
          <p:nvPr/>
        </p:nvGrpSpPr>
        <p:grpSpPr>
          <a:xfrm>
            <a:off x="6953250" y="2038350"/>
            <a:ext cx="4021574" cy="3657600"/>
            <a:chOff x="6953250" y="2038350"/>
            <a:chExt cx="4021574" cy="3657600"/>
          </a:xfrm>
          <a:effectLst>
            <a:outerShdw blurRad="152400" dist="38100" dir="10799140" algn="tl" rotWithShape="0">
              <a:srgbClr val="0F172A">
                <a:alpha val="10000"/>
              </a:srgbClr>
            </a:outerShdw>
          </a:effectLst>
        </p:grpSpPr>
        <p:sp>
          <p:nvSpPr>
            <p:cNvPr id="29" name="Ellipse 29"/>
            <p:cNvSpPr/>
            <p:nvPr/>
          </p:nvSpPr>
          <p:spPr>
            <a:xfrm>
              <a:off x="7772400" y="2038350"/>
              <a:ext cx="838200" cy="838200"/>
            </a:xfrm>
            <a:prstGeom prst="ellipse">
              <a:avLst/>
            </a:prstGeom>
            <a:solidFill>
              <a:srgbClr val="10B981"/>
            </a:solidFill>
            <a:ln>
              <a:noFill/>
            </a:ln>
            <a:effectLst>
              <a:outerShdw blurRad="152400" dist="38100" dir="10799140" algn="tl" rotWithShape="0">
                <a:srgbClr val="0F172A">
                  <a:alpha val="10000"/>
                </a:srgbClr>
              </a:outerShdw>
            </a:effectLst>
          </p:spPr>
        </p:sp>
        <p:sp>
          <p:nvSpPr>
            <p:cNvPr id="30" name="TextBox 30"/>
            <p:cNvSpPr txBox="1"/>
            <p:nvPr/>
          </p:nvSpPr>
          <p:spPr>
            <a:xfrm>
              <a:off x="8016821" y="2186940"/>
              <a:ext cx="349358"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800" b="1" dirty="0">
                  <a:solidFill>
                    <a:srgbClr val="FFFFFF"/>
                  </a:solidFill>
                  <a:latin typeface="Arial"/>
                  <a:ea typeface="Microsoft YaHei"/>
                  <a:cs typeface="Arial"/>
                </a:rPr>
                <a:t>03</a:t>
              </a:r>
            </a:p>
          </p:txBody>
        </p:sp>
        <p:sp>
          <p:nvSpPr>
            <p:cNvPr id="31" name="TextBox 31"/>
            <p:cNvSpPr txBox="1"/>
            <p:nvPr/>
          </p:nvSpPr>
          <p:spPr>
            <a:xfrm>
              <a:off x="8023830" y="2490788"/>
              <a:ext cx="335340" cy="1524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750" b="1" dirty="0">
                  <a:solidFill>
                    <a:srgbClr val="FFFFFF"/>
                  </a:solidFill>
                  <a:latin typeface="Arial"/>
                  <a:ea typeface="Microsoft YaHei"/>
                  <a:cs typeface="Arial"/>
                </a:rPr>
                <a:t>STAGE</a:t>
              </a:r>
            </a:p>
          </p:txBody>
        </p:sp>
        <p:sp>
          <p:nvSpPr>
            <p:cNvPr id="32" name="Freeform 32"/>
            <p:cNvSpPr/>
            <p:nvPr/>
          </p:nvSpPr>
          <p:spPr>
            <a:xfrm>
              <a:off x="6953250" y="3219450"/>
              <a:ext cx="2476500" cy="2476500"/>
            </a:xfrm>
            <a:custGeom>
              <a:avLst/>
              <a:gdLst/>
              <a:ahLst/>
              <a:cxnLst/>
              <a:rect l="l" t="t" r="r" b="b"/>
              <a:pathLst>
                <a:path w="2476500" h="2476500">
                  <a:moveTo>
                    <a:pt x="228600" y="0"/>
                  </a:moveTo>
                  <a:lnTo>
                    <a:pt x="2247900" y="0"/>
                  </a:lnTo>
                  <a:cubicBezTo>
                    <a:pt x="2374152" y="0"/>
                    <a:pt x="2476500" y="102348"/>
                    <a:pt x="2476500" y="228600"/>
                  </a:cubicBezTo>
                  <a:lnTo>
                    <a:pt x="2476500" y="2247900"/>
                  </a:lnTo>
                  <a:cubicBezTo>
                    <a:pt x="2476500" y="2374152"/>
                    <a:pt x="2374152" y="2476500"/>
                    <a:pt x="2247900" y="2476500"/>
                  </a:cubicBezTo>
                  <a:lnTo>
                    <a:pt x="228600" y="2476500"/>
                  </a:lnTo>
                  <a:cubicBezTo>
                    <a:pt x="102348" y="2476500"/>
                    <a:pt x="0" y="2374152"/>
                    <a:pt x="0" y="2247900"/>
                  </a:cubicBezTo>
                  <a:lnTo>
                    <a:pt x="0" y="228600"/>
                  </a:lnTo>
                  <a:cubicBezTo>
                    <a:pt x="0" y="102348"/>
                    <a:pt x="102348" y="0"/>
                    <a:pt x="22860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33" name="TextBox 33"/>
            <p:cNvSpPr txBox="1"/>
            <p:nvPr/>
          </p:nvSpPr>
          <p:spPr>
            <a:xfrm>
              <a:off x="7218045" y="3441382"/>
              <a:ext cx="2850561"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A1A2E"/>
                  </a:solidFill>
                  <a:latin typeface="Arial"/>
                  <a:ea typeface="Microsoft YaHei"/>
                  <a:cs typeface="Arial"/>
                </a:rPr>
                <a:t>Engineering conversion</a:t>
              </a:r>
            </a:p>
          </p:txBody>
        </p:sp>
        <p:sp>
          <p:nvSpPr>
            <p:cNvPr id="34" name="TextBox 34"/>
            <p:cNvSpPr txBox="1"/>
            <p:nvPr/>
          </p:nvSpPr>
          <p:spPr>
            <a:xfrm>
              <a:off x="7224712" y="3840956"/>
              <a:ext cx="3396853"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Post-processing and export translate the</a:t>
              </a:r>
            </a:p>
          </p:txBody>
        </p:sp>
        <p:sp>
          <p:nvSpPr>
            <p:cNvPr id="35" name="TextBox 35"/>
            <p:cNvSpPr txBox="1"/>
            <p:nvPr/>
          </p:nvSpPr>
          <p:spPr>
            <a:xfrm>
              <a:off x="7224712" y="4050506"/>
              <a:ext cx="3750112"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vector draft into editable DrawingML objects.</a:t>
              </a:r>
            </a:p>
          </p:txBody>
        </p:sp>
        <p:sp>
          <p:nvSpPr>
            <p:cNvPr id="36" name="TextBox 36"/>
            <p:cNvSpPr txBox="1"/>
            <p:nvPr/>
          </p:nvSpPr>
          <p:spPr>
            <a:xfrm>
              <a:off x="7224712" y="4336256"/>
              <a:ext cx="3363992"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This stage creates the delivery artifact.</a:t>
              </a:r>
            </a:p>
          </p:txBody>
        </p:sp>
      </p:grpSp>
      <p:grpSp>
        <p:nvGrpSpPr>
          <p:cNvPr id="43" name="Group 43"/>
          <p:cNvGrpSpPr/>
          <p:nvPr/>
        </p:nvGrpSpPr>
        <p:grpSpPr>
          <a:xfrm>
            <a:off x="10001250" y="3219450"/>
            <a:ext cx="1627465" cy="2476500"/>
            <a:chOff x="10001250" y="3219450"/>
            <a:chExt cx="1627465" cy="2476500"/>
          </a:xfrm>
          <a:effectLst>
            <a:outerShdw blurRad="152400" dist="38100" dir="10799140" algn="tl" rotWithShape="0">
              <a:srgbClr val="0F172A">
                <a:alpha val="10000"/>
              </a:srgbClr>
            </a:outerShdw>
          </a:effectLst>
        </p:grpSpPr>
        <p:sp>
          <p:nvSpPr>
            <p:cNvPr id="38" name="Freeform 38"/>
            <p:cNvSpPr/>
            <p:nvPr/>
          </p:nvSpPr>
          <p:spPr>
            <a:xfrm>
              <a:off x="10001250" y="3219450"/>
              <a:ext cx="1619250" cy="2476500"/>
            </a:xfrm>
            <a:custGeom>
              <a:avLst/>
              <a:gdLst/>
              <a:ahLst/>
              <a:cxnLst/>
              <a:rect l="l" t="t" r="r" b="b"/>
              <a:pathLst>
                <a:path w="1619250" h="2476500">
                  <a:moveTo>
                    <a:pt x="228600" y="0"/>
                  </a:moveTo>
                  <a:lnTo>
                    <a:pt x="1390650" y="0"/>
                  </a:lnTo>
                  <a:cubicBezTo>
                    <a:pt x="1516902" y="0"/>
                    <a:pt x="1619250" y="102348"/>
                    <a:pt x="1619250" y="228600"/>
                  </a:cubicBezTo>
                  <a:lnTo>
                    <a:pt x="1619250" y="2247900"/>
                  </a:lnTo>
                  <a:cubicBezTo>
                    <a:pt x="1619250" y="2374152"/>
                    <a:pt x="1516902" y="2476500"/>
                    <a:pt x="1390650" y="2476500"/>
                  </a:cubicBezTo>
                  <a:lnTo>
                    <a:pt x="228600" y="2476500"/>
                  </a:lnTo>
                  <a:cubicBezTo>
                    <a:pt x="102348" y="2476500"/>
                    <a:pt x="0" y="2374152"/>
                    <a:pt x="0" y="2247900"/>
                  </a:cubicBezTo>
                  <a:lnTo>
                    <a:pt x="0" y="228600"/>
                  </a:lnTo>
                  <a:cubicBezTo>
                    <a:pt x="0" y="102348"/>
                    <a:pt x="102348" y="0"/>
                    <a:pt x="22860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39" name="TextBox 39"/>
            <p:cNvSpPr txBox="1"/>
            <p:nvPr/>
          </p:nvSpPr>
          <p:spPr>
            <a:xfrm>
              <a:off x="10267950" y="3476625"/>
              <a:ext cx="1360765" cy="3048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1A1A2E"/>
                  </a:solidFill>
                  <a:latin typeface="Arial"/>
                  <a:ea typeface="Microsoft YaHei"/>
                  <a:cs typeface="Arial"/>
                </a:rPr>
                <a:t>Output pair</a:t>
              </a:r>
            </a:p>
          </p:txBody>
        </p:sp>
        <p:sp>
          <p:nvSpPr>
            <p:cNvPr id="40" name="TextBox 40"/>
            <p:cNvSpPr txBox="1"/>
            <p:nvPr/>
          </p:nvSpPr>
          <p:spPr>
            <a:xfrm>
              <a:off x="10272712" y="3917156"/>
              <a:ext cx="940475"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Native PPTX</a:t>
              </a:r>
            </a:p>
          </p:txBody>
        </p:sp>
        <p:sp>
          <p:nvSpPr>
            <p:cNvPr id="41" name="TextBox 41"/>
            <p:cNvSpPr txBox="1"/>
            <p:nvPr/>
          </p:nvSpPr>
          <p:spPr>
            <a:xfrm>
              <a:off x="10272712" y="4145756"/>
              <a:ext cx="891183"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SVG backup</a:t>
              </a:r>
            </a:p>
          </p:txBody>
        </p:sp>
        <p:sp>
          <p:nvSpPr>
            <p:cNvPr id="42" name="TextBox 42"/>
            <p:cNvSpPr txBox="1"/>
            <p:nvPr/>
          </p:nvSpPr>
          <p:spPr>
            <a:xfrm>
              <a:off x="10272712" y="4374356"/>
              <a:ext cx="1162288"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Speaker notes</a:t>
              </a:r>
            </a:p>
          </p:txBody>
        </p:sp>
      </p:grpSp>
      <p:sp>
        <p:nvSpPr>
          <p:cNvPr id="44" name="TextBox 44"/>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06</a:t>
            </a:r>
          </a:p>
        </p:txBody>
      </p:sp>
    </p:spTree>
  </p:cSld>
  <p:clrMapOvr>
    <a:masterClrMapping/>
  </p:clrMapOvr>
  <p:transition 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D97757"/>
          </a:solidFill>
          <a:ln>
            <a:noFill/>
          </a:ln>
        </p:spPr>
      </p:sp>
      <p:sp>
        <p:nvSpPr>
          <p:cNvPr id="4" name="TextBox 4"/>
          <p:cNvSpPr txBox="1"/>
          <p:nvPr/>
        </p:nvSpPr>
        <p:spPr>
          <a:xfrm>
            <a:off x="559118" y="390049"/>
            <a:ext cx="974209" cy="198120"/>
          </a:xfrm>
          <a:prstGeom prst="rect">
            <a:avLst/>
          </a:prstGeom>
          <a:noFill/>
          <a:ln>
            <a:noFill/>
          </a:ln>
        </p:spPr>
        <p:txBody>
          <a:bodyPr wrap="none" lIns="0" tIns="0" rIns="0" bIns="0" anchor="t" anchorCtr="0">
            <a:spAutoFit/>
          </a:bodyPr>
          <a:lstStyle/>
          <a:p>
            <a:pPr algn="l"/>
            <a:r>
              <a:rPr lang="zh-CN" sz="975" b="1" dirty="0">
                <a:solidFill>
                  <a:srgbClr val="D97757"/>
                </a:solidFill>
                <a:latin typeface="Arial"/>
                <a:ea typeface="Microsoft YaHei"/>
                <a:cs typeface="Arial"/>
              </a:rPr>
              <a:t>SVG STRATEGY</a:t>
            </a:r>
          </a:p>
        </p:txBody>
      </p:sp>
      <p:sp>
        <p:nvSpPr>
          <p:cNvPr id="5" name="TextBox 5"/>
          <p:cNvSpPr txBox="1"/>
          <p:nvPr/>
        </p:nvSpPr>
        <p:spPr>
          <a:xfrm>
            <a:off x="539115" y="543878"/>
            <a:ext cx="6575734" cy="518160"/>
          </a:xfrm>
          <a:prstGeom prst="rect">
            <a:avLst/>
          </a:prstGeom>
          <a:noFill/>
          <a:ln>
            <a:noFill/>
          </a:ln>
        </p:spPr>
        <p:txBody>
          <a:bodyPr wrap="none" lIns="0" tIns="0" rIns="0" bIns="0" anchor="t" anchorCtr="0">
            <a:spAutoFit/>
          </a:bodyPr>
          <a:lstStyle/>
          <a:p>
            <a:pPr algn="l"/>
            <a:r>
              <a:rPr lang="zh-CN" sz="2550" b="1" dirty="0">
                <a:solidFill>
                  <a:srgbClr val="1A1A2E"/>
                </a:solidFill>
                <a:latin typeface="Arial"/>
                <a:ea typeface="Microsoft YaHei"/>
                <a:cs typeface="Arial"/>
              </a:rPr>
              <a:t>SVG is the practical bridge format</a:t>
            </a:r>
          </a:p>
        </p:txBody>
      </p:sp>
      <p:sp>
        <p:nvSpPr>
          <p:cNvPr id="6" name="TextBox 6"/>
          <p:cNvSpPr txBox="1"/>
          <p:nvPr/>
        </p:nvSpPr>
        <p:spPr>
          <a:xfrm>
            <a:off x="556260" y="975360"/>
            <a:ext cx="6278499"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The technical design doc explains the choice by elimination, not by trend.</a:t>
            </a:r>
          </a:p>
        </p:txBody>
      </p:sp>
      <p:grpSp>
        <p:nvGrpSpPr>
          <p:cNvPr id="34" name="Group 34"/>
          <p:cNvGrpSpPr/>
          <p:nvPr/>
        </p:nvGrpSpPr>
        <p:grpSpPr>
          <a:xfrm>
            <a:off x="571500" y="1524000"/>
            <a:ext cx="14670762" cy="4514850"/>
            <a:chOff x="571500" y="1524000"/>
            <a:chExt cx="14670762" cy="4514850"/>
          </a:xfrm>
          <a:effectLst>
            <a:outerShdw blurRad="133350" dist="38100" dir="10799140" algn="tl" rotWithShape="0">
              <a:srgbClr val="0F172A">
                <a:alpha val="10000"/>
              </a:srgbClr>
            </a:outerShdw>
          </a:effectLst>
        </p:grpSpPr>
        <p:sp>
          <p:nvSpPr>
            <p:cNvPr id="7" name="Freeform 7"/>
            <p:cNvSpPr/>
            <p:nvPr/>
          </p:nvSpPr>
          <p:spPr>
            <a:xfrm>
              <a:off x="571500" y="1524000"/>
              <a:ext cx="11049000" cy="4514850"/>
            </a:xfrm>
            <a:custGeom>
              <a:avLst/>
              <a:gdLst/>
              <a:ahLst/>
              <a:cxnLst/>
              <a:rect l="l" t="t" r="r" b="b"/>
              <a:pathLst>
                <a:path w="11049000" h="4514850">
                  <a:moveTo>
                    <a:pt x="228600" y="0"/>
                  </a:moveTo>
                  <a:lnTo>
                    <a:pt x="10820400" y="0"/>
                  </a:lnTo>
                  <a:cubicBezTo>
                    <a:pt x="10946652" y="0"/>
                    <a:pt x="11049000" y="102348"/>
                    <a:pt x="11049000" y="228600"/>
                  </a:cubicBezTo>
                  <a:lnTo>
                    <a:pt x="11049000" y="4286250"/>
                  </a:lnTo>
                  <a:cubicBezTo>
                    <a:pt x="11049000" y="4412502"/>
                    <a:pt x="10946652" y="4514850"/>
                    <a:pt x="10820400" y="4514850"/>
                  </a:cubicBezTo>
                  <a:lnTo>
                    <a:pt x="228600" y="4514850"/>
                  </a:lnTo>
                  <a:cubicBezTo>
                    <a:pt x="102348" y="4514850"/>
                    <a:pt x="0" y="4412502"/>
                    <a:pt x="0" y="4286250"/>
                  </a:cubicBezTo>
                  <a:lnTo>
                    <a:pt x="0" y="228600"/>
                  </a:lnTo>
                  <a:cubicBezTo>
                    <a:pt x="0" y="102348"/>
                    <a:pt x="102348" y="0"/>
                    <a:pt x="228600" y="0"/>
                  </a:cubicBezTo>
                  <a:close/>
                </a:path>
              </a:pathLst>
            </a:custGeom>
            <a:solidFill>
              <a:srgbClr val="F8FAFC"/>
            </a:solidFill>
            <a:ln>
              <a:noFill/>
            </a:ln>
            <a:effectLst>
              <a:outerShdw blurRad="133350" dist="38100" dir="10799140" algn="tl" rotWithShape="0">
                <a:srgbClr val="0F172A">
                  <a:alpha val="10000"/>
                </a:srgbClr>
              </a:outerShdw>
            </a:effectLst>
          </p:spPr>
        </p:sp>
        <p:sp>
          <p:nvSpPr>
            <p:cNvPr id="8" name="Freeform 8"/>
            <p:cNvSpPr/>
            <p:nvPr/>
          </p:nvSpPr>
          <p:spPr>
            <a:xfrm>
              <a:off x="571500" y="1524000"/>
              <a:ext cx="11049000" cy="704850"/>
            </a:xfrm>
            <a:custGeom>
              <a:avLst/>
              <a:gdLst/>
              <a:ahLst/>
              <a:cxnLst/>
              <a:rect l="l" t="t" r="r" b="b"/>
              <a:pathLst>
                <a:path w="11049000" h="704850">
                  <a:moveTo>
                    <a:pt x="228600" y="0"/>
                  </a:moveTo>
                  <a:lnTo>
                    <a:pt x="10820400" y="0"/>
                  </a:lnTo>
                  <a:cubicBezTo>
                    <a:pt x="10946652" y="0"/>
                    <a:pt x="11049000" y="102348"/>
                    <a:pt x="11049000" y="228600"/>
                  </a:cubicBezTo>
                  <a:lnTo>
                    <a:pt x="11049000" y="476250"/>
                  </a:lnTo>
                  <a:cubicBezTo>
                    <a:pt x="11049000" y="602502"/>
                    <a:pt x="10946652" y="704850"/>
                    <a:pt x="10820400" y="704850"/>
                  </a:cubicBezTo>
                  <a:lnTo>
                    <a:pt x="228600" y="704850"/>
                  </a:lnTo>
                  <a:cubicBezTo>
                    <a:pt x="102348" y="704850"/>
                    <a:pt x="0" y="602502"/>
                    <a:pt x="0" y="476250"/>
                  </a:cubicBezTo>
                  <a:lnTo>
                    <a:pt x="0" y="228600"/>
                  </a:lnTo>
                  <a:cubicBezTo>
                    <a:pt x="0" y="102348"/>
                    <a:pt x="102348" y="0"/>
                    <a:pt x="228600" y="0"/>
                  </a:cubicBezTo>
                  <a:close/>
                </a:path>
              </a:pathLst>
            </a:custGeom>
            <a:solidFill>
              <a:srgbClr val="F8FAFC"/>
            </a:solidFill>
            <a:ln>
              <a:noFill/>
            </a:ln>
            <a:effectLst>
              <a:outerShdw blurRad="133350" dist="38100" dir="10799140" algn="tl" rotWithShape="0">
                <a:srgbClr val="0F172A">
                  <a:alpha val="10000"/>
                </a:srgbClr>
              </a:outerShdw>
            </a:effectLst>
          </p:spPr>
        </p:sp>
        <p:sp>
          <p:nvSpPr>
            <p:cNvPr id="9" name="TextBox 9"/>
            <p:cNvSpPr txBox="1"/>
            <p:nvPr/>
          </p:nvSpPr>
          <p:spPr>
            <a:xfrm>
              <a:off x="1011555" y="1806892"/>
              <a:ext cx="945204"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64748B"/>
                  </a:solidFill>
                  <a:latin typeface="Arial"/>
                  <a:ea typeface="Microsoft YaHei"/>
                  <a:cs typeface="Arial"/>
                </a:rPr>
                <a:t>Approach</a:t>
              </a:r>
            </a:p>
          </p:txBody>
        </p:sp>
        <p:sp>
          <p:nvSpPr>
            <p:cNvPr id="10" name="TextBox 10"/>
            <p:cNvSpPr txBox="1"/>
            <p:nvPr/>
          </p:nvSpPr>
          <p:spPr>
            <a:xfrm>
              <a:off x="4040505" y="1806892"/>
              <a:ext cx="1814713"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64748B"/>
                  </a:solidFill>
                  <a:latin typeface="Arial"/>
                  <a:ea typeface="Microsoft YaHei"/>
                  <a:cs typeface="Arial"/>
                </a:rPr>
                <a:t>Why it falls short</a:t>
              </a:r>
            </a:p>
          </p:txBody>
        </p:sp>
        <p:sp>
          <p:nvSpPr>
            <p:cNvPr id="11" name="TextBox 11"/>
            <p:cNvSpPr txBox="1"/>
            <p:nvPr/>
          </p:nvSpPr>
          <p:spPr>
            <a:xfrm>
              <a:off x="8841105" y="1806892"/>
              <a:ext cx="1845766"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D97757"/>
                  </a:solidFill>
                  <a:latin typeface="Arial"/>
                  <a:ea typeface="Microsoft YaHei"/>
                  <a:cs typeface="Arial"/>
                </a:rPr>
                <a:t>Why SVG wins here</a:t>
              </a:r>
            </a:p>
          </p:txBody>
        </p:sp>
        <p:sp>
          <p:nvSpPr>
            <p:cNvPr id="12" name="Line 12"/>
            <p:cNvSpPr/>
            <p:nvPr/>
          </p:nvSpPr>
          <p:spPr>
            <a:xfrm>
              <a:off x="3429000" y="1524000"/>
              <a:ext cx="9525" cy="4514850"/>
            </a:xfrm>
            <a:custGeom>
              <a:avLst/>
              <a:gdLst/>
              <a:ahLst/>
              <a:cxnLst/>
              <a:rect l="l" t="t" r="r" b="b"/>
              <a:pathLst>
                <a:path w="9525" h="4514850">
                  <a:moveTo>
                    <a:pt x="0" y="0"/>
                  </a:moveTo>
                  <a:lnTo>
                    <a:pt x="0" y="4514850"/>
                  </a:lnTo>
                </a:path>
              </a:pathLst>
            </a:custGeom>
            <a:noFill/>
            <a:ln w="19050">
              <a:solidFill>
                <a:srgbClr val="D6DEEA"/>
              </a:solidFill>
            </a:ln>
          </p:spPr>
        </p:sp>
        <p:sp>
          <p:nvSpPr>
            <p:cNvPr id="13" name="Line 13"/>
            <p:cNvSpPr/>
            <p:nvPr/>
          </p:nvSpPr>
          <p:spPr>
            <a:xfrm>
              <a:off x="8096250" y="1524000"/>
              <a:ext cx="9525" cy="4514850"/>
            </a:xfrm>
            <a:custGeom>
              <a:avLst/>
              <a:gdLst/>
              <a:ahLst/>
              <a:cxnLst/>
              <a:rect l="l" t="t" r="r" b="b"/>
              <a:pathLst>
                <a:path w="9525" h="4514850">
                  <a:moveTo>
                    <a:pt x="0" y="0"/>
                  </a:moveTo>
                  <a:lnTo>
                    <a:pt x="0" y="4514850"/>
                  </a:lnTo>
                </a:path>
              </a:pathLst>
            </a:custGeom>
            <a:noFill/>
            <a:ln w="19050">
              <a:solidFill>
                <a:srgbClr val="D6DEEA"/>
              </a:solidFill>
            </a:ln>
          </p:spPr>
        </p:sp>
        <p:sp>
          <p:nvSpPr>
            <p:cNvPr id="14" name="Line 14"/>
            <p:cNvSpPr/>
            <p:nvPr/>
          </p:nvSpPr>
          <p:spPr>
            <a:xfrm>
              <a:off x="571500" y="2400300"/>
              <a:ext cx="11049000" cy="9525"/>
            </a:xfrm>
            <a:custGeom>
              <a:avLst/>
              <a:gdLst/>
              <a:ahLst/>
              <a:cxnLst/>
              <a:rect l="l" t="t" r="r" b="b"/>
              <a:pathLst>
                <a:path w="11049000" h="9525">
                  <a:moveTo>
                    <a:pt x="0" y="0"/>
                  </a:moveTo>
                  <a:lnTo>
                    <a:pt x="11049000" y="0"/>
                  </a:lnTo>
                </a:path>
              </a:pathLst>
            </a:custGeom>
            <a:noFill/>
            <a:ln w="19050">
              <a:solidFill>
                <a:srgbClr val="D6DEEA"/>
              </a:solidFill>
            </a:ln>
          </p:spPr>
        </p:sp>
        <p:sp>
          <p:nvSpPr>
            <p:cNvPr id="15" name="Line 15"/>
            <p:cNvSpPr/>
            <p:nvPr/>
          </p:nvSpPr>
          <p:spPr>
            <a:xfrm>
              <a:off x="571500" y="3314700"/>
              <a:ext cx="11049000" cy="9525"/>
            </a:xfrm>
            <a:custGeom>
              <a:avLst/>
              <a:gdLst/>
              <a:ahLst/>
              <a:cxnLst/>
              <a:rect l="l" t="t" r="r" b="b"/>
              <a:pathLst>
                <a:path w="11049000" h="9525">
                  <a:moveTo>
                    <a:pt x="0" y="0"/>
                  </a:moveTo>
                  <a:lnTo>
                    <a:pt x="11049000" y="0"/>
                  </a:lnTo>
                </a:path>
              </a:pathLst>
            </a:custGeom>
            <a:noFill/>
            <a:ln w="19050">
              <a:solidFill>
                <a:srgbClr val="D6DEEA"/>
              </a:solidFill>
            </a:ln>
          </p:spPr>
        </p:sp>
        <p:sp>
          <p:nvSpPr>
            <p:cNvPr id="16" name="Line 16"/>
            <p:cNvSpPr/>
            <p:nvPr/>
          </p:nvSpPr>
          <p:spPr>
            <a:xfrm>
              <a:off x="571500" y="4229100"/>
              <a:ext cx="11049000" cy="9525"/>
            </a:xfrm>
            <a:custGeom>
              <a:avLst/>
              <a:gdLst/>
              <a:ahLst/>
              <a:cxnLst/>
              <a:rect l="l" t="t" r="r" b="b"/>
              <a:pathLst>
                <a:path w="11049000" h="9525">
                  <a:moveTo>
                    <a:pt x="0" y="0"/>
                  </a:moveTo>
                  <a:lnTo>
                    <a:pt x="11049000" y="0"/>
                  </a:lnTo>
                </a:path>
              </a:pathLst>
            </a:custGeom>
            <a:noFill/>
            <a:ln w="19050">
              <a:solidFill>
                <a:srgbClr val="D6DEEA"/>
              </a:solidFill>
            </a:ln>
          </p:spPr>
        </p:sp>
        <p:sp>
          <p:nvSpPr>
            <p:cNvPr id="17" name="Line 17"/>
            <p:cNvSpPr/>
            <p:nvPr/>
          </p:nvSpPr>
          <p:spPr>
            <a:xfrm>
              <a:off x="571500" y="5143500"/>
              <a:ext cx="11049000" cy="9525"/>
            </a:xfrm>
            <a:custGeom>
              <a:avLst/>
              <a:gdLst/>
              <a:ahLst/>
              <a:cxnLst/>
              <a:rect l="l" t="t" r="r" b="b"/>
              <a:pathLst>
                <a:path w="11049000" h="9525">
                  <a:moveTo>
                    <a:pt x="0" y="0"/>
                  </a:moveTo>
                  <a:lnTo>
                    <a:pt x="11049000" y="0"/>
                  </a:lnTo>
                </a:path>
              </a:pathLst>
            </a:custGeom>
            <a:noFill/>
            <a:ln w="19050">
              <a:solidFill>
                <a:srgbClr val="D6DEEA"/>
              </a:solidFill>
            </a:ln>
          </p:spPr>
        </p:sp>
        <p:sp>
          <p:nvSpPr>
            <p:cNvPr id="18" name="TextBox 18"/>
            <p:cNvSpPr txBox="1"/>
            <p:nvPr/>
          </p:nvSpPr>
          <p:spPr>
            <a:xfrm>
              <a:off x="1011555" y="2787968"/>
              <a:ext cx="1783659"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1A1A2E"/>
                  </a:solidFill>
                  <a:latin typeface="Arial"/>
                  <a:ea typeface="Microsoft YaHei"/>
                  <a:cs typeface="Arial"/>
                </a:rPr>
                <a:t>Direct DrawingML</a:t>
              </a:r>
            </a:p>
          </p:txBody>
        </p:sp>
        <p:sp>
          <p:nvSpPr>
            <p:cNvPr id="19" name="TextBox 19"/>
            <p:cNvSpPr txBox="1"/>
            <p:nvPr/>
          </p:nvSpPr>
          <p:spPr>
            <a:xfrm>
              <a:off x="3700462" y="2621756"/>
              <a:ext cx="2994303"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Too verbose for robust AI authoring.</a:t>
              </a:r>
            </a:p>
          </p:txBody>
        </p:sp>
        <p:sp>
          <p:nvSpPr>
            <p:cNvPr id="20" name="TextBox 20"/>
            <p:cNvSpPr txBox="1"/>
            <p:nvPr/>
          </p:nvSpPr>
          <p:spPr>
            <a:xfrm>
              <a:off x="3700462" y="2831306"/>
              <a:ext cx="1762006"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Hard to debug by eye.</a:t>
              </a:r>
            </a:p>
          </p:txBody>
        </p:sp>
        <p:sp>
          <p:nvSpPr>
            <p:cNvPr id="21" name="TextBox 21"/>
            <p:cNvSpPr txBox="1"/>
            <p:nvPr/>
          </p:nvSpPr>
          <p:spPr>
            <a:xfrm>
              <a:off x="8386762" y="2812256"/>
              <a:ext cx="4136231"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D97757"/>
                  </a:solidFill>
                  <a:latin typeface="Arial"/>
                  <a:ea typeface="Microsoft YaHei"/>
                  <a:cs typeface="Arial"/>
                </a:rPr>
                <a:t>SVG keeps the vector logic readable before export.</a:t>
              </a:r>
            </a:p>
          </p:txBody>
        </p:sp>
        <p:sp>
          <p:nvSpPr>
            <p:cNvPr id="22" name="TextBox 22"/>
            <p:cNvSpPr txBox="1"/>
            <p:nvPr/>
          </p:nvSpPr>
          <p:spPr>
            <a:xfrm>
              <a:off x="1011555" y="3702368"/>
              <a:ext cx="986609"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1A1A2E"/>
                  </a:solidFill>
                  <a:latin typeface="Arial"/>
                  <a:ea typeface="Microsoft YaHei"/>
                  <a:cs typeface="Arial"/>
                </a:rPr>
                <a:t>HTML/CSS</a:t>
              </a:r>
            </a:p>
          </p:txBody>
        </p:sp>
        <p:sp>
          <p:nvSpPr>
            <p:cNvPr id="23" name="TextBox 23"/>
            <p:cNvSpPr txBox="1"/>
            <p:nvPr/>
          </p:nvSpPr>
          <p:spPr>
            <a:xfrm>
              <a:off x="3700462" y="3536156"/>
              <a:ext cx="322433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Great for document flow and browsers,</a:t>
              </a:r>
            </a:p>
          </p:txBody>
        </p:sp>
        <p:sp>
          <p:nvSpPr>
            <p:cNvPr id="24" name="TextBox 24"/>
            <p:cNvSpPr txBox="1"/>
            <p:nvPr/>
          </p:nvSpPr>
          <p:spPr>
            <a:xfrm>
              <a:off x="3700462" y="3745706"/>
              <a:ext cx="289571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weak for independent slide objects.</a:t>
              </a:r>
            </a:p>
          </p:txBody>
        </p:sp>
        <p:sp>
          <p:nvSpPr>
            <p:cNvPr id="25" name="TextBox 25"/>
            <p:cNvSpPr txBox="1"/>
            <p:nvPr/>
          </p:nvSpPr>
          <p:spPr>
            <a:xfrm>
              <a:off x="8386762" y="3726656"/>
              <a:ext cx="328183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D97757"/>
                  </a:solidFill>
                  <a:latin typeface="Arial"/>
                  <a:ea typeface="Microsoft YaHei"/>
                  <a:cs typeface="Arial"/>
                </a:rPr>
                <a:t>SVG matches the slide canvas worldview.</a:t>
              </a:r>
            </a:p>
          </p:txBody>
        </p:sp>
        <p:sp>
          <p:nvSpPr>
            <p:cNvPr id="26" name="TextBox 26"/>
            <p:cNvSpPr txBox="1"/>
            <p:nvPr/>
          </p:nvSpPr>
          <p:spPr>
            <a:xfrm>
              <a:off x="1011555" y="4616768"/>
              <a:ext cx="1079771"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1A1A2E"/>
                  </a:solidFill>
                  <a:latin typeface="Arial"/>
                  <a:ea typeface="Microsoft YaHei"/>
                  <a:cs typeface="Arial"/>
                </a:rPr>
                <a:t>WMF / EMF</a:t>
              </a:r>
            </a:p>
          </p:txBody>
        </p:sp>
        <p:sp>
          <p:nvSpPr>
            <p:cNvPr id="27" name="TextBox 27"/>
            <p:cNvSpPr txBox="1"/>
            <p:nvPr/>
          </p:nvSpPr>
          <p:spPr>
            <a:xfrm>
              <a:off x="3700462" y="4450556"/>
              <a:ext cx="3265408"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Closer to Microsoft graphics internally,</a:t>
              </a:r>
            </a:p>
          </p:txBody>
        </p:sp>
        <p:sp>
          <p:nvSpPr>
            <p:cNvPr id="28" name="TextBox 28"/>
            <p:cNvSpPr txBox="1"/>
            <p:nvPr/>
          </p:nvSpPr>
          <p:spPr>
            <a:xfrm>
              <a:off x="3700462" y="4660106"/>
              <a:ext cx="364331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but nearly useless as an AI authoring target.</a:t>
              </a:r>
            </a:p>
          </p:txBody>
        </p:sp>
        <p:sp>
          <p:nvSpPr>
            <p:cNvPr id="29" name="TextBox 29"/>
            <p:cNvSpPr txBox="1"/>
            <p:nvPr/>
          </p:nvSpPr>
          <p:spPr>
            <a:xfrm>
              <a:off x="8386762" y="4641056"/>
              <a:ext cx="5007054"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D97757"/>
                  </a:solidFill>
                  <a:latin typeface="Arial"/>
                  <a:ea typeface="Microsoft YaHei"/>
                  <a:cs typeface="Arial"/>
                </a:rPr>
                <a:t>SVG has far better model familiarity and visual inspectability.</a:t>
              </a:r>
            </a:p>
          </p:txBody>
        </p:sp>
        <p:sp>
          <p:nvSpPr>
            <p:cNvPr id="30" name="TextBox 30"/>
            <p:cNvSpPr txBox="1"/>
            <p:nvPr/>
          </p:nvSpPr>
          <p:spPr>
            <a:xfrm>
              <a:off x="1011555" y="5531168"/>
              <a:ext cx="1752605"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1A1A2E"/>
                  </a:solidFill>
                  <a:latin typeface="Arial"/>
                  <a:ea typeface="Microsoft YaHei"/>
                  <a:cs typeface="Arial"/>
                </a:rPr>
                <a:t>SVG as image only</a:t>
              </a:r>
            </a:p>
          </p:txBody>
        </p:sp>
        <p:sp>
          <p:nvSpPr>
            <p:cNvPr id="31" name="TextBox 31"/>
            <p:cNvSpPr txBox="1"/>
            <p:nvPr/>
          </p:nvSpPr>
          <p:spPr>
            <a:xfrm>
              <a:off x="3700462" y="5364956"/>
              <a:ext cx="368438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Easy export path, but editability disappears.</a:t>
              </a:r>
            </a:p>
          </p:txBody>
        </p:sp>
        <p:sp>
          <p:nvSpPr>
            <p:cNvPr id="32" name="TextBox 32"/>
            <p:cNvSpPr txBox="1"/>
            <p:nvPr/>
          </p:nvSpPr>
          <p:spPr>
            <a:xfrm>
              <a:off x="3700462" y="5574506"/>
              <a:ext cx="289571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Everything becomes a static visual.</a:t>
              </a:r>
            </a:p>
          </p:txBody>
        </p:sp>
        <p:sp>
          <p:nvSpPr>
            <p:cNvPr id="33" name="TextBox 33"/>
            <p:cNvSpPr txBox="1"/>
            <p:nvPr/>
          </p:nvSpPr>
          <p:spPr>
            <a:xfrm>
              <a:off x="8386762" y="5555456"/>
              <a:ext cx="6855500"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D97757"/>
                  </a:solidFill>
                  <a:latin typeface="Arial"/>
                  <a:ea typeface="Microsoft YaHei"/>
                  <a:cs typeface="Arial"/>
                </a:rPr>
                <a:t>PPT Master uses SVG as an intermediate engineering artifact, not as the final image.</a:t>
              </a:r>
            </a:p>
          </p:txBody>
        </p:sp>
      </p:grpSp>
      <p:sp>
        <p:nvSpPr>
          <p:cNvPr id="35" name="TextBox 35"/>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07</a:t>
            </a:r>
          </a:p>
        </p:txBody>
      </p:sp>
    </p:spTree>
  </p:cSld>
  <p:clrMapOvr>
    <a:masterClrMapping/>
  </p:clrMapOvr>
  <p:transition 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D97757"/>
          </a:solidFill>
          <a:ln>
            <a:noFill/>
          </a:ln>
        </p:spPr>
      </p:sp>
      <p:sp>
        <p:nvSpPr>
          <p:cNvPr id="4" name="TextBox 4"/>
          <p:cNvSpPr txBox="1"/>
          <p:nvPr/>
        </p:nvSpPr>
        <p:spPr>
          <a:xfrm>
            <a:off x="559118" y="390049"/>
            <a:ext cx="936829" cy="198120"/>
          </a:xfrm>
          <a:prstGeom prst="rect">
            <a:avLst/>
          </a:prstGeom>
          <a:noFill/>
          <a:ln>
            <a:noFill/>
          </a:ln>
        </p:spPr>
        <p:txBody>
          <a:bodyPr wrap="none" lIns="0" tIns="0" rIns="0" bIns="0" anchor="t" anchorCtr="0">
            <a:spAutoFit/>
          </a:bodyPr>
          <a:lstStyle/>
          <a:p>
            <a:pPr algn="l"/>
            <a:r>
              <a:rPr lang="zh-CN" sz="975" b="1" dirty="0">
                <a:solidFill>
                  <a:srgbClr val="D97757"/>
                </a:solidFill>
                <a:latin typeface="Arial"/>
                <a:ea typeface="Microsoft YaHei"/>
                <a:cs typeface="Arial"/>
              </a:rPr>
              <a:t>DESIGN RULES</a:t>
            </a:r>
          </a:p>
        </p:txBody>
      </p:sp>
      <p:sp>
        <p:nvSpPr>
          <p:cNvPr id="5" name="TextBox 5"/>
          <p:cNvSpPr txBox="1"/>
          <p:nvPr/>
        </p:nvSpPr>
        <p:spPr>
          <a:xfrm>
            <a:off x="539115" y="543878"/>
            <a:ext cx="6732153" cy="518160"/>
          </a:xfrm>
          <a:prstGeom prst="rect">
            <a:avLst/>
          </a:prstGeom>
          <a:noFill/>
          <a:ln>
            <a:noFill/>
          </a:ln>
        </p:spPr>
        <p:txBody>
          <a:bodyPr wrap="none" lIns="0" tIns="0" rIns="0" bIns="0" anchor="t" anchorCtr="0">
            <a:spAutoFit/>
          </a:bodyPr>
          <a:lstStyle/>
          <a:p>
            <a:pPr algn="l"/>
            <a:r>
              <a:rPr lang="zh-CN" sz="2550" b="1" dirty="0">
                <a:solidFill>
                  <a:srgbClr val="1A1A2E"/>
                </a:solidFill>
                <a:latin typeface="Arial"/>
                <a:ea typeface="Microsoft YaHei"/>
                <a:cs typeface="Arial"/>
              </a:rPr>
              <a:t>AI is the designer, not the finisher</a:t>
            </a:r>
          </a:p>
        </p:txBody>
      </p:sp>
      <p:sp>
        <p:nvSpPr>
          <p:cNvPr id="6" name="TextBox 6"/>
          <p:cNvSpPr txBox="1"/>
          <p:nvPr/>
        </p:nvSpPr>
        <p:spPr>
          <a:xfrm>
            <a:off x="556260" y="975360"/>
            <a:ext cx="8372856"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The docs are unusually direct: this is a draft generator for professionals, not a magic finalizer.</a:t>
            </a:r>
          </a:p>
        </p:txBody>
      </p:sp>
      <p:grpSp>
        <p:nvGrpSpPr>
          <p:cNvPr id="14" name="Group 14"/>
          <p:cNvGrpSpPr/>
          <p:nvPr/>
        </p:nvGrpSpPr>
        <p:grpSpPr>
          <a:xfrm>
            <a:off x="571500" y="1581150"/>
            <a:ext cx="7112937" cy="4457700"/>
            <a:chOff x="571500" y="1581150"/>
            <a:chExt cx="7112937" cy="4457700"/>
          </a:xfrm>
          <a:effectLst>
            <a:outerShdw blurRad="152400" dist="38100" dir="10799140" algn="tl" rotWithShape="0">
              <a:srgbClr val="0F172A">
                <a:alpha val="10000"/>
              </a:srgbClr>
            </a:outerShdw>
          </a:effectLst>
        </p:grpSpPr>
        <p:sp>
          <p:nvSpPr>
            <p:cNvPr id="7" name="Freeform 7"/>
            <p:cNvSpPr/>
            <p:nvPr/>
          </p:nvSpPr>
          <p:spPr>
            <a:xfrm>
              <a:off x="571500" y="1581150"/>
              <a:ext cx="4610100" cy="4457700"/>
            </a:xfrm>
            <a:custGeom>
              <a:avLst/>
              <a:gdLst/>
              <a:ahLst/>
              <a:cxnLst/>
              <a:rect l="l" t="t" r="r" b="b"/>
              <a:pathLst>
                <a:path w="4610100" h="4457700">
                  <a:moveTo>
                    <a:pt x="266700" y="0"/>
                  </a:moveTo>
                  <a:lnTo>
                    <a:pt x="4343400" y="0"/>
                  </a:lnTo>
                  <a:cubicBezTo>
                    <a:pt x="4490694" y="0"/>
                    <a:pt x="4610100" y="119406"/>
                    <a:pt x="4610100" y="266700"/>
                  </a:cubicBezTo>
                  <a:lnTo>
                    <a:pt x="4610100" y="4191000"/>
                  </a:lnTo>
                  <a:cubicBezTo>
                    <a:pt x="4610100" y="4338294"/>
                    <a:pt x="4490694" y="4457700"/>
                    <a:pt x="4343400" y="4457700"/>
                  </a:cubicBezTo>
                  <a:lnTo>
                    <a:pt x="266700" y="4457700"/>
                  </a:lnTo>
                  <a:cubicBezTo>
                    <a:pt x="119406" y="4457700"/>
                    <a:pt x="0" y="4338294"/>
                    <a:pt x="0" y="4191000"/>
                  </a:cubicBezTo>
                  <a:lnTo>
                    <a:pt x="0" y="266700"/>
                  </a:lnTo>
                  <a:cubicBezTo>
                    <a:pt x="0" y="119406"/>
                    <a:pt x="119406" y="0"/>
                    <a:pt x="266700" y="0"/>
                  </a:cubicBezTo>
                  <a:close/>
                </a:path>
              </a:pathLst>
            </a:custGeom>
            <a:solidFill>
              <a:srgbClr val="D97757"/>
            </a:solidFill>
            <a:ln>
              <a:noFill/>
            </a:ln>
            <a:effectLst>
              <a:outerShdw blurRad="152400" dist="38100" dir="10799140" algn="tl" rotWithShape="0">
                <a:srgbClr val="0F172A">
                  <a:alpha val="10000"/>
                </a:srgbClr>
              </a:outerShdw>
            </a:effectLst>
          </p:spPr>
        </p:sp>
        <p:sp>
          <p:nvSpPr>
            <p:cNvPr id="8" name="TextBox 8"/>
            <p:cNvSpPr txBox="1"/>
            <p:nvPr/>
          </p:nvSpPr>
          <p:spPr>
            <a:xfrm>
              <a:off x="914400" y="2171700"/>
              <a:ext cx="4791789" cy="609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3000" b="1" dirty="0">
                  <a:solidFill>
                    <a:srgbClr val="FFFFFF"/>
                  </a:solidFill>
                  <a:latin typeface="Arial"/>
                  <a:ea typeface="Microsoft YaHei"/>
                  <a:cs typeface="Arial"/>
                </a:rPr>
                <a:t>The goal is to remove</a:t>
              </a:r>
            </a:p>
          </p:txBody>
        </p:sp>
        <p:sp>
          <p:nvSpPr>
            <p:cNvPr id="9" name="TextBox 9"/>
            <p:cNvSpPr txBox="1"/>
            <p:nvPr/>
          </p:nvSpPr>
          <p:spPr>
            <a:xfrm>
              <a:off x="914400" y="2667000"/>
              <a:ext cx="6770037" cy="609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3000" b="1" dirty="0">
                  <a:solidFill>
                    <a:srgbClr val="FFFFFF"/>
                  </a:solidFill>
                  <a:latin typeface="Arial"/>
                  <a:ea typeface="Microsoft YaHei"/>
                  <a:cs typeface="Arial"/>
                </a:rPr>
                <a:t>most of the blank-page work,</a:t>
              </a:r>
            </a:p>
          </p:txBody>
        </p:sp>
        <p:sp>
          <p:nvSpPr>
            <p:cNvPr id="10" name="TextBox 10"/>
            <p:cNvSpPr txBox="1"/>
            <p:nvPr/>
          </p:nvSpPr>
          <p:spPr>
            <a:xfrm>
              <a:off x="914400" y="3162300"/>
              <a:ext cx="5665899" cy="609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3000" b="1" dirty="0">
                  <a:solidFill>
                    <a:srgbClr val="FFFFFF"/>
                  </a:solidFill>
                  <a:latin typeface="Arial"/>
                  <a:ea typeface="Microsoft YaHei"/>
                  <a:cs typeface="Arial"/>
                </a:rPr>
                <a:t>not to replace judgment.</a:t>
              </a:r>
            </a:p>
          </p:txBody>
        </p:sp>
        <p:sp>
          <p:nvSpPr>
            <p:cNvPr id="11" name="TextBox 11"/>
            <p:cNvSpPr txBox="1"/>
            <p:nvPr/>
          </p:nvSpPr>
          <p:spPr>
            <a:xfrm>
              <a:off x="935355" y="4350068"/>
              <a:ext cx="3879056"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dirty="0">
                  <a:solidFill>
                    <a:srgbClr val="FFFFFF">
                      <a:alpha val="88000"/>
                    </a:srgbClr>
                  </a:solidFill>
                  <a:latin typeface="Arial"/>
                  <a:ea typeface="Microsoft YaHei"/>
                  <a:cs typeface="Arial"/>
                </a:rPr>
                <a:t>Think of it as an architect's rendering:</a:t>
              </a:r>
            </a:p>
          </p:txBody>
        </p:sp>
        <p:sp>
          <p:nvSpPr>
            <p:cNvPr id="12" name="TextBox 12"/>
            <p:cNvSpPr txBox="1"/>
            <p:nvPr/>
          </p:nvSpPr>
          <p:spPr>
            <a:xfrm>
              <a:off x="935355" y="4597718"/>
              <a:ext cx="3425571"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dirty="0">
                  <a:solidFill>
                    <a:srgbClr val="FFFFFF">
                      <a:alpha val="88000"/>
                    </a:srgbClr>
                  </a:solidFill>
                  <a:latin typeface="Arial"/>
                  <a:ea typeface="Microsoft YaHei"/>
                  <a:cs typeface="Arial"/>
                </a:rPr>
                <a:t>strong direction, clear structure,</a:t>
              </a:r>
            </a:p>
          </p:txBody>
        </p:sp>
        <p:sp>
          <p:nvSpPr>
            <p:cNvPr id="13" name="TextBox 13"/>
            <p:cNvSpPr txBox="1"/>
            <p:nvPr/>
          </p:nvSpPr>
          <p:spPr>
            <a:xfrm>
              <a:off x="935355" y="4845368"/>
              <a:ext cx="3750897"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dirty="0">
                  <a:solidFill>
                    <a:srgbClr val="FFFFFF">
                      <a:alpha val="88000"/>
                    </a:srgbClr>
                  </a:solidFill>
                  <a:latin typeface="Arial"/>
                  <a:ea typeface="Microsoft YaHei"/>
                  <a:cs typeface="Arial"/>
                </a:rPr>
                <a:t>but still open to human finishing work.</a:t>
              </a:r>
            </a:p>
          </p:txBody>
        </p:sp>
      </p:grpSp>
      <p:grpSp>
        <p:nvGrpSpPr>
          <p:cNvPr id="20" name="Group 20"/>
          <p:cNvGrpSpPr/>
          <p:nvPr/>
        </p:nvGrpSpPr>
        <p:grpSpPr>
          <a:xfrm>
            <a:off x="5562600" y="1581150"/>
            <a:ext cx="6057900" cy="2038350"/>
            <a:chOff x="5562600" y="1581150"/>
            <a:chExt cx="6057900" cy="2038350"/>
          </a:xfrm>
          <a:effectLst>
            <a:outerShdw blurRad="152400" dist="38100" dir="10799140" algn="tl" rotWithShape="0">
              <a:srgbClr val="0F172A">
                <a:alpha val="10000"/>
              </a:srgbClr>
            </a:outerShdw>
          </a:effectLst>
        </p:grpSpPr>
        <p:sp>
          <p:nvSpPr>
            <p:cNvPr id="15" name="Freeform 15"/>
            <p:cNvSpPr/>
            <p:nvPr/>
          </p:nvSpPr>
          <p:spPr>
            <a:xfrm>
              <a:off x="5562600" y="1581150"/>
              <a:ext cx="6057900" cy="2038350"/>
            </a:xfrm>
            <a:custGeom>
              <a:avLst/>
              <a:gdLst/>
              <a:ahLst/>
              <a:cxnLst/>
              <a:rect l="l" t="t" r="r" b="b"/>
              <a:pathLst>
                <a:path w="6057900" h="2038350">
                  <a:moveTo>
                    <a:pt x="228600" y="0"/>
                  </a:moveTo>
                  <a:lnTo>
                    <a:pt x="5829300" y="0"/>
                  </a:lnTo>
                  <a:cubicBezTo>
                    <a:pt x="5955552" y="0"/>
                    <a:pt x="6057900" y="102348"/>
                    <a:pt x="6057900" y="228600"/>
                  </a:cubicBezTo>
                  <a:lnTo>
                    <a:pt x="6057900" y="1809750"/>
                  </a:lnTo>
                  <a:cubicBezTo>
                    <a:pt x="6057900" y="1936002"/>
                    <a:pt x="5955552" y="2038350"/>
                    <a:pt x="5829300" y="2038350"/>
                  </a:cubicBezTo>
                  <a:lnTo>
                    <a:pt x="228600" y="2038350"/>
                  </a:lnTo>
                  <a:cubicBezTo>
                    <a:pt x="102348" y="2038350"/>
                    <a:pt x="0" y="1936002"/>
                    <a:pt x="0" y="1809750"/>
                  </a:cubicBezTo>
                  <a:lnTo>
                    <a:pt x="0" y="228600"/>
                  </a:lnTo>
                  <a:cubicBezTo>
                    <a:pt x="0" y="102348"/>
                    <a:pt x="102348" y="0"/>
                    <a:pt x="22860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16" name="TextBox 16"/>
            <p:cNvSpPr txBox="1"/>
            <p:nvPr/>
          </p:nvSpPr>
          <p:spPr>
            <a:xfrm>
              <a:off x="5865495" y="1803082"/>
              <a:ext cx="5229058"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A1A2E"/>
                  </a:solidFill>
                  <a:latin typeface="Arial"/>
                  <a:ea typeface="Microsoft YaHei"/>
                  <a:cs typeface="Arial"/>
                </a:rPr>
                <a:t>What the workflow expects from the user</a:t>
              </a:r>
            </a:p>
          </p:txBody>
        </p:sp>
        <p:sp>
          <p:nvSpPr>
            <p:cNvPr id="17" name="TextBox 17"/>
            <p:cNvSpPr txBox="1"/>
            <p:nvPr/>
          </p:nvSpPr>
          <p:spPr>
            <a:xfrm>
              <a:off x="5871210" y="2270760"/>
              <a:ext cx="4937760"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 Review visual output slide by slide when quality matters</a:t>
              </a:r>
            </a:p>
          </p:txBody>
        </p:sp>
        <p:sp>
          <p:nvSpPr>
            <p:cNvPr id="18" name="TextBox 18"/>
            <p:cNvSpPr txBox="1"/>
            <p:nvPr/>
          </p:nvSpPr>
          <p:spPr>
            <a:xfrm>
              <a:off x="5871210" y="2518410"/>
              <a:ext cx="5025390"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 Regenerate or manually adjust pages with layout defects</a:t>
              </a:r>
            </a:p>
          </p:txBody>
        </p:sp>
        <p:sp>
          <p:nvSpPr>
            <p:cNvPr id="19" name="TextBox 19"/>
            <p:cNvSpPr txBox="1"/>
            <p:nvPr/>
          </p:nvSpPr>
          <p:spPr>
            <a:xfrm>
              <a:off x="5871210" y="2766060"/>
              <a:ext cx="5191887"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 Use taste and context to finish the last mile in PowerPoint</a:t>
              </a:r>
            </a:p>
          </p:txBody>
        </p:sp>
      </p:grpSp>
      <p:grpSp>
        <p:nvGrpSpPr>
          <p:cNvPr id="27" name="Group 27"/>
          <p:cNvGrpSpPr/>
          <p:nvPr/>
        </p:nvGrpSpPr>
        <p:grpSpPr>
          <a:xfrm>
            <a:off x="5562600" y="3848100"/>
            <a:ext cx="6709791" cy="2190750"/>
            <a:chOff x="5562600" y="3848100"/>
            <a:chExt cx="6709791" cy="2190750"/>
          </a:xfrm>
          <a:effectLst>
            <a:outerShdw blurRad="152400" dist="38100" dir="10799140" algn="tl" rotWithShape="0">
              <a:srgbClr val="0F172A">
                <a:alpha val="10000"/>
              </a:srgbClr>
            </a:outerShdw>
          </a:effectLst>
        </p:grpSpPr>
        <p:sp>
          <p:nvSpPr>
            <p:cNvPr id="21" name="Freeform 21"/>
            <p:cNvSpPr/>
            <p:nvPr/>
          </p:nvSpPr>
          <p:spPr>
            <a:xfrm>
              <a:off x="5562600" y="3848100"/>
              <a:ext cx="6057900" cy="2190750"/>
            </a:xfrm>
            <a:custGeom>
              <a:avLst/>
              <a:gdLst/>
              <a:ahLst/>
              <a:cxnLst/>
              <a:rect l="l" t="t" r="r" b="b"/>
              <a:pathLst>
                <a:path w="6057900" h="2190750">
                  <a:moveTo>
                    <a:pt x="228600" y="0"/>
                  </a:moveTo>
                  <a:lnTo>
                    <a:pt x="5829300" y="0"/>
                  </a:lnTo>
                  <a:cubicBezTo>
                    <a:pt x="5955552" y="0"/>
                    <a:pt x="6057900" y="102348"/>
                    <a:pt x="6057900" y="228600"/>
                  </a:cubicBezTo>
                  <a:lnTo>
                    <a:pt x="6057900" y="1962150"/>
                  </a:lnTo>
                  <a:cubicBezTo>
                    <a:pt x="6057900" y="2088402"/>
                    <a:pt x="5955552" y="2190750"/>
                    <a:pt x="5829300" y="2190750"/>
                  </a:cubicBezTo>
                  <a:lnTo>
                    <a:pt x="228600" y="2190750"/>
                  </a:lnTo>
                  <a:cubicBezTo>
                    <a:pt x="102348" y="2190750"/>
                    <a:pt x="0" y="2088402"/>
                    <a:pt x="0" y="1962150"/>
                  </a:cubicBezTo>
                  <a:lnTo>
                    <a:pt x="0" y="228600"/>
                  </a:lnTo>
                  <a:cubicBezTo>
                    <a:pt x="0" y="102348"/>
                    <a:pt x="102348" y="0"/>
                    <a:pt x="22860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22" name="TextBox 22"/>
            <p:cNvSpPr txBox="1"/>
            <p:nvPr/>
          </p:nvSpPr>
          <p:spPr>
            <a:xfrm>
              <a:off x="5865495" y="4070032"/>
              <a:ext cx="4115719"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A1A2E"/>
                  </a:solidFill>
                  <a:latin typeface="Arial"/>
                  <a:ea typeface="Microsoft YaHei"/>
                  <a:cs typeface="Arial"/>
                </a:rPr>
                <a:t>What the workflow admits openly</a:t>
              </a:r>
            </a:p>
          </p:txBody>
        </p:sp>
        <p:sp>
          <p:nvSpPr>
            <p:cNvPr id="23" name="TextBox 23"/>
            <p:cNvSpPr txBox="1"/>
            <p:nvPr/>
          </p:nvSpPr>
          <p:spPr>
            <a:xfrm>
              <a:off x="5871210" y="4537710"/>
              <a:ext cx="4254246"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 Setup is heavier than browser-based SaaS tools</a:t>
              </a:r>
            </a:p>
          </p:txBody>
        </p:sp>
        <p:sp>
          <p:nvSpPr>
            <p:cNvPr id="24" name="TextBox 24"/>
            <p:cNvSpPr txBox="1"/>
            <p:nvPr/>
          </p:nvSpPr>
          <p:spPr>
            <a:xfrm>
              <a:off x="5871210" y="4785360"/>
              <a:ext cx="5682615"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 Serial generation is slower, but is used to preserve consistency</a:t>
              </a:r>
            </a:p>
          </p:txBody>
        </p:sp>
        <p:sp>
          <p:nvSpPr>
            <p:cNvPr id="25" name="TextBox 25"/>
            <p:cNvSpPr txBox="1"/>
            <p:nvPr/>
          </p:nvSpPr>
          <p:spPr>
            <a:xfrm>
              <a:off x="5871210" y="5033010"/>
              <a:ext cx="640118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 Charts look strong, but are not spreadsheet-bound native chart objects</a:t>
              </a:r>
            </a:p>
          </p:txBody>
        </p:sp>
        <p:sp>
          <p:nvSpPr>
            <p:cNvPr id="26" name="TextBox 26"/>
            <p:cNvSpPr txBox="1"/>
            <p:nvPr/>
          </p:nvSpPr>
          <p:spPr>
            <a:xfrm>
              <a:off x="5871210" y="5280660"/>
              <a:ext cx="5919216"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 Collaboration and drag-and-drop UI are not the product's strength</a:t>
              </a:r>
            </a:p>
          </p:txBody>
        </p:sp>
      </p:grpSp>
      <p:sp>
        <p:nvSpPr>
          <p:cNvPr id="28" name="TextBox 28"/>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08</a:t>
            </a:r>
          </a:p>
        </p:txBody>
      </p:sp>
    </p:spTree>
  </p:cSld>
  <p:clrMapOvr>
    <a:masterClrMapping/>
  </p:clrMapOvr>
  <p:transition 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D97757"/>
          </a:solidFill>
          <a:ln>
            <a:noFill/>
          </a:ln>
        </p:spPr>
      </p:sp>
      <p:sp>
        <p:nvSpPr>
          <p:cNvPr id="4" name="TextBox 4"/>
          <p:cNvSpPr txBox="1"/>
          <p:nvPr/>
        </p:nvSpPr>
        <p:spPr>
          <a:xfrm>
            <a:off x="559118" y="390049"/>
            <a:ext cx="1034016" cy="198120"/>
          </a:xfrm>
          <a:prstGeom prst="rect">
            <a:avLst/>
          </a:prstGeom>
          <a:noFill/>
          <a:ln>
            <a:noFill/>
          </a:ln>
        </p:spPr>
        <p:txBody>
          <a:bodyPr wrap="none" lIns="0" tIns="0" rIns="0" bIns="0" anchor="t" anchorCtr="0">
            <a:spAutoFit/>
          </a:bodyPr>
          <a:lstStyle/>
          <a:p>
            <a:pPr algn="l"/>
            <a:r>
              <a:rPr lang="zh-CN" sz="975" b="1" dirty="0">
                <a:solidFill>
                  <a:srgbClr val="D97757"/>
                </a:solidFill>
                <a:latin typeface="Arial"/>
                <a:ea typeface="Microsoft YaHei"/>
                <a:cs typeface="Arial"/>
              </a:rPr>
              <a:t>FAQ SNAPSHOT</a:t>
            </a:r>
          </a:p>
        </p:txBody>
      </p:sp>
      <p:sp>
        <p:nvSpPr>
          <p:cNvPr id="5" name="TextBox 5"/>
          <p:cNvSpPr txBox="1"/>
          <p:nvPr/>
        </p:nvSpPr>
        <p:spPr>
          <a:xfrm>
            <a:off x="539115" y="543878"/>
            <a:ext cx="5480797" cy="518160"/>
          </a:xfrm>
          <a:prstGeom prst="rect">
            <a:avLst/>
          </a:prstGeom>
          <a:noFill/>
          <a:ln>
            <a:noFill/>
          </a:ln>
        </p:spPr>
        <p:txBody>
          <a:bodyPr wrap="none" lIns="0" tIns="0" rIns="0" bIns="0" anchor="t" anchorCtr="0">
            <a:spAutoFit/>
          </a:bodyPr>
          <a:lstStyle/>
          <a:p>
            <a:pPr algn="l"/>
            <a:r>
              <a:rPr lang="zh-CN" sz="2550" b="1" dirty="0">
                <a:solidFill>
                  <a:srgbClr val="1A1A2E"/>
                </a:solidFill>
                <a:latin typeface="Arial"/>
                <a:ea typeface="Microsoft YaHei"/>
                <a:cs typeface="Arial"/>
              </a:rPr>
              <a:t>What users usually ask first</a:t>
            </a:r>
          </a:p>
        </p:txBody>
      </p:sp>
      <p:sp>
        <p:nvSpPr>
          <p:cNvPr id="6" name="TextBox 6"/>
          <p:cNvSpPr txBox="1"/>
          <p:nvPr/>
        </p:nvSpPr>
        <p:spPr>
          <a:xfrm>
            <a:off x="556260" y="975360"/>
            <a:ext cx="8180070"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The FAQ clusters into four simple buckets: input, output, visuals, and operating assumptions.</a:t>
            </a:r>
          </a:p>
        </p:txBody>
      </p:sp>
      <p:grpSp>
        <p:nvGrpSpPr>
          <p:cNvPr id="12" name="Group 12"/>
          <p:cNvGrpSpPr/>
          <p:nvPr/>
        </p:nvGrpSpPr>
        <p:grpSpPr>
          <a:xfrm>
            <a:off x="571500" y="1562100"/>
            <a:ext cx="6869049" cy="2095500"/>
            <a:chOff x="571500" y="1562100"/>
            <a:chExt cx="6869049" cy="2095500"/>
          </a:xfrm>
          <a:effectLst>
            <a:outerShdw blurRad="152400" dist="38100" dir="10799140" algn="tl" rotWithShape="0">
              <a:srgbClr val="0F172A">
                <a:alpha val="10000"/>
              </a:srgbClr>
            </a:outerShdw>
          </a:effectLst>
        </p:grpSpPr>
        <p:sp>
          <p:nvSpPr>
            <p:cNvPr id="7" name="Freeform 7"/>
            <p:cNvSpPr/>
            <p:nvPr/>
          </p:nvSpPr>
          <p:spPr>
            <a:xfrm>
              <a:off x="571500" y="1562100"/>
              <a:ext cx="5295900" cy="2095500"/>
            </a:xfrm>
            <a:custGeom>
              <a:avLst/>
              <a:gdLst/>
              <a:ahLst/>
              <a:cxnLst/>
              <a:rect l="l" t="t" r="r" b="b"/>
              <a:pathLst>
                <a:path w="5295900" h="2095500">
                  <a:moveTo>
                    <a:pt x="247650" y="0"/>
                  </a:moveTo>
                  <a:lnTo>
                    <a:pt x="5048250" y="0"/>
                  </a:lnTo>
                  <a:cubicBezTo>
                    <a:pt x="5185023" y="0"/>
                    <a:pt x="5295900" y="110877"/>
                    <a:pt x="5295900" y="247650"/>
                  </a:cubicBezTo>
                  <a:lnTo>
                    <a:pt x="5295900" y="1847850"/>
                  </a:lnTo>
                  <a:cubicBezTo>
                    <a:pt x="5295900" y="1984623"/>
                    <a:pt x="5185023" y="2095500"/>
                    <a:pt x="5048250" y="2095500"/>
                  </a:cubicBezTo>
                  <a:lnTo>
                    <a:pt x="247650" y="2095500"/>
                  </a:lnTo>
                  <a:cubicBezTo>
                    <a:pt x="110877" y="2095500"/>
                    <a:pt x="0" y="1984623"/>
                    <a:pt x="0" y="1847850"/>
                  </a:cubicBezTo>
                  <a:lnTo>
                    <a:pt x="0" y="247650"/>
                  </a:lnTo>
                  <a:cubicBezTo>
                    <a:pt x="0" y="110877"/>
                    <a:pt x="110877" y="0"/>
                    <a:pt x="24765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8" name="Freeform 8"/>
            <p:cNvSpPr/>
            <p:nvPr/>
          </p:nvSpPr>
          <p:spPr>
            <a:xfrm>
              <a:off x="914400" y="1908572"/>
              <a:ext cx="361950" cy="294084"/>
            </a:xfrm>
            <a:custGeom>
              <a:avLst/>
              <a:gdLst/>
              <a:ahLst/>
              <a:cxnLst/>
              <a:rect l="l" t="t" r="r" b="b"/>
              <a:pathLst>
                <a:path w="361950" h="294084">
                  <a:moveTo>
                    <a:pt x="0" y="0"/>
                  </a:moveTo>
                  <a:lnTo>
                    <a:pt x="113109" y="0"/>
                  </a:lnTo>
                  <a:lnTo>
                    <a:pt x="180975" y="45244"/>
                  </a:lnTo>
                  <a:lnTo>
                    <a:pt x="294084" y="45244"/>
                  </a:lnTo>
                  <a:lnTo>
                    <a:pt x="294084" y="90488"/>
                  </a:lnTo>
                  <a:lnTo>
                    <a:pt x="84735" y="90488"/>
                  </a:lnTo>
                  <a:lnTo>
                    <a:pt x="45954" y="226219"/>
                  </a:lnTo>
                  <a:lnTo>
                    <a:pt x="93008" y="226219"/>
                  </a:lnTo>
                  <a:lnTo>
                    <a:pt x="118862" y="135731"/>
                  </a:lnTo>
                  <a:lnTo>
                    <a:pt x="361950" y="135731"/>
                  </a:lnTo>
                  <a:lnTo>
                    <a:pt x="316706" y="294084"/>
                  </a:lnTo>
                  <a:lnTo>
                    <a:pt x="0" y="294084"/>
                  </a:lnTo>
                  <a:lnTo>
                    <a:pt x="0" y="0"/>
                  </a:lnTo>
                  <a:close/>
                </a:path>
              </a:pathLst>
            </a:custGeom>
            <a:solidFill>
              <a:srgbClr val="D97757"/>
            </a:solidFill>
            <a:ln>
              <a:noFill/>
            </a:ln>
            <a:effectLst>
              <a:outerShdw blurRad="152400" dist="38100" dir="10799140" algn="tl" rotWithShape="0">
                <a:srgbClr val="0F172A">
                  <a:alpha val="10000"/>
                </a:srgbClr>
              </a:outerShdw>
            </a:effectLst>
          </p:spPr>
        </p:sp>
        <p:sp>
          <p:nvSpPr>
            <p:cNvPr id="9" name="TextBox 9"/>
            <p:cNvSpPr txBox="1"/>
            <p:nvPr/>
          </p:nvSpPr>
          <p:spPr>
            <a:xfrm>
              <a:off x="1407795" y="1955482"/>
              <a:ext cx="2205330"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A1A2E"/>
                  </a:solidFill>
                  <a:latin typeface="Arial"/>
                  <a:ea typeface="Microsoft YaHei"/>
                  <a:cs typeface="Arial"/>
                </a:rPr>
                <a:t>What can it read?</a:t>
              </a:r>
            </a:p>
          </p:txBody>
        </p:sp>
        <p:sp>
          <p:nvSpPr>
            <p:cNvPr id="10" name="TextBox 10"/>
            <p:cNvSpPr txBox="1"/>
            <p:nvPr/>
          </p:nvSpPr>
          <p:spPr>
            <a:xfrm>
              <a:off x="899160" y="2461260"/>
              <a:ext cx="6541389"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PDF, DOCX, PPTX, EPUB, HTML, LaTeX, RST, URLs, Markdown, and plain text.</a:t>
              </a:r>
            </a:p>
          </p:txBody>
        </p:sp>
        <p:sp>
          <p:nvSpPr>
            <p:cNvPr id="11" name="TextBox 11"/>
            <p:cNvSpPr txBox="1"/>
            <p:nvPr/>
          </p:nvSpPr>
          <p:spPr>
            <a:xfrm>
              <a:off x="899160" y="2689860"/>
              <a:ext cx="4376928"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The source conversion layer is intentionally broad.</a:t>
              </a:r>
            </a:p>
          </p:txBody>
        </p:sp>
      </p:grpSp>
      <p:grpSp>
        <p:nvGrpSpPr>
          <p:cNvPr id="21" name="Group 21"/>
          <p:cNvGrpSpPr/>
          <p:nvPr/>
        </p:nvGrpSpPr>
        <p:grpSpPr>
          <a:xfrm>
            <a:off x="6324600" y="1562100"/>
            <a:ext cx="7526274" cy="2095500"/>
            <a:chOff x="6324600" y="1562100"/>
            <a:chExt cx="7526274" cy="2095500"/>
          </a:xfrm>
          <a:effectLst>
            <a:outerShdw blurRad="152400" dist="38100" dir="10799140" algn="tl" rotWithShape="0">
              <a:srgbClr val="0F172A">
                <a:alpha val="10000"/>
              </a:srgbClr>
            </a:outerShdw>
          </a:effectLst>
        </p:grpSpPr>
        <p:sp>
          <p:nvSpPr>
            <p:cNvPr id="13" name="Freeform 13"/>
            <p:cNvSpPr/>
            <p:nvPr/>
          </p:nvSpPr>
          <p:spPr>
            <a:xfrm>
              <a:off x="6324600" y="1562100"/>
              <a:ext cx="5295900" cy="2095500"/>
            </a:xfrm>
            <a:custGeom>
              <a:avLst/>
              <a:gdLst/>
              <a:ahLst/>
              <a:cxnLst/>
              <a:rect l="l" t="t" r="r" b="b"/>
              <a:pathLst>
                <a:path w="5295900" h="2095500">
                  <a:moveTo>
                    <a:pt x="247650" y="0"/>
                  </a:moveTo>
                  <a:lnTo>
                    <a:pt x="5048250" y="0"/>
                  </a:lnTo>
                  <a:cubicBezTo>
                    <a:pt x="5185023" y="0"/>
                    <a:pt x="5295900" y="110877"/>
                    <a:pt x="5295900" y="247650"/>
                  </a:cubicBezTo>
                  <a:lnTo>
                    <a:pt x="5295900" y="1847850"/>
                  </a:lnTo>
                  <a:cubicBezTo>
                    <a:pt x="5295900" y="1984623"/>
                    <a:pt x="5185023" y="2095500"/>
                    <a:pt x="5048250" y="2095500"/>
                  </a:cubicBezTo>
                  <a:lnTo>
                    <a:pt x="247650" y="2095500"/>
                  </a:lnTo>
                  <a:cubicBezTo>
                    <a:pt x="110877" y="2095500"/>
                    <a:pt x="0" y="1984623"/>
                    <a:pt x="0" y="1847850"/>
                  </a:cubicBezTo>
                  <a:lnTo>
                    <a:pt x="0" y="247650"/>
                  </a:lnTo>
                  <a:cubicBezTo>
                    <a:pt x="0" y="110877"/>
                    <a:pt x="110877" y="0"/>
                    <a:pt x="247650" y="0"/>
                  </a:cubicBezTo>
                  <a:close/>
                </a:path>
              </a:pathLst>
            </a:custGeom>
            <a:solidFill>
              <a:srgbClr val="F8FAFC"/>
            </a:solidFill>
            <a:ln>
              <a:noFill/>
            </a:ln>
            <a:effectLst>
              <a:outerShdw blurRad="152400" dist="38100" dir="10799140" algn="tl" rotWithShape="0">
                <a:srgbClr val="0F172A">
                  <a:alpha val="10000"/>
                </a:srgbClr>
              </a:outerShdw>
            </a:effectLst>
          </p:spPr>
        </p:sp>
        <p:grpSp>
          <p:nvGrpSpPr>
            <p:cNvPr id="17" name="Group 17"/>
            <p:cNvGrpSpPr/>
            <p:nvPr/>
          </p:nvGrpSpPr>
          <p:grpSpPr>
            <a:xfrm>
              <a:off x="6690122" y="1885950"/>
              <a:ext cx="316706" cy="361950"/>
              <a:chOff x="6690122" y="1885950"/>
              <a:chExt cx="316706" cy="361950"/>
            </a:xfrm>
          </p:grpSpPr>
          <p:sp>
            <p:nvSpPr>
              <p:cNvPr id="14" name="Freeform 14"/>
              <p:cNvSpPr/>
              <p:nvPr/>
            </p:nvSpPr>
            <p:spPr>
              <a:xfrm>
                <a:off x="6690122" y="1885950"/>
                <a:ext cx="316706" cy="180975"/>
              </a:xfrm>
              <a:custGeom>
                <a:avLst/>
                <a:gdLst/>
                <a:ahLst/>
                <a:cxnLst/>
                <a:rect l="l" t="t" r="r" b="b"/>
                <a:pathLst>
                  <a:path w="316706" h="180975">
                    <a:moveTo>
                      <a:pt x="0" y="113109"/>
                    </a:moveTo>
                    <a:lnTo>
                      <a:pt x="0" y="67866"/>
                    </a:lnTo>
                    <a:lnTo>
                      <a:pt x="158353" y="0"/>
                    </a:lnTo>
                    <a:lnTo>
                      <a:pt x="316706" y="67866"/>
                    </a:lnTo>
                    <a:lnTo>
                      <a:pt x="316706" y="113109"/>
                    </a:lnTo>
                    <a:lnTo>
                      <a:pt x="158353" y="180975"/>
                    </a:lnTo>
                    <a:lnTo>
                      <a:pt x="0" y="113109"/>
                    </a:lnTo>
                    <a:close/>
                  </a:path>
                </a:pathLst>
              </a:custGeom>
              <a:solidFill>
                <a:srgbClr val="4A90D9"/>
              </a:solidFill>
              <a:ln>
                <a:noFill/>
              </a:ln>
              <a:effectLst>
                <a:outerShdw blurRad="152400" dist="38100" dir="10799140" algn="tl" rotWithShape="0">
                  <a:srgbClr val="0F172A">
                    <a:alpha val="10000"/>
                  </a:srgbClr>
                </a:outerShdw>
              </a:effectLst>
            </p:spPr>
          </p:sp>
          <p:sp>
            <p:nvSpPr>
              <p:cNvPr id="15" name="Freeform 15"/>
              <p:cNvSpPr/>
              <p:nvPr/>
            </p:nvSpPr>
            <p:spPr>
              <a:xfrm>
                <a:off x="6690122" y="2134791"/>
                <a:ext cx="316706" cy="113109"/>
              </a:xfrm>
              <a:custGeom>
                <a:avLst/>
                <a:gdLst/>
                <a:ahLst/>
                <a:cxnLst/>
                <a:rect l="l" t="t" r="r" b="b"/>
                <a:pathLst>
                  <a:path w="316706" h="113109">
                    <a:moveTo>
                      <a:pt x="158353" y="113109"/>
                    </a:moveTo>
                    <a:lnTo>
                      <a:pt x="0" y="45244"/>
                    </a:lnTo>
                    <a:lnTo>
                      <a:pt x="0" y="0"/>
                    </a:lnTo>
                    <a:lnTo>
                      <a:pt x="158353" y="67866"/>
                    </a:lnTo>
                    <a:lnTo>
                      <a:pt x="316706" y="0"/>
                    </a:lnTo>
                    <a:lnTo>
                      <a:pt x="316706" y="45244"/>
                    </a:lnTo>
                    <a:lnTo>
                      <a:pt x="158353" y="113109"/>
                    </a:lnTo>
                    <a:close/>
                  </a:path>
                </a:pathLst>
              </a:custGeom>
              <a:solidFill>
                <a:srgbClr val="4A90D9"/>
              </a:solidFill>
              <a:ln>
                <a:noFill/>
              </a:ln>
              <a:effectLst>
                <a:outerShdw blurRad="152400" dist="38100" dir="10799140" algn="tl" rotWithShape="0">
                  <a:srgbClr val="0F172A">
                    <a:alpha val="10000"/>
                  </a:srgbClr>
                </a:outerShdw>
              </a:effectLst>
            </p:spPr>
          </p:sp>
          <p:sp>
            <p:nvSpPr>
              <p:cNvPr id="16" name="Freeform 16"/>
              <p:cNvSpPr/>
              <p:nvPr/>
            </p:nvSpPr>
            <p:spPr>
              <a:xfrm>
                <a:off x="6690122" y="2044303"/>
                <a:ext cx="316706" cy="113109"/>
              </a:xfrm>
              <a:custGeom>
                <a:avLst/>
                <a:gdLst/>
                <a:ahLst/>
                <a:cxnLst/>
                <a:rect l="l" t="t" r="r" b="b"/>
                <a:pathLst>
                  <a:path w="316706" h="113109">
                    <a:moveTo>
                      <a:pt x="0" y="45244"/>
                    </a:moveTo>
                    <a:lnTo>
                      <a:pt x="158353" y="113109"/>
                    </a:lnTo>
                    <a:lnTo>
                      <a:pt x="316706" y="45244"/>
                    </a:lnTo>
                    <a:lnTo>
                      <a:pt x="316706" y="0"/>
                    </a:lnTo>
                    <a:lnTo>
                      <a:pt x="158353" y="67866"/>
                    </a:lnTo>
                    <a:lnTo>
                      <a:pt x="0" y="0"/>
                    </a:lnTo>
                    <a:lnTo>
                      <a:pt x="0" y="45244"/>
                    </a:lnTo>
                    <a:close/>
                  </a:path>
                </a:pathLst>
              </a:custGeom>
              <a:solidFill>
                <a:srgbClr val="4A90D9"/>
              </a:solidFill>
              <a:ln>
                <a:noFill/>
              </a:ln>
              <a:effectLst>
                <a:outerShdw blurRad="152400" dist="38100" dir="10799140" algn="tl" rotWithShape="0">
                  <a:srgbClr val="0F172A">
                    <a:alpha val="10000"/>
                  </a:srgbClr>
                </a:outerShdw>
              </a:effectLst>
            </p:spPr>
          </p:sp>
        </p:grpSp>
        <p:sp>
          <p:nvSpPr>
            <p:cNvPr id="18" name="TextBox 18"/>
            <p:cNvSpPr txBox="1"/>
            <p:nvPr/>
          </p:nvSpPr>
          <p:spPr>
            <a:xfrm>
              <a:off x="7160895" y="1955482"/>
              <a:ext cx="2622833"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A1A2E"/>
                  </a:solidFill>
                  <a:latin typeface="Arial"/>
                  <a:ea typeface="Microsoft YaHei"/>
                  <a:cs typeface="Arial"/>
                </a:rPr>
                <a:t>What does it export?</a:t>
              </a:r>
            </a:p>
          </p:txBody>
        </p:sp>
        <p:sp>
          <p:nvSpPr>
            <p:cNvPr id="19" name="TextBox 19"/>
            <p:cNvSpPr txBox="1"/>
            <p:nvPr/>
          </p:nvSpPr>
          <p:spPr>
            <a:xfrm>
              <a:off x="6652260" y="2461260"/>
              <a:ext cx="7198614"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A native editable `.pptx` and an `_svg.pptx` reference backup, both timestamped.</a:t>
              </a:r>
            </a:p>
          </p:txBody>
        </p:sp>
        <p:sp>
          <p:nvSpPr>
            <p:cNvPr id="20" name="TextBox 20"/>
            <p:cNvSpPr txBox="1"/>
            <p:nvPr/>
          </p:nvSpPr>
          <p:spPr>
            <a:xfrm>
              <a:off x="6652260" y="2689860"/>
              <a:ext cx="3632073"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The editable deck is the primary artifact.</a:t>
              </a:r>
            </a:p>
          </p:txBody>
        </p:sp>
      </p:grpSp>
      <p:grpSp>
        <p:nvGrpSpPr>
          <p:cNvPr id="30" name="Group 30"/>
          <p:cNvGrpSpPr/>
          <p:nvPr/>
        </p:nvGrpSpPr>
        <p:grpSpPr>
          <a:xfrm>
            <a:off x="571500" y="3943350"/>
            <a:ext cx="6982968" cy="2095500"/>
            <a:chOff x="571500" y="3943350"/>
            <a:chExt cx="6982968" cy="2095500"/>
          </a:xfrm>
          <a:effectLst>
            <a:outerShdw blurRad="152400" dist="38100" dir="10799140" algn="tl" rotWithShape="0">
              <a:srgbClr val="0F172A">
                <a:alpha val="10000"/>
              </a:srgbClr>
            </a:outerShdw>
          </a:effectLst>
        </p:grpSpPr>
        <p:sp>
          <p:nvSpPr>
            <p:cNvPr id="22" name="Freeform 22"/>
            <p:cNvSpPr/>
            <p:nvPr/>
          </p:nvSpPr>
          <p:spPr>
            <a:xfrm>
              <a:off x="571500" y="3943350"/>
              <a:ext cx="5295900" cy="2095500"/>
            </a:xfrm>
            <a:custGeom>
              <a:avLst/>
              <a:gdLst/>
              <a:ahLst/>
              <a:cxnLst/>
              <a:rect l="l" t="t" r="r" b="b"/>
              <a:pathLst>
                <a:path w="5295900" h="2095500">
                  <a:moveTo>
                    <a:pt x="247650" y="0"/>
                  </a:moveTo>
                  <a:lnTo>
                    <a:pt x="5048250" y="0"/>
                  </a:lnTo>
                  <a:cubicBezTo>
                    <a:pt x="5185023" y="0"/>
                    <a:pt x="5295900" y="110877"/>
                    <a:pt x="5295900" y="247650"/>
                  </a:cubicBezTo>
                  <a:lnTo>
                    <a:pt x="5295900" y="1847850"/>
                  </a:lnTo>
                  <a:cubicBezTo>
                    <a:pt x="5295900" y="1984623"/>
                    <a:pt x="5185023" y="2095500"/>
                    <a:pt x="5048250" y="2095500"/>
                  </a:cubicBezTo>
                  <a:lnTo>
                    <a:pt x="247650" y="2095500"/>
                  </a:lnTo>
                  <a:cubicBezTo>
                    <a:pt x="110877" y="2095500"/>
                    <a:pt x="0" y="1984623"/>
                    <a:pt x="0" y="1847850"/>
                  </a:cubicBezTo>
                  <a:lnTo>
                    <a:pt x="0" y="247650"/>
                  </a:lnTo>
                  <a:cubicBezTo>
                    <a:pt x="0" y="110877"/>
                    <a:pt x="110877" y="0"/>
                    <a:pt x="247650" y="0"/>
                  </a:cubicBezTo>
                  <a:close/>
                </a:path>
              </a:pathLst>
            </a:custGeom>
            <a:solidFill>
              <a:srgbClr val="F8FAFC"/>
            </a:solidFill>
            <a:ln>
              <a:noFill/>
            </a:ln>
            <a:effectLst>
              <a:outerShdw blurRad="152400" dist="38100" dir="10799140" algn="tl" rotWithShape="0">
                <a:srgbClr val="0F172A">
                  <a:alpha val="10000"/>
                </a:srgbClr>
              </a:outerShdw>
            </a:effectLst>
          </p:spPr>
        </p:sp>
        <p:grpSp>
          <p:nvGrpSpPr>
            <p:cNvPr id="26" name="Group 26"/>
            <p:cNvGrpSpPr/>
            <p:nvPr/>
          </p:nvGrpSpPr>
          <p:grpSpPr>
            <a:xfrm>
              <a:off x="914400" y="4289822"/>
              <a:ext cx="361950" cy="316706"/>
              <a:chOff x="914400" y="4289822"/>
              <a:chExt cx="361950" cy="316706"/>
            </a:xfrm>
          </p:grpSpPr>
          <p:sp>
            <p:nvSpPr>
              <p:cNvPr id="23" name="Freeform 23"/>
              <p:cNvSpPr/>
              <p:nvPr/>
            </p:nvSpPr>
            <p:spPr>
              <a:xfrm>
                <a:off x="1185862" y="4289822"/>
                <a:ext cx="90488" cy="316706"/>
              </a:xfrm>
              <a:custGeom>
                <a:avLst/>
                <a:gdLst/>
                <a:ahLst/>
                <a:cxnLst/>
                <a:rect l="l" t="t" r="r" b="b"/>
                <a:pathLst>
                  <a:path w="90488" h="316706">
                    <a:moveTo>
                      <a:pt x="90488" y="0"/>
                    </a:moveTo>
                    <a:lnTo>
                      <a:pt x="0" y="0"/>
                    </a:lnTo>
                    <a:lnTo>
                      <a:pt x="0" y="316706"/>
                    </a:lnTo>
                    <a:lnTo>
                      <a:pt x="90488" y="316706"/>
                    </a:lnTo>
                    <a:lnTo>
                      <a:pt x="90488" y="0"/>
                    </a:lnTo>
                    <a:close/>
                  </a:path>
                </a:pathLst>
              </a:custGeom>
              <a:solidFill>
                <a:srgbClr val="10B981"/>
              </a:solidFill>
              <a:ln>
                <a:noFill/>
              </a:ln>
              <a:effectLst>
                <a:outerShdw blurRad="152400" dist="38100" dir="10799140" algn="tl" rotWithShape="0">
                  <a:srgbClr val="0F172A">
                    <a:alpha val="10000"/>
                  </a:srgbClr>
                </a:outerShdw>
              </a:effectLst>
            </p:spPr>
          </p:sp>
          <p:sp>
            <p:nvSpPr>
              <p:cNvPr id="24" name="Freeform 24"/>
              <p:cNvSpPr/>
              <p:nvPr/>
            </p:nvSpPr>
            <p:spPr>
              <a:xfrm>
                <a:off x="1050131" y="4380309"/>
                <a:ext cx="90488" cy="226219"/>
              </a:xfrm>
              <a:custGeom>
                <a:avLst/>
                <a:gdLst/>
                <a:ahLst/>
                <a:cxnLst/>
                <a:rect l="l" t="t" r="r" b="b"/>
                <a:pathLst>
                  <a:path w="90488" h="226219">
                    <a:moveTo>
                      <a:pt x="0" y="0"/>
                    </a:moveTo>
                    <a:lnTo>
                      <a:pt x="90488" y="0"/>
                    </a:lnTo>
                    <a:lnTo>
                      <a:pt x="90488" y="226219"/>
                    </a:lnTo>
                    <a:lnTo>
                      <a:pt x="0" y="226219"/>
                    </a:lnTo>
                    <a:lnTo>
                      <a:pt x="0" y="0"/>
                    </a:lnTo>
                    <a:close/>
                  </a:path>
                </a:pathLst>
              </a:custGeom>
              <a:solidFill>
                <a:srgbClr val="10B981"/>
              </a:solidFill>
              <a:ln>
                <a:noFill/>
              </a:ln>
              <a:effectLst>
                <a:outerShdw blurRad="152400" dist="38100" dir="10799140" algn="tl" rotWithShape="0">
                  <a:srgbClr val="0F172A">
                    <a:alpha val="10000"/>
                  </a:srgbClr>
                </a:outerShdw>
              </a:effectLst>
            </p:spPr>
          </p:sp>
          <p:sp>
            <p:nvSpPr>
              <p:cNvPr id="25" name="Freeform 25"/>
              <p:cNvSpPr/>
              <p:nvPr/>
            </p:nvSpPr>
            <p:spPr>
              <a:xfrm>
                <a:off x="914400" y="4470797"/>
                <a:ext cx="90488" cy="135731"/>
              </a:xfrm>
              <a:custGeom>
                <a:avLst/>
                <a:gdLst/>
                <a:ahLst/>
                <a:cxnLst/>
                <a:rect l="l" t="t" r="r" b="b"/>
                <a:pathLst>
                  <a:path w="90488" h="135731">
                    <a:moveTo>
                      <a:pt x="0" y="0"/>
                    </a:moveTo>
                    <a:lnTo>
                      <a:pt x="90488" y="0"/>
                    </a:lnTo>
                    <a:lnTo>
                      <a:pt x="90488" y="135731"/>
                    </a:lnTo>
                    <a:lnTo>
                      <a:pt x="0" y="135731"/>
                    </a:lnTo>
                    <a:lnTo>
                      <a:pt x="0" y="0"/>
                    </a:lnTo>
                    <a:close/>
                  </a:path>
                </a:pathLst>
              </a:custGeom>
              <a:solidFill>
                <a:srgbClr val="10B981"/>
              </a:solidFill>
              <a:ln>
                <a:noFill/>
              </a:ln>
              <a:effectLst>
                <a:outerShdw blurRad="152400" dist="38100" dir="10799140" algn="tl" rotWithShape="0">
                  <a:srgbClr val="0F172A">
                    <a:alpha val="10000"/>
                  </a:srgbClr>
                </a:outerShdw>
              </a:effectLst>
            </p:spPr>
          </p:sp>
        </p:grpSp>
        <p:sp>
          <p:nvSpPr>
            <p:cNvPr id="27" name="TextBox 27"/>
            <p:cNvSpPr txBox="1"/>
            <p:nvPr/>
          </p:nvSpPr>
          <p:spPr>
            <a:xfrm>
              <a:off x="1407795" y="4336732"/>
              <a:ext cx="2572226"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A1A2E"/>
                  </a:solidFill>
                  <a:latin typeface="Arial"/>
                  <a:ea typeface="Microsoft YaHei"/>
                  <a:cs typeface="Arial"/>
                </a:rPr>
                <a:t>Are charts editable?</a:t>
              </a:r>
            </a:p>
          </p:txBody>
        </p:sp>
        <p:sp>
          <p:nvSpPr>
            <p:cNvPr id="28" name="TextBox 28"/>
            <p:cNvSpPr txBox="1"/>
            <p:nvPr/>
          </p:nvSpPr>
          <p:spPr>
            <a:xfrm>
              <a:off x="899160" y="4842510"/>
              <a:ext cx="6655308"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They are converted into visual native shapes, not Excel-bound chart objects.</a:t>
              </a:r>
            </a:p>
          </p:txBody>
        </p:sp>
        <p:sp>
          <p:nvSpPr>
            <p:cNvPr id="29" name="TextBox 29"/>
            <p:cNvSpPr txBox="1"/>
            <p:nvPr/>
          </p:nvSpPr>
          <p:spPr>
            <a:xfrm>
              <a:off x="899160" y="5071110"/>
              <a:ext cx="543725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They look polished but are not data-linked spreadsheet charts.</a:t>
              </a:r>
            </a:p>
          </p:txBody>
        </p:sp>
      </p:grpSp>
      <p:grpSp>
        <p:nvGrpSpPr>
          <p:cNvPr id="39" name="Group 39"/>
          <p:cNvGrpSpPr/>
          <p:nvPr/>
        </p:nvGrpSpPr>
        <p:grpSpPr>
          <a:xfrm>
            <a:off x="6324600" y="3943350"/>
            <a:ext cx="6974205" cy="2095500"/>
            <a:chOff x="6324600" y="3943350"/>
            <a:chExt cx="6974205" cy="2095500"/>
          </a:xfrm>
          <a:effectLst>
            <a:outerShdw blurRad="152400" dist="38100" dir="10799140" algn="tl" rotWithShape="0">
              <a:srgbClr val="0F172A">
                <a:alpha val="10000"/>
              </a:srgbClr>
            </a:outerShdw>
          </a:effectLst>
        </p:grpSpPr>
        <p:sp>
          <p:nvSpPr>
            <p:cNvPr id="31" name="Freeform 31"/>
            <p:cNvSpPr/>
            <p:nvPr/>
          </p:nvSpPr>
          <p:spPr>
            <a:xfrm>
              <a:off x="6324600" y="3943350"/>
              <a:ext cx="5295900" cy="2095500"/>
            </a:xfrm>
            <a:custGeom>
              <a:avLst/>
              <a:gdLst/>
              <a:ahLst/>
              <a:cxnLst/>
              <a:rect l="l" t="t" r="r" b="b"/>
              <a:pathLst>
                <a:path w="5295900" h="2095500">
                  <a:moveTo>
                    <a:pt x="247650" y="0"/>
                  </a:moveTo>
                  <a:lnTo>
                    <a:pt x="5048250" y="0"/>
                  </a:lnTo>
                  <a:cubicBezTo>
                    <a:pt x="5185023" y="0"/>
                    <a:pt x="5295900" y="110877"/>
                    <a:pt x="5295900" y="247650"/>
                  </a:cubicBezTo>
                  <a:lnTo>
                    <a:pt x="5295900" y="1847850"/>
                  </a:lnTo>
                  <a:cubicBezTo>
                    <a:pt x="5295900" y="1984623"/>
                    <a:pt x="5185023" y="2095500"/>
                    <a:pt x="5048250" y="2095500"/>
                  </a:cubicBezTo>
                  <a:lnTo>
                    <a:pt x="247650" y="2095500"/>
                  </a:lnTo>
                  <a:cubicBezTo>
                    <a:pt x="110877" y="2095500"/>
                    <a:pt x="0" y="1984623"/>
                    <a:pt x="0" y="1847850"/>
                  </a:cubicBezTo>
                  <a:lnTo>
                    <a:pt x="0" y="247650"/>
                  </a:lnTo>
                  <a:cubicBezTo>
                    <a:pt x="0" y="110877"/>
                    <a:pt x="110877" y="0"/>
                    <a:pt x="247650" y="0"/>
                  </a:cubicBezTo>
                  <a:close/>
                </a:path>
              </a:pathLst>
            </a:custGeom>
            <a:solidFill>
              <a:srgbClr val="F8FAFC"/>
            </a:solidFill>
            <a:ln>
              <a:noFill/>
            </a:ln>
            <a:effectLst>
              <a:outerShdw blurRad="152400" dist="38100" dir="10799140" algn="tl" rotWithShape="0">
                <a:srgbClr val="0F172A">
                  <a:alpha val="10000"/>
                </a:srgbClr>
              </a:outerShdw>
            </a:effectLst>
          </p:spPr>
        </p:sp>
        <p:grpSp>
          <p:nvGrpSpPr>
            <p:cNvPr id="35" name="Group 35"/>
            <p:cNvGrpSpPr/>
            <p:nvPr/>
          </p:nvGrpSpPr>
          <p:grpSpPr>
            <a:xfrm>
              <a:off x="6667500" y="4267200"/>
              <a:ext cx="361950" cy="339328"/>
              <a:chOff x="6667500" y="4267200"/>
              <a:chExt cx="361950" cy="339328"/>
            </a:xfrm>
          </p:grpSpPr>
          <p:sp>
            <p:nvSpPr>
              <p:cNvPr id="32" name="Freeform 32"/>
              <p:cNvSpPr/>
              <p:nvPr/>
            </p:nvSpPr>
            <p:spPr>
              <a:xfrm>
                <a:off x="6712744" y="4267200"/>
                <a:ext cx="113109" cy="135731"/>
              </a:xfrm>
              <a:custGeom>
                <a:avLst/>
                <a:gdLst/>
                <a:ahLst/>
                <a:cxnLst/>
                <a:rect l="l" t="t" r="r" b="b"/>
                <a:pathLst>
                  <a:path w="113109" h="135731">
                    <a:moveTo>
                      <a:pt x="0" y="0"/>
                    </a:moveTo>
                    <a:lnTo>
                      <a:pt x="113109" y="0"/>
                    </a:lnTo>
                    <a:lnTo>
                      <a:pt x="113109" y="135731"/>
                    </a:lnTo>
                    <a:lnTo>
                      <a:pt x="0" y="135731"/>
                    </a:lnTo>
                    <a:lnTo>
                      <a:pt x="0" y="0"/>
                    </a:lnTo>
                    <a:close/>
                  </a:path>
                </a:pathLst>
              </a:custGeom>
              <a:solidFill>
                <a:srgbClr val="10B981"/>
              </a:solidFill>
              <a:ln>
                <a:noFill/>
              </a:ln>
              <a:effectLst>
                <a:outerShdw blurRad="152400" dist="38100" dir="10799140" algn="tl" rotWithShape="0">
                  <a:srgbClr val="0F172A">
                    <a:alpha val="10000"/>
                  </a:srgbClr>
                </a:outerShdw>
              </a:effectLst>
            </p:spPr>
          </p:sp>
          <p:sp>
            <p:nvSpPr>
              <p:cNvPr id="33" name="Freeform 33"/>
              <p:cNvSpPr/>
              <p:nvPr/>
            </p:nvSpPr>
            <p:spPr>
              <a:xfrm>
                <a:off x="6667500" y="4448175"/>
                <a:ext cx="361950" cy="158353"/>
              </a:xfrm>
              <a:custGeom>
                <a:avLst/>
                <a:gdLst/>
                <a:ahLst/>
                <a:cxnLst/>
                <a:rect l="l" t="t" r="r" b="b"/>
                <a:pathLst>
                  <a:path w="361950" h="158353">
                    <a:moveTo>
                      <a:pt x="158353" y="113109"/>
                    </a:moveTo>
                    <a:lnTo>
                      <a:pt x="158353" y="0"/>
                    </a:lnTo>
                    <a:lnTo>
                      <a:pt x="45244" y="0"/>
                    </a:lnTo>
                    <a:lnTo>
                      <a:pt x="45244" y="113109"/>
                    </a:lnTo>
                    <a:lnTo>
                      <a:pt x="0" y="113109"/>
                    </a:lnTo>
                    <a:lnTo>
                      <a:pt x="0" y="158353"/>
                    </a:lnTo>
                    <a:lnTo>
                      <a:pt x="361950" y="158353"/>
                    </a:lnTo>
                    <a:lnTo>
                      <a:pt x="361950" y="113109"/>
                    </a:lnTo>
                    <a:lnTo>
                      <a:pt x="316706" y="113109"/>
                    </a:lnTo>
                    <a:lnTo>
                      <a:pt x="316706" y="0"/>
                    </a:lnTo>
                    <a:lnTo>
                      <a:pt x="203597" y="0"/>
                    </a:lnTo>
                    <a:lnTo>
                      <a:pt x="203597" y="113109"/>
                    </a:lnTo>
                    <a:lnTo>
                      <a:pt x="158353" y="113109"/>
                    </a:lnTo>
                    <a:close/>
                  </a:path>
                </a:pathLst>
              </a:custGeom>
              <a:solidFill>
                <a:srgbClr val="10B981"/>
              </a:solidFill>
              <a:ln>
                <a:noFill/>
              </a:ln>
              <a:effectLst>
                <a:outerShdw blurRad="152400" dist="38100" dir="10799140" algn="tl" rotWithShape="0">
                  <a:srgbClr val="0F172A">
                    <a:alpha val="10000"/>
                  </a:srgbClr>
                </a:outerShdw>
              </a:effectLst>
            </p:spPr>
          </p:sp>
          <p:sp>
            <p:nvSpPr>
              <p:cNvPr id="34" name="Freeform 34"/>
              <p:cNvSpPr/>
              <p:nvPr/>
            </p:nvSpPr>
            <p:spPr>
              <a:xfrm>
                <a:off x="6871097" y="4267200"/>
                <a:ext cx="113109" cy="135731"/>
              </a:xfrm>
              <a:custGeom>
                <a:avLst/>
                <a:gdLst/>
                <a:ahLst/>
                <a:cxnLst/>
                <a:rect l="l" t="t" r="r" b="b"/>
                <a:pathLst>
                  <a:path w="113109" h="135731">
                    <a:moveTo>
                      <a:pt x="0" y="0"/>
                    </a:moveTo>
                    <a:lnTo>
                      <a:pt x="0" y="135731"/>
                    </a:lnTo>
                    <a:lnTo>
                      <a:pt x="113109" y="135731"/>
                    </a:lnTo>
                    <a:lnTo>
                      <a:pt x="113109" y="0"/>
                    </a:lnTo>
                    <a:lnTo>
                      <a:pt x="0" y="0"/>
                    </a:lnTo>
                    <a:close/>
                  </a:path>
                </a:pathLst>
              </a:custGeom>
              <a:solidFill>
                <a:srgbClr val="10B981"/>
              </a:solidFill>
              <a:ln>
                <a:noFill/>
              </a:ln>
              <a:effectLst>
                <a:outerShdw blurRad="152400" dist="38100" dir="10799140" algn="tl" rotWithShape="0">
                  <a:srgbClr val="0F172A">
                    <a:alpha val="10000"/>
                  </a:srgbClr>
                </a:outerShdw>
              </a:effectLst>
            </p:spPr>
          </p:sp>
        </p:grpSp>
        <p:sp>
          <p:nvSpPr>
            <p:cNvPr id="36" name="TextBox 36"/>
            <p:cNvSpPr txBox="1"/>
            <p:nvPr/>
          </p:nvSpPr>
          <p:spPr>
            <a:xfrm>
              <a:off x="7160895" y="4336732"/>
              <a:ext cx="3786778"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A1A2E"/>
                  </a:solidFill>
                  <a:latin typeface="Arial"/>
                  <a:ea typeface="Microsoft YaHei"/>
                  <a:cs typeface="Arial"/>
                </a:rPr>
                <a:t>Which formats are supported?</a:t>
              </a:r>
            </a:p>
          </p:txBody>
        </p:sp>
        <p:sp>
          <p:nvSpPr>
            <p:cNvPr id="37" name="TextBox 37"/>
            <p:cNvSpPr txBox="1"/>
            <p:nvPr/>
          </p:nvSpPr>
          <p:spPr>
            <a:xfrm>
              <a:off x="6652260" y="4842510"/>
              <a:ext cx="6646545"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Standard slides plus social and marketing canvases such as RED, square post,</a:t>
              </a:r>
            </a:p>
          </p:txBody>
        </p:sp>
        <p:sp>
          <p:nvSpPr>
            <p:cNvPr id="38" name="TextBox 38"/>
            <p:cNvSpPr txBox="1"/>
            <p:nvPr/>
          </p:nvSpPr>
          <p:spPr>
            <a:xfrm>
              <a:off x="6652260" y="5071110"/>
              <a:ext cx="3176397"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Story, WeChat header, and A4 print.</a:t>
              </a:r>
            </a:p>
          </p:txBody>
        </p:sp>
      </p:grpSp>
      <p:sp>
        <p:nvSpPr>
          <p:cNvPr id="40" name="TextBox 40"/>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09</a:t>
            </a:r>
          </a:p>
        </p:txBody>
      </p:sp>
    </p:spTree>
  </p:cSld>
  <p:clrMapOvr>
    <a:masterClrMapping/>
  </p:clrMapOvr>
  <p:transition 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D97757"/>
          </a:solidFill>
          <a:ln>
            <a:noFill/>
          </a:ln>
        </p:spPr>
      </p:sp>
      <p:sp>
        <p:nvSpPr>
          <p:cNvPr id="4" name="TextBox 4"/>
          <p:cNvSpPr txBox="1"/>
          <p:nvPr/>
        </p:nvSpPr>
        <p:spPr>
          <a:xfrm>
            <a:off x="559118" y="390049"/>
            <a:ext cx="884497" cy="198120"/>
          </a:xfrm>
          <a:prstGeom prst="rect">
            <a:avLst/>
          </a:prstGeom>
          <a:noFill/>
          <a:ln>
            <a:noFill/>
          </a:ln>
        </p:spPr>
        <p:txBody>
          <a:bodyPr wrap="none" lIns="0" tIns="0" rIns="0" bIns="0" anchor="t" anchorCtr="0">
            <a:spAutoFit/>
          </a:bodyPr>
          <a:lstStyle/>
          <a:p>
            <a:pPr algn="l"/>
            <a:r>
              <a:rPr lang="zh-CN" sz="975" b="1" dirty="0">
                <a:solidFill>
                  <a:srgbClr val="D97757"/>
                </a:solidFill>
                <a:latin typeface="Arial"/>
                <a:ea typeface="Microsoft YaHei"/>
                <a:cs typeface="Arial"/>
              </a:rPr>
              <a:t>QUALITY BAR</a:t>
            </a:r>
          </a:p>
        </p:txBody>
      </p:sp>
      <p:sp>
        <p:nvSpPr>
          <p:cNvPr id="5" name="TextBox 5"/>
          <p:cNvSpPr txBox="1"/>
          <p:nvPr/>
        </p:nvSpPr>
        <p:spPr>
          <a:xfrm>
            <a:off x="539115" y="543878"/>
            <a:ext cx="10759957" cy="518160"/>
          </a:xfrm>
          <a:prstGeom prst="rect">
            <a:avLst/>
          </a:prstGeom>
          <a:noFill/>
          <a:ln>
            <a:noFill/>
          </a:ln>
        </p:spPr>
        <p:txBody>
          <a:bodyPr wrap="none" lIns="0" tIns="0" rIns="0" bIns="0" anchor="t" anchorCtr="0">
            <a:spAutoFit/>
          </a:bodyPr>
          <a:lstStyle/>
          <a:p>
            <a:pPr algn="l"/>
            <a:r>
              <a:rPr lang="zh-CN" sz="2550" b="1" dirty="0">
                <a:solidFill>
                  <a:srgbClr val="1A1A2E"/>
                </a:solidFill>
                <a:latin typeface="Arial"/>
                <a:ea typeface="Microsoft YaHei"/>
                <a:cs typeface="Arial"/>
              </a:rPr>
              <a:t>Output quality depends on the model and the review loop</a:t>
            </a:r>
          </a:p>
        </p:txBody>
      </p:sp>
      <p:sp>
        <p:nvSpPr>
          <p:cNvPr id="6" name="TextBox 6"/>
          <p:cNvSpPr txBox="1"/>
          <p:nvPr/>
        </p:nvSpPr>
        <p:spPr>
          <a:xfrm>
            <a:off x="556260" y="975360"/>
            <a:ext cx="8775954"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The FAQ is candid: when layout breaks, the problem is usually model capability, not the whole pipeline.</a:t>
            </a:r>
          </a:p>
        </p:txBody>
      </p:sp>
      <p:grpSp>
        <p:nvGrpSpPr>
          <p:cNvPr id="13" name="Group 13"/>
          <p:cNvGrpSpPr/>
          <p:nvPr/>
        </p:nvGrpSpPr>
        <p:grpSpPr>
          <a:xfrm>
            <a:off x="571500" y="1581150"/>
            <a:ext cx="8087106" cy="4457700"/>
            <a:chOff x="571500" y="1581150"/>
            <a:chExt cx="8087106" cy="4457700"/>
          </a:xfrm>
          <a:effectLst>
            <a:outerShdw blurRad="152400" dist="38100" dir="10799140" algn="tl" rotWithShape="0">
              <a:srgbClr val="0F172A">
                <a:alpha val="10000"/>
              </a:srgbClr>
            </a:outerShdw>
          </a:effectLst>
        </p:grpSpPr>
        <p:sp>
          <p:nvSpPr>
            <p:cNvPr id="7" name="Freeform 7"/>
            <p:cNvSpPr/>
            <p:nvPr/>
          </p:nvSpPr>
          <p:spPr>
            <a:xfrm>
              <a:off x="571500" y="1581150"/>
              <a:ext cx="4953000" cy="4457700"/>
            </a:xfrm>
            <a:custGeom>
              <a:avLst/>
              <a:gdLst/>
              <a:ahLst/>
              <a:cxnLst/>
              <a:rect l="l" t="t" r="r" b="b"/>
              <a:pathLst>
                <a:path w="4953000" h="4457700">
                  <a:moveTo>
                    <a:pt x="247650" y="0"/>
                  </a:moveTo>
                  <a:lnTo>
                    <a:pt x="4705350" y="0"/>
                  </a:lnTo>
                  <a:cubicBezTo>
                    <a:pt x="4842123" y="0"/>
                    <a:pt x="4953000" y="110877"/>
                    <a:pt x="4953000" y="247650"/>
                  </a:cubicBezTo>
                  <a:lnTo>
                    <a:pt x="4953000" y="4210050"/>
                  </a:lnTo>
                  <a:cubicBezTo>
                    <a:pt x="4953000" y="4346823"/>
                    <a:pt x="4842123" y="4457700"/>
                    <a:pt x="4705350" y="4457700"/>
                  </a:cubicBezTo>
                  <a:lnTo>
                    <a:pt x="247650" y="4457700"/>
                  </a:lnTo>
                  <a:cubicBezTo>
                    <a:pt x="110877" y="4457700"/>
                    <a:pt x="0" y="4346823"/>
                    <a:pt x="0" y="4210050"/>
                  </a:cubicBezTo>
                  <a:lnTo>
                    <a:pt x="0" y="247650"/>
                  </a:lnTo>
                  <a:cubicBezTo>
                    <a:pt x="0" y="110877"/>
                    <a:pt x="110877" y="0"/>
                    <a:pt x="24765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8" name="TextBox 8"/>
            <p:cNvSpPr txBox="1"/>
            <p:nvPr/>
          </p:nvSpPr>
          <p:spPr>
            <a:xfrm>
              <a:off x="893445" y="1860232"/>
              <a:ext cx="3508443"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A1A2E"/>
                  </a:solidFill>
                  <a:latin typeface="Arial"/>
                  <a:ea typeface="Microsoft YaHei"/>
                  <a:cs typeface="Arial"/>
                </a:rPr>
                <a:t>Recommended quality stance</a:t>
              </a:r>
            </a:p>
          </p:txBody>
        </p:sp>
        <p:sp>
          <p:nvSpPr>
            <p:cNvPr id="9" name="TextBox 9"/>
            <p:cNvSpPr txBox="1"/>
            <p:nvPr/>
          </p:nvSpPr>
          <p:spPr>
            <a:xfrm>
              <a:off x="899160" y="2404110"/>
              <a:ext cx="6129528"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 Claude is positioned as the strongest layout model in the project docs</a:t>
              </a:r>
            </a:p>
          </p:txBody>
        </p:sp>
        <p:sp>
          <p:nvSpPr>
            <p:cNvPr id="10" name="TextBox 10"/>
            <p:cNvSpPr txBox="1"/>
            <p:nvPr/>
          </p:nvSpPr>
          <p:spPr>
            <a:xfrm>
              <a:off x="899160" y="2651760"/>
              <a:ext cx="683933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 Other models can work, but with lower confidence on spacing and coordinates</a:t>
              </a:r>
            </a:p>
          </p:txBody>
        </p:sp>
        <p:sp>
          <p:nvSpPr>
            <p:cNvPr id="11" name="TextBox 11"/>
            <p:cNvSpPr txBox="1"/>
            <p:nvPr/>
          </p:nvSpPr>
          <p:spPr>
            <a:xfrm>
              <a:off x="899160" y="2899410"/>
              <a:ext cx="5998083"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 High-quality output assumes page review and selective regeneration</a:t>
              </a:r>
            </a:p>
          </p:txBody>
        </p:sp>
        <p:sp>
          <p:nvSpPr>
            <p:cNvPr id="12" name="TextBox 12"/>
            <p:cNvSpPr txBox="1"/>
            <p:nvPr/>
          </p:nvSpPr>
          <p:spPr>
            <a:xfrm>
              <a:off x="899160" y="3147060"/>
              <a:ext cx="7759446"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64748B"/>
                  </a:solidFill>
                  <a:latin typeface="Arial"/>
                  <a:ea typeface="Microsoft YaHei"/>
                  <a:cs typeface="Arial"/>
                </a:rPr>
                <a:t>- The deck is described as a high-quality starting point, not a guaranteed final deliverable</a:t>
              </a:r>
            </a:p>
          </p:txBody>
        </p:sp>
      </p:grpSp>
      <p:grpSp>
        <p:nvGrpSpPr>
          <p:cNvPr id="25" name="Group 25"/>
          <p:cNvGrpSpPr/>
          <p:nvPr/>
        </p:nvGrpSpPr>
        <p:grpSpPr>
          <a:xfrm>
            <a:off x="5905500" y="1581150"/>
            <a:ext cx="5944005" cy="4457700"/>
            <a:chOff x="5905500" y="1581150"/>
            <a:chExt cx="5944005" cy="4457700"/>
          </a:xfrm>
          <a:effectLst>
            <a:outerShdw blurRad="152400" dist="38100" dir="10799140" algn="tl" rotWithShape="0">
              <a:srgbClr val="0F172A">
                <a:alpha val="10000"/>
              </a:srgbClr>
            </a:outerShdw>
          </a:effectLst>
        </p:grpSpPr>
        <p:sp>
          <p:nvSpPr>
            <p:cNvPr id="14" name="Freeform 14"/>
            <p:cNvSpPr/>
            <p:nvPr/>
          </p:nvSpPr>
          <p:spPr>
            <a:xfrm>
              <a:off x="5905500" y="1581150"/>
              <a:ext cx="5715000" cy="4457700"/>
            </a:xfrm>
            <a:custGeom>
              <a:avLst/>
              <a:gdLst/>
              <a:ahLst/>
              <a:cxnLst/>
              <a:rect l="l" t="t" r="r" b="b"/>
              <a:pathLst>
                <a:path w="5715000" h="4457700">
                  <a:moveTo>
                    <a:pt x="247650" y="0"/>
                  </a:moveTo>
                  <a:lnTo>
                    <a:pt x="5467350" y="0"/>
                  </a:lnTo>
                  <a:cubicBezTo>
                    <a:pt x="5604123" y="0"/>
                    <a:pt x="5715000" y="110877"/>
                    <a:pt x="5715000" y="247650"/>
                  </a:cubicBezTo>
                  <a:lnTo>
                    <a:pt x="5715000" y="4210050"/>
                  </a:lnTo>
                  <a:cubicBezTo>
                    <a:pt x="5715000" y="4346823"/>
                    <a:pt x="5604123" y="4457700"/>
                    <a:pt x="5467350" y="4457700"/>
                  </a:cubicBezTo>
                  <a:lnTo>
                    <a:pt x="247650" y="4457700"/>
                  </a:lnTo>
                  <a:cubicBezTo>
                    <a:pt x="110877" y="4457700"/>
                    <a:pt x="0" y="4346823"/>
                    <a:pt x="0" y="4210050"/>
                  </a:cubicBezTo>
                  <a:lnTo>
                    <a:pt x="0" y="247650"/>
                  </a:lnTo>
                  <a:cubicBezTo>
                    <a:pt x="0" y="110877"/>
                    <a:pt x="110877" y="0"/>
                    <a:pt x="24765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15" name="TextBox 15"/>
            <p:cNvSpPr txBox="1"/>
            <p:nvPr/>
          </p:nvSpPr>
          <p:spPr>
            <a:xfrm>
              <a:off x="6227445" y="1860232"/>
              <a:ext cx="2357149"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A1A2E"/>
                  </a:solidFill>
                  <a:latin typeface="Arial"/>
                  <a:ea typeface="Microsoft YaHei"/>
                  <a:cs typeface="Arial"/>
                </a:rPr>
                <a:t>Typical review loop</a:t>
              </a:r>
            </a:p>
          </p:txBody>
        </p:sp>
        <p:sp>
          <p:nvSpPr>
            <p:cNvPr id="16" name="Freeform 16"/>
            <p:cNvSpPr/>
            <p:nvPr/>
          </p:nvSpPr>
          <p:spPr>
            <a:xfrm>
              <a:off x="6248400" y="2438400"/>
              <a:ext cx="5029200" cy="704850"/>
            </a:xfrm>
            <a:custGeom>
              <a:avLst/>
              <a:gdLst/>
              <a:ahLst/>
              <a:cxnLst/>
              <a:rect l="l" t="t" r="r" b="b"/>
              <a:pathLst>
                <a:path w="5029200" h="704850">
                  <a:moveTo>
                    <a:pt x="171450" y="0"/>
                  </a:moveTo>
                  <a:lnTo>
                    <a:pt x="4857750" y="0"/>
                  </a:lnTo>
                  <a:cubicBezTo>
                    <a:pt x="4952439" y="0"/>
                    <a:pt x="5029200" y="76761"/>
                    <a:pt x="5029200" y="171450"/>
                  </a:cubicBezTo>
                  <a:lnTo>
                    <a:pt x="5029200" y="533400"/>
                  </a:lnTo>
                  <a:cubicBezTo>
                    <a:pt x="5029200" y="628089"/>
                    <a:pt x="4952439" y="704850"/>
                    <a:pt x="4857750" y="704850"/>
                  </a:cubicBezTo>
                  <a:lnTo>
                    <a:pt x="171450" y="704850"/>
                  </a:lnTo>
                  <a:cubicBezTo>
                    <a:pt x="76761" y="704850"/>
                    <a:pt x="0" y="628089"/>
                    <a:pt x="0" y="533400"/>
                  </a:cubicBezTo>
                  <a:lnTo>
                    <a:pt x="0" y="171450"/>
                  </a:lnTo>
                  <a:cubicBezTo>
                    <a:pt x="0" y="76761"/>
                    <a:pt x="76761" y="0"/>
                    <a:pt x="17145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17" name="TextBox 17"/>
            <p:cNvSpPr txBox="1"/>
            <p:nvPr/>
          </p:nvSpPr>
          <p:spPr>
            <a:xfrm>
              <a:off x="6536055" y="2721292"/>
              <a:ext cx="2342629"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D97757"/>
                  </a:solidFill>
                  <a:latin typeface="Arial"/>
                  <a:ea typeface="Microsoft YaHei"/>
                  <a:cs typeface="Arial"/>
                </a:rPr>
                <a:t>1 Generate a first pass</a:t>
              </a:r>
            </a:p>
          </p:txBody>
        </p:sp>
        <p:sp>
          <p:nvSpPr>
            <p:cNvPr id="18" name="Freeform 18"/>
            <p:cNvSpPr/>
            <p:nvPr/>
          </p:nvSpPr>
          <p:spPr>
            <a:xfrm>
              <a:off x="6248400" y="3295650"/>
              <a:ext cx="5029200" cy="704850"/>
            </a:xfrm>
            <a:custGeom>
              <a:avLst/>
              <a:gdLst/>
              <a:ahLst/>
              <a:cxnLst/>
              <a:rect l="l" t="t" r="r" b="b"/>
              <a:pathLst>
                <a:path w="5029200" h="704850">
                  <a:moveTo>
                    <a:pt x="171450" y="0"/>
                  </a:moveTo>
                  <a:lnTo>
                    <a:pt x="4857750" y="0"/>
                  </a:lnTo>
                  <a:cubicBezTo>
                    <a:pt x="4952439" y="0"/>
                    <a:pt x="5029200" y="76761"/>
                    <a:pt x="5029200" y="171450"/>
                  </a:cubicBezTo>
                  <a:lnTo>
                    <a:pt x="5029200" y="533400"/>
                  </a:lnTo>
                  <a:cubicBezTo>
                    <a:pt x="5029200" y="628089"/>
                    <a:pt x="4952439" y="704850"/>
                    <a:pt x="4857750" y="704850"/>
                  </a:cubicBezTo>
                  <a:lnTo>
                    <a:pt x="171450" y="704850"/>
                  </a:lnTo>
                  <a:cubicBezTo>
                    <a:pt x="76761" y="704850"/>
                    <a:pt x="0" y="628089"/>
                    <a:pt x="0" y="533400"/>
                  </a:cubicBezTo>
                  <a:lnTo>
                    <a:pt x="0" y="171450"/>
                  </a:lnTo>
                  <a:cubicBezTo>
                    <a:pt x="0" y="76761"/>
                    <a:pt x="76761" y="0"/>
                    <a:pt x="17145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19" name="TextBox 19"/>
            <p:cNvSpPr txBox="1"/>
            <p:nvPr/>
          </p:nvSpPr>
          <p:spPr>
            <a:xfrm>
              <a:off x="6536055" y="3502342"/>
              <a:ext cx="2787734"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4A90D9"/>
                  </a:solidFill>
                  <a:latin typeface="Arial"/>
                  <a:ea typeface="Microsoft YaHei"/>
                  <a:cs typeface="Arial"/>
                </a:rPr>
                <a:t>2 Inspect specific overflow</a:t>
              </a:r>
            </a:p>
          </p:txBody>
        </p:sp>
        <p:sp>
          <p:nvSpPr>
            <p:cNvPr id="20" name="TextBox 20"/>
            <p:cNvSpPr txBox="1"/>
            <p:nvPr/>
          </p:nvSpPr>
          <p:spPr>
            <a:xfrm>
              <a:off x="6536055" y="3692842"/>
              <a:ext cx="2094197"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4A90D9"/>
                  </a:solidFill>
                  <a:latin typeface="Arial"/>
                  <a:ea typeface="Microsoft YaHei"/>
                  <a:cs typeface="Arial"/>
                </a:rPr>
                <a:t>and alignment issues</a:t>
              </a:r>
            </a:p>
          </p:txBody>
        </p:sp>
        <p:sp>
          <p:nvSpPr>
            <p:cNvPr id="21" name="Freeform 21"/>
            <p:cNvSpPr/>
            <p:nvPr/>
          </p:nvSpPr>
          <p:spPr>
            <a:xfrm>
              <a:off x="6248400" y="4152900"/>
              <a:ext cx="5029200" cy="704850"/>
            </a:xfrm>
            <a:custGeom>
              <a:avLst/>
              <a:gdLst/>
              <a:ahLst/>
              <a:cxnLst/>
              <a:rect l="l" t="t" r="r" b="b"/>
              <a:pathLst>
                <a:path w="5029200" h="704850">
                  <a:moveTo>
                    <a:pt x="171450" y="0"/>
                  </a:moveTo>
                  <a:lnTo>
                    <a:pt x="4857750" y="0"/>
                  </a:lnTo>
                  <a:cubicBezTo>
                    <a:pt x="4952439" y="0"/>
                    <a:pt x="5029200" y="76761"/>
                    <a:pt x="5029200" y="171450"/>
                  </a:cubicBezTo>
                  <a:lnTo>
                    <a:pt x="5029200" y="533400"/>
                  </a:lnTo>
                  <a:cubicBezTo>
                    <a:pt x="5029200" y="628089"/>
                    <a:pt x="4952439" y="704850"/>
                    <a:pt x="4857750" y="704850"/>
                  </a:cubicBezTo>
                  <a:lnTo>
                    <a:pt x="171450" y="704850"/>
                  </a:lnTo>
                  <a:cubicBezTo>
                    <a:pt x="76761" y="704850"/>
                    <a:pt x="0" y="628089"/>
                    <a:pt x="0" y="533400"/>
                  </a:cubicBezTo>
                  <a:lnTo>
                    <a:pt x="0" y="171450"/>
                  </a:lnTo>
                  <a:cubicBezTo>
                    <a:pt x="0" y="76761"/>
                    <a:pt x="76761" y="0"/>
                    <a:pt x="17145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22" name="TextBox 22"/>
            <p:cNvSpPr txBox="1"/>
            <p:nvPr/>
          </p:nvSpPr>
          <p:spPr>
            <a:xfrm>
              <a:off x="6536055" y="4435792"/>
              <a:ext cx="4795885"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10B981"/>
                  </a:solidFill>
                  <a:latin typeface="Arial"/>
                  <a:ea typeface="Microsoft YaHei"/>
                  <a:cs typeface="Arial"/>
                </a:rPr>
                <a:t>3 Regenerate or manually fix the affected page</a:t>
              </a:r>
            </a:p>
          </p:txBody>
        </p:sp>
        <p:sp>
          <p:nvSpPr>
            <p:cNvPr id="23" name="Freeform 23"/>
            <p:cNvSpPr/>
            <p:nvPr/>
          </p:nvSpPr>
          <p:spPr>
            <a:xfrm>
              <a:off x="6248400" y="5010150"/>
              <a:ext cx="5029200" cy="704850"/>
            </a:xfrm>
            <a:custGeom>
              <a:avLst/>
              <a:gdLst/>
              <a:ahLst/>
              <a:cxnLst/>
              <a:rect l="l" t="t" r="r" b="b"/>
              <a:pathLst>
                <a:path w="5029200" h="704850">
                  <a:moveTo>
                    <a:pt x="171450" y="0"/>
                  </a:moveTo>
                  <a:lnTo>
                    <a:pt x="4857750" y="0"/>
                  </a:lnTo>
                  <a:cubicBezTo>
                    <a:pt x="4952439" y="0"/>
                    <a:pt x="5029200" y="76761"/>
                    <a:pt x="5029200" y="171450"/>
                  </a:cubicBezTo>
                  <a:lnTo>
                    <a:pt x="5029200" y="533400"/>
                  </a:lnTo>
                  <a:cubicBezTo>
                    <a:pt x="5029200" y="628089"/>
                    <a:pt x="4952439" y="704850"/>
                    <a:pt x="4857750" y="704850"/>
                  </a:cubicBezTo>
                  <a:lnTo>
                    <a:pt x="171450" y="704850"/>
                  </a:lnTo>
                  <a:cubicBezTo>
                    <a:pt x="76761" y="704850"/>
                    <a:pt x="0" y="628089"/>
                    <a:pt x="0" y="533400"/>
                  </a:cubicBezTo>
                  <a:lnTo>
                    <a:pt x="0" y="171450"/>
                  </a:lnTo>
                  <a:cubicBezTo>
                    <a:pt x="0" y="76761"/>
                    <a:pt x="76761" y="0"/>
                    <a:pt x="17145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24" name="TextBox 24"/>
            <p:cNvSpPr txBox="1"/>
            <p:nvPr/>
          </p:nvSpPr>
          <p:spPr>
            <a:xfrm>
              <a:off x="6536055" y="5293042"/>
              <a:ext cx="5313450"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10B981"/>
                  </a:solidFill>
                  <a:latin typeface="Arial"/>
                  <a:ea typeface="Microsoft YaHei"/>
                  <a:cs typeface="Arial"/>
                </a:rPr>
                <a:t>4 Finish the final mile inside PowerPoint when needed</a:t>
              </a:r>
            </a:p>
          </p:txBody>
        </p:sp>
      </p:grpSp>
      <p:sp>
        <p:nvSpPr>
          <p:cNvPr id="26" name="TextBox 26"/>
          <p:cNvSpPr txBox="1"/>
          <p:nvPr/>
        </p:nvSpPr>
        <p:spPr>
          <a:xfrm>
            <a:off x="11383042" y="6417945"/>
            <a:ext cx="134588"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10</a:t>
            </a:r>
          </a:p>
        </p:txBody>
      </p:sp>
    </p:spTree>
  </p:cSld>
  <p:clrMapOvr>
    <a:masterClrMapping/>
  </p:clrMapOvr>
  <p:transition 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D97757"/>
          </a:solidFill>
          <a:ln>
            <a:noFill/>
          </a:ln>
        </p:spPr>
      </p:sp>
      <p:sp>
        <p:nvSpPr>
          <p:cNvPr id="4" name="TextBox 4"/>
          <p:cNvSpPr txBox="1"/>
          <p:nvPr/>
        </p:nvSpPr>
        <p:spPr>
          <a:xfrm>
            <a:off x="559118" y="390049"/>
            <a:ext cx="1108775" cy="198120"/>
          </a:xfrm>
          <a:prstGeom prst="rect">
            <a:avLst/>
          </a:prstGeom>
          <a:noFill/>
          <a:ln>
            <a:noFill/>
          </a:ln>
        </p:spPr>
        <p:txBody>
          <a:bodyPr wrap="none" lIns="0" tIns="0" rIns="0" bIns="0" anchor="t" anchorCtr="0">
            <a:spAutoFit/>
          </a:bodyPr>
          <a:lstStyle/>
          <a:p>
            <a:pPr algn="l"/>
            <a:r>
              <a:rPr lang="zh-CN" sz="975" b="1" dirty="0">
                <a:solidFill>
                  <a:srgbClr val="D97757"/>
                </a:solidFill>
                <a:latin typeface="Arial"/>
                <a:ea typeface="Microsoft YaHei"/>
                <a:cs typeface="Arial"/>
              </a:rPr>
              <a:t>WINDOWS SETUP</a:t>
            </a:r>
          </a:p>
        </p:txBody>
      </p:sp>
      <p:sp>
        <p:nvSpPr>
          <p:cNvPr id="5" name="TextBox 5"/>
          <p:cNvSpPr txBox="1"/>
          <p:nvPr/>
        </p:nvSpPr>
        <p:spPr>
          <a:xfrm>
            <a:off x="539115" y="543878"/>
            <a:ext cx="6223790" cy="518160"/>
          </a:xfrm>
          <a:prstGeom prst="rect">
            <a:avLst/>
          </a:prstGeom>
          <a:noFill/>
          <a:ln>
            <a:noFill/>
          </a:ln>
        </p:spPr>
        <p:txBody>
          <a:bodyPr wrap="none" lIns="0" tIns="0" rIns="0" bIns="0" anchor="t" anchorCtr="0">
            <a:spAutoFit/>
          </a:bodyPr>
          <a:lstStyle/>
          <a:p>
            <a:pPr algn="l"/>
            <a:r>
              <a:rPr lang="zh-CN" sz="2550" b="1" dirty="0">
                <a:solidFill>
                  <a:srgbClr val="1A1A2E"/>
                </a:solidFill>
                <a:latin typeface="Arial"/>
                <a:ea typeface="Microsoft YaHei"/>
                <a:cs typeface="Arial"/>
              </a:rPr>
              <a:t>The minimum Windows setup path</a:t>
            </a:r>
          </a:p>
        </p:txBody>
      </p:sp>
      <p:sp>
        <p:nvSpPr>
          <p:cNvPr id="6" name="TextBox 6"/>
          <p:cNvSpPr txBox="1"/>
          <p:nvPr/>
        </p:nvSpPr>
        <p:spPr>
          <a:xfrm>
            <a:off x="556260" y="975360"/>
            <a:ext cx="9757410"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The installation guide is intentionally short: install Python, clone the repo, install dependencies, verify imports.</a:t>
            </a:r>
          </a:p>
        </p:txBody>
      </p:sp>
      <p:sp>
        <p:nvSpPr>
          <p:cNvPr id="7" name="Line 7"/>
          <p:cNvSpPr/>
          <p:nvPr/>
        </p:nvSpPr>
        <p:spPr>
          <a:xfrm>
            <a:off x="1428750" y="2476500"/>
            <a:ext cx="9334500" cy="9525"/>
          </a:xfrm>
          <a:custGeom>
            <a:avLst/>
            <a:gdLst/>
            <a:ahLst/>
            <a:cxnLst/>
            <a:rect l="l" t="t" r="r" b="b"/>
            <a:pathLst>
              <a:path w="9334500" h="9525">
                <a:moveTo>
                  <a:pt x="0" y="0"/>
                </a:moveTo>
                <a:lnTo>
                  <a:pt x="9334500" y="0"/>
                </a:lnTo>
              </a:path>
            </a:pathLst>
          </a:custGeom>
          <a:noFill/>
          <a:ln w="38100">
            <a:solidFill>
              <a:srgbClr val="D6DEEA"/>
            </a:solidFill>
          </a:ln>
        </p:spPr>
      </p:sp>
      <p:sp>
        <p:nvSpPr>
          <p:cNvPr id="8" name="Polygon 8"/>
          <p:cNvSpPr/>
          <p:nvPr/>
        </p:nvSpPr>
        <p:spPr>
          <a:xfrm>
            <a:off x="3943350" y="2362200"/>
            <a:ext cx="152400" cy="228600"/>
          </a:xfrm>
          <a:custGeom>
            <a:avLst/>
            <a:gdLst/>
            <a:ahLst/>
            <a:cxnLst/>
            <a:rect l="l" t="t" r="r" b="b"/>
            <a:pathLst>
              <a:path w="152400" h="228600">
                <a:moveTo>
                  <a:pt x="152400" y="114300"/>
                </a:moveTo>
                <a:lnTo>
                  <a:pt x="0" y="0"/>
                </a:lnTo>
                <a:lnTo>
                  <a:pt x="0" y="228600"/>
                </a:lnTo>
                <a:close/>
              </a:path>
            </a:pathLst>
          </a:custGeom>
          <a:solidFill>
            <a:srgbClr val="C7D0DE"/>
          </a:solidFill>
          <a:ln>
            <a:noFill/>
          </a:ln>
        </p:spPr>
      </p:sp>
      <p:sp>
        <p:nvSpPr>
          <p:cNvPr id="9" name="Polygon 9"/>
          <p:cNvSpPr/>
          <p:nvPr/>
        </p:nvSpPr>
        <p:spPr>
          <a:xfrm>
            <a:off x="6515100" y="2362200"/>
            <a:ext cx="152400" cy="228600"/>
          </a:xfrm>
          <a:custGeom>
            <a:avLst/>
            <a:gdLst/>
            <a:ahLst/>
            <a:cxnLst/>
            <a:rect l="l" t="t" r="r" b="b"/>
            <a:pathLst>
              <a:path w="152400" h="228600">
                <a:moveTo>
                  <a:pt x="152400" y="114300"/>
                </a:moveTo>
                <a:lnTo>
                  <a:pt x="0" y="0"/>
                </a:lnTo>
                <a:lnTo>
                  <a:pt x="0" y="228600"/>
                </a:lnTo>
                <a:close/>
              </a:path>
            </a:pathLst>
          </a:custGeom>
          <a:solidFill>
            <a:srgbClr val="C7D0DE"/>
          </a:solidFill>
          <a:ln>
            <a:noFill/>
          </a:ln>
        </p:spPr>
      </p:sp>
      <p:sp>
        <p:nvSpPr>
          <p:cNvPr id="10" name="Polygon 10"/>
          <p:cNvSpPr/>
          <p:nvPr/>
        </p:nvSpPr>
        <p:spPr>
          <a:xfrm>
            <a:off x="9086850" y="2362200"/>
            <a:ext cx="152400" cy="228600"/>
          </a:xfrm>
          <a:custGeom>
            <a:avLst/>
            <a:gdLst/>
            <a:ahLst/>
            <a:cxnLst/>
            <a:rect l="l" t="t" r="r" b="b"/>
            <a:pathLst>
              <a:path w="152400" h="228600">
                <a:moveTo>
                  <a:pt x="152400" y="114300"/>
                </a:moveTo>
                <a:lnTo>
                  <a:pt x="0" y="0"/>
                </a:lnTo>
                <a:lnTo>
                  <a:pt x="0" y="228600"/>
                </a:lnTo>
                <a:close/>
              </a:path>
            </a:pathLst>
          </a:custGeom>
          <a:solidFill>
            <a:srgbClr val="C7D0DE"/>
          </a:solidFill>
          <a:ln>
            <a:noFill/>
          </a:ln>
        </p:spPr>
      </p:sp>
      <p:grpSp>
        <p:nvGrpSpPr>
          <p:cNvPr id="17" name="Group 17"/>
          <p:cNvGrpSpPr/>
          <p:nvPr/>
        </p:nvGrpSpPr>
        <p:grpSpPr>
          <a:xfrm>
            <a:off x="571500" y="2076450"/>
            <a:ext cx="2731769" cy="3676650"/>
            <a:chOff x="571500" y="2076450"/>
            <a:chExt cx="2731769" cy="3676650"/>
          </a:xfrm>
          <a:effectLst>
            <a:outerShdw blurRad="152400" dist="38100" dir="10799140" algn="tl" rotWithShape="0">
              <a:srgbClr val="0F172A">
                <a:alpha val="10000"/>
              </a:srgbClr>
            </a:outerShdw>
          </a:effectLst>
        </p:grpSpPr>
        <p:sp>
          <p:nvSpPr>
            <p:cNvPr id="11" name="Ellipse 11"/>
            <p:cNvSpPr/>
            <p:nvPr/>
          </p:nvSpPr>
          <p:spPr>
            <a:xfrm>
              <a:off x="1409700" y="2076450"/>
              <a:ext cx="800100" cy="800100"/>
            </a:xfrm>
            <a:prstGeom prst="ellipse">
              <a:avLst/>
            </a:prstGeom>
            <a:solidFill>
              <a:srgbClr val="D97757"/>
            </a:solidFill>
            <a:ln>
              <a:noFill/>
            </a:ln>
            <a:effectLst>
              <a:outerShdw blurRad="152400" dist="38100" dir="10799140" algn="tl" rotWithShape="0">
                <a:srgbClr val="0F172A">
                  <a:alpha val="10000"/>
                </a:srgbClr>
              </a:outerShdw>
            </a:effectLst>
          </p:spPr>
        </p:sp>
        <p:sp>
          <p:nvSpPr>
            <p:cNvPr id="12" name="TextBox 12"/>
            <p:cNvSpPr txBox="1"/>
            <p:nvPr/>
          </p:nvSpPr>
          <p:spPr>
            <a:xfrm>
              <a:off x="1750840" y="2355532"/>
              <a:ext cx="117819"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1</a:t>
              </a:r>
            </a:p>
          </p:txBody>
        </p:sp>
        <p:sp>
          <p:nvSpPr>
            <p:cNvPr id="13" name="Freeform 13"/>
            <p:cNvSpPr/>
            <p:nvPr/>
          </p:nvSpPr>
          <p:spPr>
            <a:xfrm>
              <a:off x="571500" y="3238500"/>
              <a:ext cx="2476500" cy="2514600"/>
            </a:xfrm>
            <a:custGeom>
              <a:avLst/>
              <a:gdLst/>
              <a:ahLst/>
              <a:cxnLst/>
              <a:rect l="l" t="t" r="r" b="b"/>
              <a:pathLst>
                <a:path w="2476500" h="2514600">
                  <a:moveTo>
                    <a:pt x="228600" y="0"/>
                  </a:moveTo>
                  <a:lnTo>
                    <a:pt x="2247900" y="0"/>
                  </a:lnTo>
                  <a:cubicBezTo>
                    <a:pt x="2374152" y="0"/>
                    <a:pt x="2476500" y="102348"/>
                    <a:pt x="2476500" y="228600"/>
                  </a:cubicBezTo>
                  <a:lnTo>
                    <a:pt x="2476500" y="2286000"/>
                  </a:lnTo>
                  <a:cubicBezTo>
                    <a:pt x="2476500" y="2412252"/>
                    <a:pt x="2374152" y="2514600"/>
                    <a:pt x="2247900" y="2514600"/>
                  </a:cubicBezTo>
                  <a:lnTo>
                    <a:pt x="228600" y="2514600"/>
                  </a:lnTo>
                  <a:cubicBezTo>
                    <a:pt x="102348" y="2514600"/>
                    <a:pt x="0" y="2412252"/>
                    <a:pt x="0" y="2286000"/>
                  </a:cubicBezTo>
                  <a:lnTo>
                    <a:pt x="0" y="228600"/>
                  </a:lnTo>
                  <a:cubicBezTo>
                    <a:pt x="0" y="102348"/>
                    <a:pt x="102348" y="0"/>
                    <a:pt x="22860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14" name="TextBox 14"/>
            <p:cNvSpPr txBox="1"/>
            <p:nvPr/>
          </p:nvSpPr>
          <p:spPr>
            <a:xfrm>
              <a:off x="836295" y="3460432"/>
              <a:ext cx="2445710"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A1A2E"/>
                  </a:solidFill>
                  <a:latin typeface="Arial"/>
                  <a:ea typeface="Microsoft YaHei"/>
                  <a:cs typeface="Arial"/>
                </a:rPr>
                <a:t>Install Python 3.10+</a:t>
              </a:r>
            </a:p>
          </p:txBody>
        </p:sp>
        <p:sp>
          <p:nvSpPr>
            <p:cNvPr id="15" name="TextBox 15"/>
            <p:cNvSpPr txBox="1"/>
            <p:nvPr/>
          </p:nvSpPr>
          <p:spPr>
            <a:xfrm>
              <a:off x="842962" y="3974306"/>
              <a:ext cx="2460307"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The critical checkbox is adding</a:t>
              </a:r>
            </a:p>
          </p:txBody>
        </p:sp>
        <p:sp>
          <p:nvSpPr>
            <p:cNvPr id="16" name="TextBox 16"/>
            <p:cNvSpPr txBox="1"/>
            <p:nvPr/>
          </p:nvSpPr>
          <p:spPr>
            <a:xfrm>
              <a:off x="842962" y="4183856"/>
              <a:ext cx="1844159"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`python.exe` to PATH.</a:t>
              </a:r>
            </a:p>
          </p:txBody>
        </p:sp>
      </p:grpSp>
      <p:grpSp>
        <p:nvGrpSpPr>
          <p:cNvPr id="24" name="Group 24"/>
          <p:cNvGrpSpPr/>
          <p:nvPr/>
        </p:nvGrpSpPr>
        <p:grpSpPr>
          <a:xfrm>
            <a:off x="3143250" y="2076450"/>
            <a:ext cx="3052167" cy="3676650"/>
            <a:chOff x="3143250" y="2076450"/>
            <a:chExt cx="3052167" cy="3676650"/>
          </a:xfrm>
          <a:effectLst>
            <a:outerShdw blurRad="152400" dist="38100" dir="10799140" algn="tl" rotWithShape="0">
              <a:srgbClr val="0F172A">
                <a:alpha val="10000"/>
              </a:srgbClr>
            </a:outerShdw>
          </a:effectLst>
        </p:grpSpPr>
        <p:sp>
          <p:nvSpPr>
            <p:cNvPr id="18" name="Ellipse 18"/>
            <p:cNvSpPr/>
            <p:nvPr/>
          </p:nvSpPr>
          <p:spPr>
            <a:xfrm>
              <a:off x="3981450" y="2076450"/>
              <a:ext cx="800100" cy="800100"/>
            </a:xfrm>
            <a:prstGeom prst="ellipse">
              <a:avLst/>
            </a:prstGeom>
            <a:solidFill>
              <a:srgbClr val="4A90D9"/>
            </a:solidFill>
            <a:ln>
              <a:noFill/>
            </a:ln>
            <a:effectLst>
              <a:outerShdw blurRad="152400" dist="38100" dir="10799140" algn="tl" rotWithShape="0">
                <a:srgbClr val="0F172A">
                  <a:alpha val="10000"/>
                </a:srgbClr>
              </a:outerShdw>
            </a:effectLst>
          </p:spPr>
        </p:sp>
        <p:sp>
          <p:nvSpPr>
            <p:cNvPr id="19" name="TextBox 19"/>
            <p:cNvSpPr txBox="1"/>
            <p:nvPr/>
          </p:nvSpPr>
          <p:spPr>
            <a:xfrm>
              <a:off x="4290961" y="2355532"/>
              <a:ext cx="181077"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2</a:t>
              </a:r>
            </a:p>
          </p:txBody>
        </p:sp>
        <p:sp>
          <p:nvSpPr>
            <p:cNvPr id="20" name="Freeform 20"/>
            <p:cNvSpPr/>
            <p:nvPr/>
          </p:nvSpPr>
          <p:spPr>
            <a:xfrm>
              <a:off x="3143250" y="3238500"/>
              <a:ext cx="2476500" cy="2514600"/>
            </a:xfrm>
            <a:custGeom>
              <a:avLst/>
              <a:gdLst/>
              <a:ahLst/>
              <a:cxnLst/>
              <a:rect l="l" t="t" r="r" b="b"/>
              <a:pathLst>
                <a:path w="2476500" h="2514600">
                  <a:moveTo>
                    <a:pt x="228600" y="0"/>
                  </a:moveTo>
                  <a:lnTo>
                    <a:pt x="2247900" y="0"/>
                  </a:lnTo>
                  <a:cubicBezTo>
                    <a:pt x="2374152" y="0"/>
                    <a:pt x="2476500" y="102348"/>
                    <a:pt x="2476500" y="228600"/>
                  </a:cubicBezTo>
                  <a:lnTo>
                    <a:pt x="2476500" y="2286000"/>
                  </a:lnTo>
                  <a:cubicBezTo>
                    <a:pt x="2476500" y="2412252"/>
                    <a:pt x="2374152" y="2514600"/>
                    <a:pt x="2247900" y="2514600"/>
                  </a:cubicBezTo>
                  <a:lnTo>
                    <a:pt x="228600" y="2514600"/>
                  </a:lnTo>
                  <a:cubicBezTo>
                    <a:pt x="102348" y="2514600"/>
                    <a:pt x="0" y="2412252"/>
                    <a:pt x="0" y="2286000"/>
                  </a:cubicBezTo>
                  <a:lnTo>
                    <a:pt x="0" y="228600"/>
                  </a:lnTo>
                  <a:cubicBezTo>
                    <a:pt x="0" y="102348"/>
                    <a:pt x="102348" y="0"/>
                    <a:pt x="22860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21" name="TextBox 21"/>
            <p:cNvSpPr txBox="1"/>
            <p:nvPr/>
          </p:nvSpPr>
          <p:spPr>
            <a:xfrm>
              <a:off x="3408045" y="3460432"/>
              <a:ext cx="2622833"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A1A2E"/>
                  </a:solidFill>
                  <a:latin typeface="Arial"/>
                  <a:ea typeface="Microsoft YaHei"/>
                  <a:cs typeface="Arial"/>
                </a:rPr>
                <a:t>Download the project</a:t>
              </a:r>
            </a:p>
          </p:txBody>
        </p:sp>
        <p:sp>
          <p:nvSpPr>
            <p:cNvPr id="22" name="TextBox 22"/>
            <p:cNvSpPr txBox="1"/>
            <p:nvPr/>
          </p:nvSpPr>
          <p:spPr>
            <a:xfrm>
              <a:off x="3414712" y="3974306"/>
              <a:ext cx="2230279"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Use ZIP or `git clone`, then</a:t>
              </a:r>
            </a:p>
          </p:txBody>
        </p:sp>
        <p:sp>
          <p:nvSpPr>
            <p:cNvPr id="23" name="TextBox 23"/>
            <p:cNvSpPr txBox="1"/>
            <p:nvPr/>
          </p:nvSpPr>
          <p:spPr>
            <a:xfrm>
              <a:off x="3414712" y="4183856"/>
              <a:ext cx="2780705"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open the repository in your AI IDE.</a:t>
              </a:r>
            </a:p>
          </p:txBody>
        </p:sp>
      </p:grpSp>
      <p:grpSp>
        <p:nvGrpSpPr>
          <p:cNvPr id="31" name="Group 31"/>
          <p:cNvGrpSpPr/>
          <p:nvPr/>
        </p:nvGrpSpPr>
        <p:grpSpPr>
          <a:xfrm>
            <a:off x="5686127" y="2076450"/>
            <a:ext cx="2802636" cy="3676650"/>
            <a:chOff x="5686127" y="2076450"/>
            <a:chExt cx="2802636" cy="3676650"/>
          </a:xfrm>
          <a:effectLst>
            <a:outerShdw blurRad="152400" dist="38100" dir="10799140" algn="tl" rotWithShape="0">
              <a:srgbClr val="0F172A">
                <a:alpha val="10000"/>
              </a:srgbClr>
            </a:outerShdw>
          </a:effectLst>
        </p:grpSpPr>
        <p:sp>
          <p:nvSpPr>
            <p:cNvPr id="25" name="Ellipse 25"/>
            <p:cNvSpPr/>
            <p:nvPr/>
          </p:nvSpPr>
          <p:spPr>
            <a:xfrm>
              <a:off x="6553200" y="2076450"/>
              <a:ext cx="800100" cy="800100"/>
            </a:xfrm>
            <a:prstGeom prst="ellipse">
              <a:avLst/>
            </a:prstGeom>
            <a:solidFill>
              <a:srgbClr val="10B981"/>
            </a:solidFill>
            <a:ln>
              <a:noFill/>
            </a:ln>
            <a:effectLst>
              <a:outerShdw blurRad="152400" dist="38100" dir="10799140" algn="tl" rotWithShape="0">
                <a:srgbClr val="0F172A">
                  <a:alpha val="10000"/>
                </a:srgbClr>
              </a:outerShdw>
            </a:effectLst>
          </p:spPr>
        </p:sp>
        <p:sp>
          <p:nvSpPr>
            <p:cNvPr id="26" name="TextBox 26"/>
            <p:cNvSpPr txBox="1"/>
            <p:nvPr/>
          </p:nvSpPr>
          <p:spPr>
            <a:xfrm>
              <a:off x="6862711" y="2355532"/>
              <a:ext cx="181077"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3</a:t>
              </a:r>
            </a:p>
          </p:txBody>
        </p:sp>
        <p:sp>
          <p:nvSpPr>
            <p:cNvPr id="27" name="Freeform 27"/>
            <p:cNvSpPr/>
            <p:nvPr/>
          </p:nvSpPr>
          <p:spPr>
            <a:xfrm>
              <a:off x="5715000" y="3238500"/>
              <a:ext cx="2476500" cy="2514600"/>
            </a:xfrm>
            <a:custGeom>
              <a:avLst/>
              <a:gdLst/>
              <a:ahLst/>
              <a:cxnLst/>
              <a:rect l="l" t="t" r="r" b="b"/>
              <a:pathLst>
                <a:path w="2476500" h="2514600">
                  <a:moveTo>
                    <a:pt x="228600" y="0"/>
                  </a:moveTo>
                  <a:lnTo>
                    <a:pt x="2247900" y="0"/>
                  </a:lnTo>
                  <a:cubicBezTo>
                    <a:pt x="2374152" y="0"/>
                    <a:pt x="2476500" y="102348"/>
                    <a:pt x="2476500" y="228600"/>
                  </a:cubicBezTo>
                  <a:lnTo>
                    <a:pt x="2476500" y="2286000"/>
                  </a:lnTo>
                  <a:cubicBezTo>
                    <a:pt x="2476500" y="2412252"/>
                    <a:pt x="2374152" y="2514600"/>
                    <a:pt x="2247900" y="2514600"/>
                  </a:cubicBezTo>
                  <a:lnTo>
                    <a:pt x="228600" y="2514600"/>
                  </a:lnTo>
                  <a:cubicBezTo>
                    <a:pt x="102348" y="2514600"/>
                    <a:pt x="0" y="2412252"/>
                    <a:pt x="0" y="2286000"/>
                  </a:cubicBezTo>
                  <a:lnTo>
                    <a:pt x="0" y="228600"/>
                  </a:lnTo>
                  <a:cubicBezTo>
                    <a:pt x="0" y="102348"/>
                    <a:pt x="102348" y="0"/>
                    <a:pt x="22860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28" name="TextBox 28"/>
            <p:cNvSpPr txBox="1"/>
            <p:nvPr/>
          </p:nvSpPr>
          <p:spPr>
            <a:xfrm>
              <a:off x="5979795" y="3460432"/>
              <a:ext cx="2508968"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A1A2E"/>
                  </a:solidFill>
                  <a:latin typeface="Arial"/>
                  <a:ea typeface="Microsoft YaHei"/>
                  <a:cs typeface="Arial"/>
                </a:rPr>
                <a:t>Install dependencies</a:t>
              </a:r>
            </a:p>
          </p:txBody>
        </p:sp>
        <p:sp>
          <p:nvSpPr>
            <p:cNvPr id="29" name="Freeform 29"/>
            <p:cNvSpPr/>
            <p:nvPr/>
          </p:nvSpPr>
          <p:spPr>
            <a:xfrm>
              <a:off x="6000750" y="4095750"/>
              <a:ext cx="1905000" cy="457200"/>
            </a:xfrm>
            <a:custGeom>
              <a:avLst/>
              <a:gdLst/>
              <a:ahLst/>
              <a:cxnLst/>
              <a:rect l="l" t="t" r="r" b="b"/>
              <a:pathLst>
                <a:path w="1905000" h="457200">
                  <a:moveTo>
                    <a:pt x="114300" y="0"/>
                  </a:moveTo>
                  <a:lnTo>
                    <a:pt x="1790700" y="0"/>
                  </a:lnTo>
                  <a:cubicBezTo>
                    <a:pt x="1853826" y="0"/>
                    <a:pt x="1905000" y="51174"/>
                    <a:pt x="1905000" y="114300"/>
                  </a:cubicBezTo>
                  <a:lnTo>
                    <a:pt x="1905000" y="342900"/>
                  </a:lnTo>
                  <a:cubicBezTo>
                    <a:pt x="1905000" y="406026"/>
                    <a:pt x="1853826" y="457200"/>
                    <a:pt x="1790700" y="457200"/>
                  </a:cubicBezTo>
                  <a:lnTo>
                    <a:pt x="114300" y="457200"/>
                  </a:lnTo>
                  <a:cubicBezTo>
                    <a:pt x="51174" y="457200"/>
                    <a:pt x="0" y="406026"/>
                    <a:pt x="0" y="342900"/>
                  </a:cubicBezTo>
                  <a:lnTo>
                    <a:pt x="0" y="114300"/>
                  </a:lnTo>
                  <a:cubicBezTo>
                    <a:pt x="0" y="51174"/>
                    <a:pt x="51174" y="0"/>
                    <a:pt x="11430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30" name="TextBox 30"/>
            <p:cNvSpPr txBox="1"/>
            <p:nvPr/>
          </p:nvSpPr>
          <p:spPr>
            <a:xfrm>
              <a:off x="5686127" y="4260056"/>
              <a:ext cx="2534245"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125" dirty="0">
                  <a:solidFill>
                    <a:srgbClr val="1A1A2E"/>
                  </a:solidFill>
                  <a:latin typeface="Arial"/>
                  <a:ea typeface="Microsoft YaHei"/>
                  <a:cs typeface="Arial"/>
                </a:rPr>
                <a:t>pip install -r requirements.txt</a:t>
              </a:r>
            </a:p>
          </p:txBody>
        </p:sp>
      </p:grpSp>
      <p:grpSp>
        <p:nvGrpSpPr>
          <p:cNvPr id="40" name="Group 40"/>
          <p:cNvGrpSpPr/>
          <p:nvPr/>
        </p:nvGrpSpPr>
        <p:grpSpPr>
          <a:xfrm>
            <a:off x="8286750" y="2076450"/>
            <a:ext cx="6412229" cy="3676650"/>
            <a:chOff x="8286750" y="2076450"/>
            <a:chExt cx="6412229" cy="3676650"/>
          </a:xfrm>
          <a:effectLst>
            <a:outerShdw blurRad="152400" dist="38100" dir="10799140" algn="tl" rotWithShape="0">
              <a:srgbClr val="0F172A">
                <a:alpha val="10000"/>
              </a:srgbClr>
            </a:outerShdw>
          </a:effectLst>
        </p:grpSpPr>
        <p:sp>
          <p:nvSpPr>
            <p:cNvPr id="32" name="Ellipse 32"/>
            <p:cNvSpPr/>
            <p:nvPr/>
          </p:nvSpPr>
          <p:spPr>
            <a:xfrm>
              <a:off x="9124950" y="2076450"/>
              <a:ext cx="800100" cy="800100"/>
            </a:xfrm>
            <a:prstGeom prst="ellipse">
              <a:avLst/>
            </a:prstGeom>
            <a:solidFill>
              <a:srgbClr val="10B981"/>
            </a:solidFill>
            <a:ln>
              <a:noFill/>
            </a:ln>
            <a:effectLst>
              <a:outerShdw blurRad="152400" dist="38100" dir="10799140" algn="tl" rotWithShape="0">
                <a:srgbClr val="0F172A">
                  <a:alpha val="10000"/>
                </a:srgbClr>
              </a:outerShdw>
            </a:effectLst>
          </p:spPr>
        </p:sp>
        <p:sp>
          <p:nvSpPr>
            <p:cNvPr id="33" name="TextBox 33"/>
            <p:cNvSpPr txBox="1"/>
            <p:nvPr/>
          </p:nvSpPr>
          <p:spPr>
            <a:xfrm>
              <a:off x="9434461" y="2355532"/>
              <a:ext cx="181077"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4</a:t>
              </a:r>
            </a:p>
          </p:txBody>
        </p:sp>
        <p:sp>
          <p:nvSpPr>
            <p:cNvPr id="34" name="Freeform 34"/>
            <p:cNvSpPr/>
            <p:nvPr/>
          </p:nvSpPr>
          <p:spPr>
            <a:xfrm>
              <a:off x="8286750" y="3238500"/>
              <a:ext cx="3333750" cy="2514600"/>
            </a:xfrm>
            <a:custGeom>
              <a:avLst/>
              <a:gdLst/>
              <a:ahLst/>
              <a:cxnLst/>
              <a:rect l="l" t="t" r="r" b="b"/>
              <a:pathLst>
                <a:path w="3333750" h="2514600">
                  <a:moveTo>
                    <a:pt x="228600" y="0"/>
                  </a:moveTo>
                  <a:lnTo>
                    <a:pt x="3105150" y="0"/>
                  </a:lnTo>
                  <a:cubicBezTo>
                    <a:pt x="3231402" y="0"/>
                    <a:pt x="3333750" y="102348"/>
                    <a:pt x="3333750" y="228600"/>
                  </a:cubicBezTo>
                  <a:lnTo>
                    <a:pt x="3333750" y="2286000"/>
                  </a:lnTo>
                  <a:cubicBezTo>
                    <a:pt x="3333750" y="2412252"/>
                    <a:pt x="3231402" y="2514600"/>
                    <a:pt x="3105150" y="2514600"/>
                  </a:cubicBezTo>
                  <a:lnTo>
                    <a:pt x="228600" y="2514600"/>
                  </a:lnTo>
                  <a:cubicBezTo>
                    <a:pt x="102348" y="2514600"/>
                    <a:pt x="0" y="2412252"/>
                    <a:pt x="0" y="2286000"/>
                  </a:cubicBezTo>
                  <a:lnTo>
                    <a:pt x="0" y="228600"/>
                  </a:lnTo>
                  <a:cubicBezTo>
                    <a:pt x="0" y="102348"/>
                    <a:pt x="102348" y="0"/>
                    <a:pt x="22860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35" name="TextBox 35"/>
            <p:cNvSpPr txBox="1"/>
            <p:nvPr/>
          </p:nvSpPr>
          <p:spPr>
            <a:xfrm>
              <a:off x="8551545" y="3384232"/>
              <a:ext cx="1800480"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A1A2E"/>
                  </a:solidFill>
                  <a:latin typeface="Arial"/>
                  <a:ea typeface="Microsoft YaHei"/>
                  <a:cs typeface="Arial"/>
                </a:rPr>
                <a:t>Verify and run</a:t>
              </a:r>
            </a:p>
          </p:txBody>
        </p:sp>
        <p:sp>
          <p:nvSpPr>
            <p:cNvPr id="36" name="TextBox 36"/>
            <p:cNvSpPr txBox="1"/>
            <p:nvPr/>
          </p:nvSpPr>
          <p:spPr>
            <a:xfrm>
              <a:off x="8551545" y="3612832"/>
              <a:ext cx="1382978"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A1A2E"/>
                  </a:solidFill>
                  <a:latin typeface="Arial"/>
                  <a:ea typeface="Microsoft YaHei"/>
                  <a:cs typeface="Arial"/>
                </a:rPr>
                <a:t>a tiny deck</a:t>
              </a:r>
            </a:p>
          </p:txBody>
        </p:sp>
        <p:sp>
          <p:nvSpPr>
            <p:cNvPr id="37" name="Freeform 37"/>
            <p:cNvSpPr/>
            <p:nvPr/>
          </p:nvSpPr>
          <p:spPr>
            <a:xfrm>
              <a:off x="8572500" y="4095750"/>
              <a:ext cx="2762250" cy="590550"/>
            </a:xfrm>
            <a:custGeom>
              <a:avLst/>
              <a:gdLst/>
              <a:ahLst/>
              <a:cxnLst/>
              <a:rect l="l" t="t" r="r" b="b"/>
              <a:pathLst>
                <a:path w="2762250" h="590550">
                  <a:moveTo>
                    <a:pt x="114300" y="0"/>
                  </a:moveTo>
                  <a:lnTo>
                    <a:pt x="2647950" y="0"/>
                  </a:lnTo>
                  <a:cubicBezTo>
                    <a:pt x="2711076" y="0"/>
                    <a:pt x="2762250" y="51174"/>
                    <a:pt x="2762250" y="114300"/>
                  </a:cubicBezTo>
                  <a:lnTo>
                    <a:pt x="2762250" y="476250"/>
                  </a:lnTo>
                  <a:cubicBezTo>
                    <a:pt x="2762250" y="539376"/>
                    <a:pt x="2711076" y="590550"/>
                    <a:pt x="2647950" y="590550"/>
                  </a:cubicBezTo>
                  <a:lnTo>
                    <a:pt x="114300" y="590550"/>
                  </a:lnTo>
                  <a:cubicBezTo>
                    <a:pt x="51174" y="590550"/>
                    <a:pt x="0" y="539376"/>
                    <a:pt x="0" y="476250"/>
                  </a:cubicBezTo>
                  <a:lnTo>
                    <a:pt x="0" y="114300"/>
                  </a:lnTo>
                  <a:cubicBezTo>
                    <a:pt x="0" y="51174"/>
                    <a:pt x="51174" y="0"/>
                    <a:pt x="11430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38" name="TextBox 38"/>
            <p:cNvSpPr txBox="1"/>
            <p:nvPr/>
          </p:nvSpPr>
          <p:spPr>
            <a:xfrm>
              <a:off x="8502610" y="4220528"/>
              <a:ext cx="2902029" cy="2133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050" dirty="0">
                  <a:solidFill>
                    <a:srgbClr val="1A1A2E"/>
                  </a:solidFill>
                  <a:latin typeface="Arial"/>
                  <a:ea typeface="Microsoft YaHei"/>
                  <a:cs typeface="Arial"/>
                </a:rPr>
                <a:t>python -c "import pptx; import fitz;"</a:t>
              </a:r>
            </a:p>
          </p:txBody>
        </p:sp>
        <p:sp>
          <p:nvSpPr>
            <p:cNvPr id="39" name="TextBox 39"/>
            <p:cNvSpPr txBox="1"/>
            <p:nvPr/>
          </p:nvSpPr>
          <p:spPr>
            <a:xfrm>
              <a:off x="8558212" y="4926806"/>
              <a:ext cx="6140767"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Then ask the AI for a 3-page test deck to prove the setup works end to end.</a:t>
              </a:r>
            </a:p>
          </p:txBody>
        </p:sp>
      </p:grpSp>
      <p:sp>
        <p:nvSpPr>
          <p:cNvPr id="41" name="TextBox 41"/>
          <p:cNvSpPr txBox="1"/>
          <p:nvPr/>
        </p:nvSpPr>
        <p:spPr>
          <a:xfrm>
            <a:off x="11415903" y="6417945"/>
            <a:ext cx="101727"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11</a:t>
            </a:r>
          </a:p>
        </p:txBody>
      </p:sp>
    </p:spTree>
  </p:cSld>
  <p:clrMapOvr>
    <a:masterClrMapping/>
  </p:clrMapOvr>
  <p:transition 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D97757"/>
          </a:solidFill>
          <a:ln>
            <a:noFill/>
          </a:ln>
        </p:spPr>
      </p:sp>
      <p:sp>
        <p:nvSpPr>
          <p:cNvPr id="4" name="TextBox 4"/>
          <p:cNvSpPr txBox="1"/>
          <p:nvPr/>
        </p:nvSpPr>
        <p:spPr>
          <a:xfrm>
            <a:off x="559118" y="390049"/>
            <a:ext cx="1310626" cy="198120"/>
          </a:xfrm>
          <a:prstGeom prst="rect">
            <a:avLst/>
          </a:prstGeom>
          <a:noFill/>
          <a:ln>
            <a:noFill/>
          </a:ln>
        </p:spPr>
        <p:txBody>
          <a:bodyPr wrap="none" lIns="0" tIns="0" rIns="0" bIns="0" anchor="t" anchorCtr="0">
            <a:spAutoFit/>
          </a:bodyPr>
          <a:lstStyle/>
          <a:p>
            <a:pPr algn="l"/>
            <a:r>
              <a:rPr lang="zh-CN" sz="975" b="1" dirty="0">
                <a:solidFill>
                  <a:srgbClr val="D97757"/>
                </a:solidFill>
                <a:latin typeface="Arial"/>
                <a:ea typeface="Microsoft YaHei"/>
                <a:cs typeface="Arial"/>
              </a:rPr>
              <a:t>TROUBLESHOOTING</a:t>
            </a:r>
          </a:p>
        </p:txBody>
      </p:sp>
      <p:sp>
        <p:nvSpPr>
          <p:cNvPr id="5" name="TextBox 5"/>
          <p:cNvSpPr txBox="1"/>
          <p:nvPr/>
        </p:nvSpPr>
        <p:spPr>
          <a:xfrm>
            <a:off x="539115" y="543878"/>
            <a:ext cx="8589635" cy="518160"/>
          </a:xfrm>
          <a:prstGeom prst="rect">
            <a:avLst/>
          </a:prstGeom>
          <a:noFill/>
          <a:ln>
            <a:noFill/>
          </a:ln>
        </p:spPr>
        <p:txBody>
          <a:bodyPr wrap="none" lIns="0" tIns="0" rIns="0" bIns="0" anchor="t" anchorCtr="0">
            <a:spAutoFit/>
          </a:bodyPr>
          <a:lstStyle/>
          <a:p>
            <a:pPr algn="l"/>
            <a:r>
              <a:rPr lang="zh-CN" sz="2550" b="1" dirty="0">
                <a:solidFill>
                  <a:srgbClr val="1A1A2E"/>
                </a:solidFill>
                <a:latin typeface="Arial"/>
                <a:ea typeface="Microsoft YaHei"/>
                <a:cs typeface="Arial"/>
              </a:rPr>
              <a:t>Most setup failures are environment issues,</a:t>
            </a:r>
          </a:p>
        </p:txBody>
      </p:sp>
      <p:sp>
        <p:nvSpPr>
          <p:cNvPr id="6" name="TextBox 6"/>
          <p:cNvSpPr txBox="1"/>
          <p:nvPr/>
        </p:nvSpPr>
        <p:spPr>
          <a:xfrm>
            <a:off x="539115" y="886778"/>
            <a:ext cx="4640042" cy="518160"/>
          </a:xfrm>
          <a:prstGeom prst="rect">
            <a:avLst/>
          </a:prstGeom>
          <a:noFill/>
          <a:ln>
            <a:noFill/>
          </a:ln>
        </p:spPr>
        <p:txBody>
          <a:bodyPr wrap="none" lIns="0" tIns="0" rIns="0" bIns="0" anchor="t" anchorCtr="0">
            <a:spAutoFit/>
          </a:bodyPr>
          <a:lstStyle/>
          <a:p>
            <a:pPr algn="l"/>
            <a:r>
              <a:rPr lang="zh-CN" sz="2550" b="1" dirty="0">
                <a:solidFill>
                  <a:srgbClr val="1A1A2E"/>
                </a:solidFill>
                <a:latin typeface="Arial"/>
                <a:ea typeface="Microsoft YaHei"/>
                <a:cs typeface="Arial"/>
              </a:rPr>
              <a:t>not product logic issues</a:t>
            </a:r>
          </a:p>
        </p:txBody>
      </p:sp>
      <p:sp>
        <p:nvSpPr>
          <p:cNvPr id="7" name="TextBox 7"/>
          <p:cNvSpPr txBox="1"/>
          <p:nvPr/>
        </p:nvSpPr>
        <p:spPr>
          <a:xfrm>
            <a:off x="556260" y="975360"/>
            <a:ext cx="9152763"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The troubleshooting section is mostly about PATH, pip targeting, missing modules, and script permissions.</a:t>
            </a:r>
          </a:p>
        </p:txBody>
      </p:sp>
      <p:grpSp>
        <p:nvGrpSpPr>
          <p:cNvPr id="23" name="Group 23"/>
          <p:cNvGrpSpPr/>
          <p:nvPr/>
        </p:nvGrpSpPr>
        <p:grpSpPr>
          <a:xfrm>
            <a:off x="571500" y="2114550"/>
            <a:ext cx="10991850" cy="838200"/>
            <a:chOff x="571500" y="2114550"/>
            <a:chExt cx="10991850" cy="838200"/>
          </a:xfrm>
          <a:effectLst>
            <a:outerShdw blurRad="152400" dist="38100" dir="10799140" algn="tl" rotWithShape="0">
              <a:srgbClr val="0F172A">
                <a:alpha val="10000"/>
              </a:srgbClr>
            </a:outerShdw>
          </a:effectLst>
        </p:grpSpPr>
        <p:sp>
          <p:nvSpPr>
            <p:cNvPr id="8" name="Polygon 8"/>
            <p:cNvSpPr/>
            <p:nvPr/>
          </p:nvSpPr>
          <p:spPr>
            <a:xfrm>
              <a:off x="571500" y="2114550"/>
              <a:ext cx="2171700" cy="838200"/>
            </a:xfrm>
            <a:custGeom>
              <a:avLst/>
              <a:gdLst/>
              <a:ahLst/>
              <a:cxnLst/>
              <a:rect l="l" t="t" r="r" b="b"/>
              <a:pathLst>
                <a:path w="2171700" h="838200">
                  <a:moveTo>
                    <a:pt x="0" y="0"/>
                  </a:moveTo>
                  <a:lnTo>
                    <a:pt x="1847850" y="0"/>
                  </a:lnTo>
                  <a:lnTo>
                    <a:pt x="2171700" y="419100"/>
                  </a:lnTo>
                  <a:lnTo>
                    <a:pt x="1847850" y="838200"/>
                  </a:lnTo>
                  <a:lnTo>
                    <a:pt x="0" y="838200"/>
                  </a:lnTo>
                  <a:close/>
                </a:path>
              </a:pathLst>
            </a:custGeom>
            <a:solidFill>
              <a:srgbClr val="D97757"/>
            </a:solidFill>
            <a:ln>
              <a:noFill/>
            </a:ln>
          </p:spPr>
        </p:sp>
        <p:sp>
          <p:nvSpPr>
            <p:cNvPr id="9" name="TextBox 9"/>
            <p:cNvSpPr txBox="1"/>
            <p:nvPr/>
          </p:nvSpPr>
          <p:spPr>
            <a:xfrm>
              <a:off x="1063800" y="2356485"/>
              <a:ext cx="99660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200" b="1" dirty="0">
                  <a:solidFill>
                    <a:srgbClr val="FFFFFF"/>
                  </a:solidFill>
                  <a:latin typeface="Arial"/>
                  <a:ea typeface="Microsoft YaHei"/>
                  <a:cs typeface="Arial"/>
                </a:rPr>
                <a:t>Check PATH</a:t>
              </a:r>
            </a:p>
          </p:txBody>
        </p:sp>
        <p:sp>
          <p:nvSpPr>
            <p:cNvPr id="10" name="TextBox 10"/>
            <p:cNvSpPr txBox="1"/>
            <p:nvPr/>
          </p:nvSpPr>
          <p:spPr>
            <a:xfrm>
              <a:off x="1157014" y="2606516"/>
              <a:ext cx="810173" cy="1676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825" dirty="0">
                  <a:solidFill>
                    <a:srgbClr val="FFFFFF"/>
                  </a:solidFill>
                  <a:latin typeface="Arial"/>
                  <a:ea typeface="Microsoft YaHei"/>
                  <a:cs typeface="Arial"/>
                </a:rPr>
                <a:t>where python</a:t>
              </a:r>
            </a:p>
          </p:txBody>
        </p:sp>
        <p:sp>
          <p:nvSpPr>
            <p:cNvPr id="11" name="Polygon 11"/>
            <p:cNvSpPr/>
            <p:nvPr/>
          </p:nvSpPr>
          <p:spPr>
            <a:xfrm>
              <a:off x="2857500" y="2114550"/>
              <a:ext cx="2171700" cy="838200"/>
            </a:xfrm>
            <a:custGeom>
              <a:avLst/>
              <a:gdLst/>
              <a:ahLst/>
              <a:cxnLst/>
              <a:rect l="l" t="t" r="r" b="b"/>
              <a:pathLst>
                <a:path w="2171700" h="838200">
                  <a:moveTo>
                    <a:pt x="0" y="0"/>
                  </a:moveTo>
                  <a:lnTo>
                    <a:pt x="1847850" y="0"/>
                  </a:lnTo>
                  <a:lnTo>
                    <a:pt x="2171700" y="419100"/>
                  </a:lnTo>
                  <a:lnTo>
                    <a:pt x="1847850" y="838200"/>
                  </a:lnTo>
                  <a:lnTo>
                    <a:pt x="0" y="838200"/>
                  </a:lnTo>
                  <a:lnTo>
                    <a:pt x="323850" y="419100"/>
                  </a:lnTo>
                  <a:close/>
                </a:path>
              </a:pathLst>
            </a:custGeom>
            <a:solidFill>
              <a:srgbClr val="4A90D9"/>
            </a:solidFill>
            <a:ln>
              <a:noFill/>
            </a:ln>
          </p:spPr>
        </p:sp>
        <p:sp>
          <p:nvSpPr>
            <p:cNvPr id="12" name="TextBox 12"/>
            <p:cNvSpPr txBox="1"/>
            <p:nvPr/>
          </p:nvSpPr>
          <p:spPr>
            <a:xfrm>
              <a:off x="3040199" y="2356485"/>
              <a:ext cx="1806302"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200" b="1" dirty="0">
                  <a:solidFill>
                    <a:srgbClr val="FFFFFF"/>
                  </a:solidFill>
                  <a:latin typeface="Arial"/>
                  <a:ea typeface="Microsoft YaHei"/>
                  <a:cs typeface="Arial"/>
                </a:rPr>
                <a:t>Match pip to Python</a:t>
              </a:r>
            </a:p>
          </p:txBody>
        </p:sp>
        <p:sp>
          <p:nvSpPr>
            <p:cNvPr id="13" name="TextBox 13"/>
            <p:cNvSpPr txBox="1"/>
            <p:nvPr/>
          </p:nvSpPr>
          <p:spPr>
            <a:xfrm>
              <a:off x="3535251" y="2606516"/>
              <a:ext cx="816197" cy="1676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825" dirty="0">
                  <a:solidFill>
                    <a:srgbClr val="FFFFFF"/>
                  </a:solidFill>
                  <a:latin typeface="Arial"/>
                  <a:ea typeface="Microsoft YaHei"/>
                  <a:cs typeface="Arial"/>
                </a:rPr>
                <a:t>python -m pip</a:t>
              </a:r>
            </a:p>
          </p:txBody>
        </p:sp>
        <p:sp>
          <p:nvSpPr>
            <p:cNvPr id="14" name="Polygon 14"/>
            <p:cNvSpPr/>
            <p:nvPr/>
          </p:nvSpPr>
          <p:spPr>
            <a:xfrm>
              <a:off x="5143500" y="2114550"/>
              <a:ext cx="2171700" cy="838200"/>
            </a:xfrm>
            <a:custGeom>
              <a:avLst/>
              <a:gdLst/>
              <a:ahLst/>
              <a:cxnLst/>
              <a:rect l="l" t="t" r="r" b="b"/>
              <a:pathLst>
                <a:path w="2171700" h="838200">
                  <a:moveTo>
                    <a:pt x="0" y="0"/>
                  </a:moveTo>
                  <a:lnTo>
                    <a:pt x="1847850" y="0"/>
                  </a:lnTo>
                  <a:lnTo>
                    <a:pt x="2171700" y="419100"/>
                  </a:lnTo>
                  <a:lnTo>
                    <a:pt x="1847850" y="838200"/>
                  </a:lnTo>
                  <a:lnTo>
                    <a:pt x="0" y="838200"/>
                  </a:lnTo>
                  <a:lnTo>
                    <a:pt x="323850" y="419100"/>
                  </a:lnTo>
                  <a:close/>
                </a:path>
              </a:pathLst>
            </a:custGeom>
            <a:solidFill>
              <a:srgbClr val="10B981"/>
            </a:solidFill>
            <a:ln>
              <a:noFill/>
            </a:ln>
          </p:spPr>
        </p:sp>
        <p:sp>
          <p:nvSpPr>
            <p:cNvPr id="15" name="TextBox 15"/>
            <p:cNvSpPr txBox="1"/>
            <p:nvPr/>
          </p:nvSpPr>
          <p:spPr>
            <a:xfrm>
              <a:off x="5634438" y="2356485"/>
              <a:ext cx="1189825"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200" b="1" dirty="0">
                  <a:solidFill>
                    <a:srgbClr val="FFFFFF"/>
                  </a:solidFill>
                  <a:latin typeface="Arial"/>
                  <a:ea typeface="Microsoft YaHei"/>
                  <a:cs typeface="Arial"/>
                </a:rPr>
                <a:t>Test imports</a:t>
              </a:r>
            </a:p>
          </p:txBody>
        </p:sp>
        <p:sp>
          <p:nvSpPr>
            <p:cNvPr id="16" name="TextBox 16"/>
            <p:cNvSpPr txBox="1"/>
            <p:nvPr/>
          </p:nvSpPr>
          <p:spPr>
            <a:xfrm>
              <a:off x="5899571" y="2606516"/>
              <a:ext cx="659559" cy="1676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825" dirty="0">
                  <a:solidFill>
                    <a:srgbClr val="FFFFFF"/>
                  </a:solidFill>
                  <a:latin typeface="Arial"/>
                  <a:ea typeface="Microsoft YaHei"/>
                  <a:cs typeface="Arial"/>
                </a:rPr>
                <a:t>pptx + fitz</a:t>
              </a:r>
            </a:p>
          </p:txBody>
        </p:sp>
        <p:sp>
          <p:nvSpPr>
            <p:cNvPr id="17" name="Polygon 17"/>
            <p:cNvSpPr/>
            <p:nvPr/>
          </p:nvSpPr>
          <p:spPr>
            <a:xfrm>
              <a:off x="7429500" y="2114550"/>
              <a:ext cx="2171700" cy="838200"/>
            </a:xfrm>
            <a:custGeom>
              <a:avLst/>
              <a:gdLst/>
              <a:ahLst/>
              <a:cxnLst/>
              <a:rect l="l" t="t" r="r" b="b"/>
              <a:pathLst>
                <a:path w="2171700" h="838200">
                  <a:moveTo>
                    <a:pt x="0" y="0"/>
                  </a:moveTo>
                  <a:lnTo>
                    <a:pt x="1847850" y="0"/>
                  </a:lnTo>
                  <a:lnTo>
                    <a:pt x="2171700" y="419100"/>
                  </a:lnTo>
                  <a:lnTo>
                    <a:pt x="1847850" y="838200"/>
                  </a:lnTo>
                  <a:lnTo>
                    <a:pt x="0" y="838200"/>
                  </a:lnTo>
                  <a:lnTo>
                    <a:pt x="323850" y="419100"/>
                  </a:lnTo>
                  <a:close/>
                </a:path>
              </a:pathLst>
            </a:custGeom>
            <a:solidFill>
              <a:srgbClr val="10B981"/>
            </a:solidFill>
            <a:ln>
              <a:noFill/>
            </a:ln>
          </p:spPr>
        </p:sp>
        <p:sp>
          <p:nvSpPr>
            <p:cNvPr id="18" name="TextBox 18"/>
            <p:cNvSpPr txBox="1"/>
            <p:nvPr/>
          </p:nvSpPr>
          <p:spPr>
            <a:xfrm>
              <a:off x="7768619" y="2356485"/>
              <a:ext cx="1493463"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200" b="1" dirty="0">
                  <a:solidFill>
                    <a:srgbClr val="FFFFFF"/>
                  </a:solidFill>
                  <a:latin typeface="Arial"/>
                  <a:ea typeface="Microsoft YaHei"/>
                  <a:cs typeface="Arial"/>
                </a:rPr>
                <a:t>Run small sample</a:t>
              </a:r>
            </a:p>
          </p:txBody>
        </p:sp>
        <p:sp>
          <p:nvSpPr>
            <p:cNvPr id="19" name="TextBox 19"/>
            <p:cNvSpPr txBox="1"/>
            <p:nvPr/>
          </p:nvSpPr>
          <p:spPr>
            <a:xfrm>
              <a:off x="8053030" y="2606516"/>
              <a:ext cx="924639" cy="1676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825" dirty="0">
                  <a:solidFill>
                    <a:srgbClr val="FFFFFF"/>
                  </a:solidFill>
                  <a:latin typeface="Arial"/>
                  <a:ea typeface="Microsoft YaHei"/>
                  <a:cs typeface="Arial"/>
                </a:rPr>
                <a:t>prove the chain</a:t>
              </a:r>
            </a:p>
          </p:txBody>
        </p:sp>
        <p:sp>
          <p:nvSpPr>
            <p:cNvPr id="20" name="Polygon 20"/>
            <p:cNvSpPr/>
            <p:nvPr/>
          </p:nvSpPr>
          <p:spPr>
            <a:xfrm>
              <a:off x="9715500" y="2114550"/>
              <a:ext cx="1847850" cy="838200"/>
            </a:xfrm>
            <a:custGeom>
              <a:avLst/>
              <a:gdLst/>
              <a:ahLst/>
              <a:cxnLst/>
              <a:rect l="l" t="t" r="r" b="b"/>
              <a:pathLst>
                <a:path w="1847850" h="838200">
                  <a:moveTo>
                    <a:pt x="0" y="0"/>
                  </a:moveTo>
                  <a:lnTo>
                    <a:pt x="1524000" y="0"/>
                  </a:lnTo>
                  <a:lnTo>
                    <a:pt x="1847850" y="419100"/>
                  </a:lnTo>
                  <a:lnTo>
                    <a:pt x="1524000" y="838200"/>
                  </a:lnTo>
                  <a:lnTo>
                    <a:pt x="0" y="838200"/>
                  </a:lnTo>
                  <a:lnTo>
                    <a:pt x="323850" y="419100"/>
                  </a:lnTo>
                  <a:close/>
                </a:path>
              </a:pathLst>
            </a:custGeom>
            <a:solidFill>
              <a:srgbClr val="EF4444"/>
            </a:solidFill>
            <a:ln>
              <a:noFill/>
            </a:ln>
          </p:spPr>
        </p:sp>
        <p:sp>
          <p:nvSpPr>
            <p:cNvPr id="21" name="TextBox 21"/>
            <p:cNvSpPr txBox="1"/>
            <p:nvPr/>
          </p:nvSpPr>
          <p:spPr>
            <a:xfrm>
              <a:off x="9741198" y="2356485"/>
              <a:ext cx="1815503"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200" b="1" dirty="0">
                  <a:solidFill>
                    <a:srgbClr val="FFFFFF"/>
                  </a:solidFill>
                  <a:latin typeface="Arial"/>
                  <a:ea typeface="Microsoft YaHei"/>
                  <a:cs typeface="Arial"/>
                </a:rPr>
                <a:t>Escalate edge cases</a:t>
              </a:r>
            </a:p>
          </p:txBody>
        </p:sp>
        <p:sp>
          <p:nvSpPr>
            <p:cNvPr id="22" name="TextBox 22"/>
            <p:cNvSpPr txBox="1"/>
            <p:nvPr/>
          </p:nvSpPr>
          <p:spPr>
            <a:xfrm>
              <a:off x="9918537" y="2606516"/>
              <a:ext cx="1460825" cy="1676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825" dirty="0">
                  <a:solidFill>
                    <a:srgbClr val="FFFFFF"/>
                  </a:solidFill>
                  <a:latin typeface="Arial"/>
                  <a:ea typeface="Microsoft YaHei"/>
                  <a:cs typeface="Arial"/>
                </a:rPr>
                <a:t>CairoSVG / Node / Pandoc</a:t>
              </a:r>
            </a:p>
          </p:txBody>
        </p:sp>
      </p:grpSp>
      <p:grpSp>
        <p:nvGrpSpPr>
          <p:cNvPr id="44" name="Group 44"/>
          <p:cNvGrpSpPr/>
          <p:nvPr/>
        </p:nvGrpSpPr>
        <p:grpSpPr>
          <a:xfrm>
            <a:off x="571500" y="3600450"/>
            <a:ext cx="11480601" cy="2133600"/>
            <a:chOff x="571500" y="3600450"/>
            <a:chExt cx="11480601" cy="2133600"/>
          </a:xfrm>
        </p:grpSpPr>
        <p:grpSp>
          <p:nvGrpSpPr>
            <p:cNvPr id="30" name="Group 30"/>
            <p:cNvGrpSpPr/>
            <p:nvPr/>
          </p:nvGrpSpPr>
          <p:grpSpPr>
            <a:xfrm>
              <a:off x="571500" y="3600450"/>
              <a:ext cx="3605212" cy="2133600"/>
              <a:chOff x="571500" y="3600450"/>
              <a:chExt cx="3605212" cy="2133600"/>
            </a:xfrm>
            <a:effectLst>
              <a:outerShdw blurRad="152400" dist="38100" dir="10799140" algn="tl" rotWithShape="0">
                <a:srgbClr val="0F172A">
                  <a:alpha val="10000"/>
                </a:srgbClr>
              </a:outerShdw>
            </a:effectLst>
          </p:grpSpPr>
          <p:sp>
            <p:nvSpPr>
              <p:cNvPr id="24" name="Freeform 24"/>
              <p:cNvSpPr/>
              <p:nvPr/>
            </p:nvSpPr>
            <p:spPr>
              <a:xfrm>
                <a:off x="571500" y="3600450"/>
                <a:ext cx="3562350" cy="2133600"/>
              </a:xfrm>
              <a:custGeom>
                <a:avLst/>
                <a:gdLst/>
                <a:ahLst/>
                <a:cxnLst/>
                <a:rect l="l" t="t" r="r" b="b"/>
                <a:pathLst>
                  <a:path w="3562350" h="2133600">
                    <a:moveTo>
                      <a:pt x="228600" y="0"/>
                    </a:moveTo>
                    <a:lnTo>
                      <a:pt x="3333750" y="0"/>
                    </a:lnTo>
                    <a:cubicBezTo>
                      <a:pt x="3460002" y="0"/>
                      <a:pt x="3562350" y="102348"/>
                      <a:pt x="3562350" y="228600"/>
                    </a:cubicBezTo>
                    <a:lnTo>
                      <a:pt x="3562350" y="1905000"/>
                    </a:lnTo>
                    <a:cubicBezTo>
                      <a:pt x="3562350" y="2031252"/>
                      <a:pt x="3460002" y="2133600"/>
                      <a:pt x="3333750" y="2133600"/>
                    </a:cubicBezTo>
                    <a:lnTo>
                      <a:pt x="228600" y="2133600"/>
                    </a:lnTo>
                    <a:cubicBezTo>
                      <a:pt x="102348" y="2133600"/>
                      <a:pt x="0" y="2031252"/>
                      <a:pt x="0" y="1905000"/>
                    </a:cubicBezTo>
                    <a:lnTo>
                      <a:pt x="0" y="228600"/>
                    </a:lnTo>
                    <a:cubicBezTo>
                      <a:pt x="0" y="102348"/>
                      <a:pt x="102348" y="0"/>
                      <a:pt x="22860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25" name="TextBox 25"/>
              <p:cNvSpPr txBox="1"/>
              <p:nvPr/>
            </p:nvSpPr>
            <p:spPr>
              <a:xfrm>
                <a:off x="855345" y="3822382"/>
                <a:ext cx="2724045"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A1A2E"/>
                    </a:solidFill>
                    <a:latin typeface="Arial"/>
                    <a:ea typeface="Microsoft YaHei"/>
                    <a:cs typeface="Arial"/>
                  </a:rPr>
                  <a:t>Common failure modes</a:t>
                </a:r>
              </a:p>
            </p:txBody>
          </p:sp>
          <p:sp>
            <p:nvSpPr>
              <p:cNvPr id="26" name="TextBox 26"/>
              <p:cNvSpPr txBox="1"/>
              <p:nvPr/>
            </p:nvSpPr>
            <p:spPr>
              <a:xfrm>
                <a:off x="862012" y="4317206"/>
                <a:ext cx="3068241"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 `python` opens the Microsoft Store</a:t>
                </a:r>
              </a:p>
            </p:txBody>
          </p:sp>
          <p:sp>
            <p:nvSpPr>
              <p:cNvPr id="27" name="TextBox 27"/>
              <p:cNvSpPr txBox="1"/>
              <p:nvPr/>
            </p:nvSpPr>
            <p:spPr>
              <a:xfrm>
                <a:off x="862012" y="4545806"/>
                <a:ext cx="3314700"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 `pip` installs to the wrong interpreter</a:t>
                </a:r>
              </a:p>
            </p:txBody>
          </p:sp>
          <p:sp>
            <p:nvSpPr>
              <p:cNvPr id="28" name="TextBox 28"/>
              <p:cNvSpPr txBox="1"/>
              <p:nvPr/>
            </p:nvSpPr>
            <p:spPr>
              <a:xfrm>
                <a:off x="862012" y="4774406"/>
                <a:ext cx="2945011"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 PowerShell blocks script execution</a:t>
                </a:r>
              </a:p>
            </p:txBody>
          </p:sp>
          <p:sp>
            <p:nvSpPr>
              <p:cNvPr id="29" name="TextBox 29"/>
              <p:cNvSpPr txBox="1"/>
              <p:nvPr/>
            </p:nvSpPr>
            <p:spPr>
              <a:xfrm>
                <a:off x="862012" y="5003006"/>
                <a:ext cx="3060025"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 PyMuPDF import is missing or broken</a:t>
                </a:r>
              </a:p>
            </p:txBody>
          </p:sp>
        </p:grpSp>
        <p:grpSp>
          <p:nvGrpSpPr>
            <p:cNvPr id="37" name="Group 37"/>
            <p:cNvGrpSpPr/>
            <p:nvPr/>
          </p:nvGrpSpPr>
          <p:grpSpPr>
            <a:xfrm>
              <a:off x="4324350" y="3600450"/>
              <a:ext cx="3562350" cy="2133600"/>
              <a:chOff x="4324350" y="3600450"/>
              <a:chExt cx="3562350" cy="2133600"/>
            </a:xfrm>
            <a:effectLst>
              <a:outerShdw blurRad="152400" dist="38100" dir="10799140" algn="tl" rotWithShape="0">
                <a:srgbClr val="0F172A">
                  <a:alpha val="10000"/>
                </a:srgbClr>
              </a:outerShdw>
            </a:effectLst>
          </p:grpSpPr>
          <p:sp>
            <p:nvSpPr>
              <p:cNvPr id="31" name="Freeform 31"/>
              <p:cNvSpPr/>
              <p:nvPr/>
            </p:nvSpPr>
            <p:spPr>
              <a:xfrm>
                <a:off x="4324350" y="3600450"/>
                <a:ext cx="3562350" cy="2133600"/>
              </a:xfrm>
              <a:custGeom>
                <a:avLst/>
                <a:gdLst/>
                <a:ahLst/>
                <a:cxnLst/>
                <a:rect l="l" t="t" r="r" b="b"/>
                <a:pathLst>
                  <a:path w="3562350" h="2133600">
                    <a:moveTo>
                      <a:pt x="228600" y="0"/>
                    </a:moveTo>
                    <a:lnTo>
                      <a:pt x="3333750" y="0"/>
                    </a:lnTo>
                    <a:cubicBezTo>
                      <a:pt x="3460002" y="0"/>
                      <a:pt x="3562350" y="102348"/>
                      <a:pt x="3562350" y="228600"/>
                    </a:cubicBezTo>
                    <a:lnTo>
                      <a:pt x="3562350" y="1905000"/>
                    </a:lnTo>
                    <a:cubicBezTo>
                      <a:pt x="3562350" y="2031252"/>
                      <a:pt x="3460002" y="2133600"/>
                      <a:pt x="3333750" y="2133600"/>
                    </a:cubicBezTo>
                    <a:lnTo>
                      <a:pt x="228600" y="2133600"/>
                    </a:lnTo>
                    <a:cubicBezTo>
                      <a:pt x="102348" y="2133600"/>
                      <a:pt x="0" y="2031252"/>
                      <a:pt x="0" y="1905000"/>
                    </a:cubicBezTo>
                    <a:lnTo>
                      <a:pt x="0" y="228600"/>
                    </a:lnTo>
                    <a:cubicBezTo>
                      <a:pt x="0" y="102348"/>
                      <a:pt x="102348" y="0"/>
                      <a:pt x="22860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32" name="TextBox 32"/>
              <p:cNvSpPr txBox="1"/>
              <p:nvPr/>
            </p:nvSpPr>
            <p:spPr>
              <a:xfrm>
                <a:off x="4608195" y="3822382"/>
                <a:ext cx="2205330"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A1A2E"/>
                    </a:solidFill>
                    <a:latin typeface="Arial"/>
                    <a:ea typeface="Microsoft YaHei"/>
                    <a:cs typeface="Arial"/>
                  </a:rPr>
                  <a:t>What to try first</a:t>
                </a:r>
              </a:p>
            </p:txBody>
          </p:sp>
          <p:sp>
            <p:nvSpPr>
              <p:cNvPr id="33" name="TextBox 33"/>
              <p:cNvSpPr txBox="1"/>
              <p:nvPr/>
            </p:nvSpPr>
            <p:spPr>
              <a:xfrm>
                <a:off x="4614862" y="4317206"/>
                <a:ext cx="1260872"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1 Re-check PATH</a:t>
                </a:r>
              </a:p>
            </p:txBody>
          </p:sp>
          <p:sp>
            <p:nvSpPr>
              <p:cNvPr id="34" name="TextBox 34"/>
              <p:cNvSpPr txBox="1"/>
              <p:nvPr/>
            </p:nvSpPr>
            <p:spPr>
              <a:xfrm>
                <a:off x="4614862" y="4545806"/>
                <a:ext cx="1753791"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2 Use `python -m pip`</a:t>
                </a:r>
              </a:p>
            </p:txBody>
          </p:sp>
          <p:sp>
            <p:nvSpPr>
              <p:cNvPr id="35" name="TextBox 35"/>
              <p:cNvSpPr txBox="1"/>
              <p:nvPr/>
            </p:nvSpPr>
            <p:spPr>
              <a:xfrm>
                <a:off x="4614862" y="4774406"/>
                <a:ext cx="2435662"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3 Re-run the core import test</a:t>
                </a:r>
              </a:p>
            </p:txBody>
          </p:sp>
          <p:sp>
            <p:nvSpPr>
              <p:cNvPr id="36" name="TextBox 36"/>
              <p:cNvSpPr txBox="1"/>
              <p:nvPr/>
            </p:nvSpPr>
            <p:spPr>
              <a:xfrm>
                <a:off x="4614862" y="5003006"/>
                <a:ext cx="3166824"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4 Restart the terminal before retrying</a:t>
                </a:r>
              </a:p>
            </p:txBody>
          </p:sp>
        </p:grpSp>
        <p:grpSp>
          <p:nvGrpSpPr>
            <p:cNvPr id="43" name="Group 43"/>
            <p:cNvGrpSpPr/>
            <p:nvPr/>
          </p:nvGrpSpPr>
          <p:grpSpPr>
            <a:xfrm>
              <a:off x="8077200" y="3600450"/>
              <a:ext cx="3974901" cy="2133600"/>
              <a:chOff x="8077200" y="3600450"/>
              <a:chExt cx="3974901" cy="2133600"/>
            </a:xfrm>
            <a:effectLst>
              <a:outerShdw blurRad="152400" dist="38100" dir="10799140" algn="tl" rotWithShape="0">
                <a:srgbClr val="0F172A">
                  <a:alpha val="10000"/>
                </a:srgbClr>
              </a:outerShdw>
            </a:effectLst>
          </p:grpSpPr>
          <p:sp>
            <p:nvSpPr>
              <p:cNvPr id="38" name="Freeform 38"/>
              <p:cNvSpPr/>
              <p:nvPr/>
            </p:nvSpPr>
            <p:spPr>
              <a:xfrm>
                <a:off x="8077200" y="3600450"/>
                <a:ext cx="3543300" cy="2133600"/>
              </a:xfrm>
              <a:custGeom>
                <a:avLst/>
                <a:gdLst/>
                <a:ahLst/>
                <a:cxnLst/>
                <a:rect l="l" t="t" r="r" b="b"/>
                <a:pathLst>
                  <a:path w="3543300" h="2133600">
                    <a:moveTo>
                      <a:pt x="228600" y="0"/>
                    </a:moveTo>
                    <a:lnTo>
                      <a:pt x="3314700" y="0"/>
                    </a:lnTo>
                    <a:cubicBezTo>
                      <a:pt x="3440952" y="0"/>
                      <a:pt x="3543300" y="102348"/>
                      <a:pt x="3543300" y="228600"/>
                    </a:cubicBezTo>
                    <a:lnTo>
                      <a:pt x="3543300" y="1905000"/>
                    </a:lnTo>
                    <a:cubicBezTo>
                      <a:pt x="3543300" y="2031252"/>
                      <a:pt x="3440952" y="2133600"/>
                      <a:pt x="3314700" y="2133600"/>
                    </a:cubicBezTo>
                    <a:lnTo>
                      <a:pt x="228600" y="2133600"/>
                    </a:lnTo>
                    <a:cubicBezTo>
                      <a:pt x="102348" y="2133600"/>
                      <a:pt x="0" y="2031252"/>
                      <a:pt x="0" y="1905000"/>
                    </a:cubicBezTo>
                    <a:lnTo>
                      <a:pt x="0" y="228600"/>
                    </a:lnTo>
                    <a:cubicBezTo>
                      <a:pt x="0" y="102348"/>
                      <a:pt x="102348" y="0"/>
                      <a:pt x="22860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39" name="TextBox 39"/>
              <p:cNvSpPr txBox="1"/>
              <p:nvPr/>
            </p:nvSpPr>
            <p:spPr>
              <a:xfrm>
                <a:off x="8361045" y="3822382"/>
                <a:ext cx="1003430"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A1A2E"/>
                    </a:solidFill>
                    <a:latin typeface="Arial"/>
                    <a:ea typeface="Microsoft YaHei"/>
                    <a:cs typeface="Arial"/>
                  </a:rPr>
                  <a:t>Mindset</a:t>
                </a:r>
              </a:p>
            </p:txBody>
          </p:sp>
          <p:sp>
            <p:nvSpPr>
              <p:cNvPr id="40" name="TextBox 40"/>
              <p:cNvSpPr txBox="1"/>
              <p:nvPr/>
            </p:nvSpPr>
            <p:spPr>
              <a:xfrm>
                <a:off x="8367712" y="4317206"/>
                <a:ext cx="3561159"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Do not start debugging slide design until the</a:t>
                </a:r>
              </a:p>
            </p:txBody>
          </p:sp>
          <p:sp>
            <p:nvSpPr>
              <p:cNvPr id="41" name="TextBox 41"/>
              <p:cNvSpPr txBox="1"/>
              <p:nvPr/>
            </p:nvSpPr>
            <p:spPr>
              <a:xfrm>
                <a:off x="8367712" y="4545806"/>
                <a:ext cx="3684389"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runtime, imports, and minimal sample path all</a:t>
                </a:r>
              </a:p>
            </p:txBody>
          </p:sp>
          <p:sp>
            <p:nvSpPr>
              <p:cNvPr id="42" name="TextBox 42"/>
              <p:cNvSpPr txBox="1"/>
              <p:nvPr/>
            </p:nvSpPr>
            <p:spPr>
              <a:xfrm>
                <a:off x="8367712" y="4774406"/>
                <a:ext cx="2337078"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64748B"/>
                    </a:solidFill>
                    <a:latin typeface="Arial"/>
                    <a:ea typeface="Microsoft YaHei"/>
                    <a:cs typeface="Arial"/>
                  </a:rPr>
                  <a:t>work cleanly on the machine.</a:t>
                </a:r>
              </a:p>
            </p:txBody>
          </p:sp>
        </p:grpSp>
      </p:grpSp>
      <p:sp>
        <p:nvSpPr>
          <p:cNvPr id="45" name="TextBox 45"/>
          <p:cNvSpPr txBox="1"/>
          <p:nvPr/>
        </p:nvSpPr>
        <p:spPr>
          <a:xfrm>
            <a:off x="11383042" y="6417945"/>
            <a:ext cx="134588"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12</a:t>
            </a:r>
          </a:p>
        </p:txBody>
      </p:sp>
    </p:spTree>
  </p:cSld>
  <p:clrMapOvr>
    <a:masterClrMapping/>
  </p:clrMapOvr>
  <p:transition 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A1A2E"/>
              </a:gs>
              <a:gs pos="100000">
                <a:srgbClr val="0F172A"/>
              </a:gs>
            </a:gsLst>
            <a:lin ang="2700000" scaled="1"/>
          </a:gradFill>
          <a:ln>
            <a:noFill/>
          </a:ln>
        </p:spPr>
      </p:sp>
      <p:sp>
        <p:nvSpPr>
          <p:cNvPr id="3" name="Rectangle 3"/>
          <p:cNvSpPr/>
          <p:nvPr/>
        </p:nvSpPr>
        <p:spPr>
          <a:xfrm>
            <a:off x="0" y="0"/>
            <a:ext cx="12192000" cy="57150"/>
          </a:xfrm>
          <a:prstGeom prst="rect">
            <a:avLst/>
          </a:prstGeom>
          <a:solidFill>
            <a:srgbClr val="D97757"/>
          </a:solidFill>
          <a:ln>
            <a:noFill/>
          </a:ln>
        </p:spPr>
      </p:sp>
      <p:grpSp>
        <p:nvGrpSpPr>
          <p:cNvPr id="8" name="Group 8"/>
          <p:cNvGrpSpPr/>
          <p:nvPr/>
        </p:nvGrpSpPr>
        <p:grpSpPr>
          <a:xfrm>
            <a:off x="0" y="-381000"/>
            <a:ext cx="12192000" cy="8096250"/>
            <a:chOff x="0" y="-381000"/>
            <a:chExt cx="12192000" cy="8096250"/>
          </a:xfrm>
        </p:grpSpPr>
        <p:sp>
          <p:nvSpPr>
            <p:cNvPr id="4" name="Rectangle 4"/>
            <p:cNvSpPr/>
            <p:nvPr/>
          </p:nvSpPr>
          <p:spPr>
            <a:xfrm>
              <a:off x="0" y="0"/>
              <a:ext cx="12192000" cy="6858000"/>
            </a:xfrm>
            <a:prstGeom prst="rect">
              <a:avLst/>
            </a:prstGeom>
            <a:noFill/>
            <a:ln w="9525">
              <a:solidFill>
                <a:srgbClr val="FFFFFF">
                  <a:alpha val="4000"/>
                </a:srgbClr>
              </a:solidFill>
            </a:ln>
          </p:spPr>
        </p:sp>
        <p:sp>
          <p:nvSpPr>
            <p:cNvPr id="5" name="Freeform 5"/>
            <p:cNvSpPr/>
            <p:nvPr/>
          </p:nvSpPr>
          <p:spPr>
            <a:xfrm>
              <a:off x="0" y="0"/>
              <a:ext cx="12192000" cy="6858000"/>
            </a:xfrm>
            <a:custGeom>
              <a:avLst/>
              <a:gdLst/>
              <a:ahLst/>
              <a:cxnLst/>
              <a:rect l="l" t="t" r="r" b="b"/>
              <a:pathLst>
                <a:path w="12192000" h="6858000">
                  <a:moveTo>
                    <a:pt x="0" y="1714500"/>
                  </a:moveTo>
                  <a:lnTo>
                    <a:pt x="12192000" y="1714500"/>
                  </a:lnTo>
                  <a:moveTo>
                    <a:pt x="0" y="3429000"/>
                  </a:moveTo>
                  <a:lnTo>
                    <a:pt x="12192000" y="3429000"/>
                  </a:lnTo>
                  <a:moveTo>
                    <a:pt x="0" y="5143500"/>
                  </a:moveTo>
                  <a:lnTo>
                    <a:pt x="12192000" y="5143500"/>
                  </a:lnTo>
                  <a:moveTo>
                    <a:pt x="3048000" y="0"/>
                  </a:moveTo>
                  <a:lnTo>
                    <a:pt x="3048000" y="6858000"/>
                  </a:lnTo>
                  <a:moveTo>
                    <a:pt x="6096000" y="0"/>
                  </a:moveTo>
                  <a:lnTo>
                    <a:pt x="6096000" y="6858000"/>
                  </a:lnTo>
                  <a:moveTo>
                    <a:pt x="9144000" y="0"/>
                  </a:moveTo>
                  <a:lnTo>
                    <a:pt x="9144000" y="6858000"/>
                  </a:lnTo>
                </a:path>
              </a:pathLst>
            </a:custGeom>
            <a:noFill/>
            <a:ln w="9525">
              <a:solidFill>
                <a:srgbClr val="FFFFFF">
                  <a:alpha val="3000"/>
                </a:srgbClr>
              </a:solidFill>
            </a:ln>
          </p:spPr>
        </p:sp>
        <p:sp>
          <p:nvSpPr>
            <p:cNvPr id="6" name="Ellipse 6"/>
            <p:cNvSpPr/>
            <p:nvPr/>
          </p:nvSpPr>
          <p:spPr>
            <a:xfrm>
              <a:off x="8572500" y="-381000"/>
              <a:ext cx="3048000" cy="3048000"/>
            </a:xfrm>
            <a:prstGeom prst="ellipse">
              <a:avLst/>
            </a:prstGeom>
            <a:solidFill>
              <a:srgbClr val="D97757">
                <a:alpha val="10000"/>
              </a:srgbClr>
            </a:solidFill>
            <a:ln>
              <a:noFill/>
            </a:ln>
          </p:spPr>
        </p:sp>
        <p:sp>
          <p:nvSpPr>
            <p:cNvPr id="7" name="Ellipse 7"/>
            <p:cNvSpPr/>
            <p:nvPr/>
          </p:nvSpPr>
          <p:spPr>
            <a:xfrm>
              <a:off x="6858000" y="3714750"/>
              <a:ext cx="4000500" cy="4000500"/>
            </a:xfrm>
            <a:prstGeom prst="ellipse">
              <a:avLst/>
            </a:prstGeom>
            <a:solidFill>
              <a:srgbClr val="4A90D9">
                <a:alpha val="8000"/>
              </a:srgbClr>
            </a:solidFill>
            <a:ln>
              <a:noFill/>
            </a:ln>
          </p:spPr>
        </p:sp>
      </p:grpSp>
      <p:sp>
        <p:nvSpPr>
          <p:cNvPr id="9" name="TextBox 9"/>
          <p:cNvSpPr txBox="1"/>
          <p:nvPr/>
        </p:nvSpPr>
        <p:spPr>
          <a:xfrm>
            <a:off x="539115" y="543878"/>
            <a:ext cx="15120152" cy="518160"/>
          </a:xfrm>
          <a:prstGeom prst="rect">
            <a:avLst/>
          </a:prstGeom>
          <a:noFill/>
          <a:ln>
            <a:noFill/>
          </a:ln>
        </p:spPr>
        <p:txBody>
          <a:bodyPr wrap="none" lIns="0" tIns="0" rIns="0" bIns="0" anchor="t" anchorCtr="0">
            <a:spAutoFit/>
          </a:bodyPr>
          <a:lstStyle/>
          <a:p>
            <a:pPr algn="l"/>
            <a:r>
              <a:rPr lang="zh-CN" sz="2550" b="1" dirty="0">
                <a:solidFill>
                  <a:srgbClr val="D97757"/>
                </a:solidFill>
                <a:latin typeface="Arial"/>
                <a:ea typeface="Microsoft YaHei"/>
                <a:cs typeface="Arial"/>
              </a:rPr>
              <a:t>Choose PPT Master when editability matters more than instant browser output</a:t>
            </a:r>
          </a:p>
        </p:txBody>
      </p:sp>
      <p:sp>
        <p:nvSpPr>
          <p:cNvPr id="10" name="TextBox 10"/>
          <p:cNvSpPr txBox="1"/>
          <p:nvPr/>
        </p:nvSpPr>
        <p:spPr>
          <a:xfrm>
            <a:off x="556260" y="975360"/>
            <a:ext cx="7619238"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The docs close with a clear boundary: this is a serious workflow for serious slide users.</a:t>
            </a:r>
          </a:p>
        </p:txBody>
      </p:sp>
      <p:grpSp>
        <p:nvGrpSpPr>
          <p:cNvPr id="19" name="Group 19"/>
          <p:cNvGrpSpPr/>
          <p:nvPr/>
        </p:nvGrpSpPr>
        <p:grpSpPr>
          <a:xfrm>
            <a:off x="571500" y="1619250"/>
            <a:ext cx="5392674" cy="4057650"/>
            <a:chOff x="571500" y="1619250"/>
            <a:chExt cx="5392674" cy="4057650"/>
          </a:xfrm>
          <a:effectLst>
            <a:outerShdw blurRad="152400" dist="38100" dir="10799140" algn="tl" rotWithShape="0">
              <a:srgbClr val="0F172A">
                <a:alpha val="10000"/>
              </a:srgbClr>
            </a:outerShdw>
          </a:effectLst>
        </p:grpSpPr>
        <p:sp>
          <p:nvSpPr>
            <p:cNvPr id="11" name="Freeform 11"/>
            <p:cNvSpPr/>
            <p:nvPr/>
          </p:nvSpPr>
          <p:spPr>
            <a:xfrm>
              <a:off x="571500" y="1619250"/>
              <a:ext cx="5238750" cy="4057650"/>
            </a:xfrm>
            <a:custGeom>
              <a:avLst/>
              <a:gdLst/>
              <a:ahLst/>
              <a:cxnLst/>
              <a:rect l="l" t="t" r="r" b="b"/>
              <a:pathLst>
                <a:path w="5238750" h="4057650">
                  <a:moveTo>
                    <a:pt x="266700" y="0"/>
                  </a:moveTo>
                  <a:lnTo>
                    <a:pt x="4972050" y="0"/>
                  </a:lnTo>
                  <a:cubicBezTo>
                    <a:pt x="5119344" y="0"/>
                    <a:pt x="5238750" y="119406"/>
                    <a:pt x="5238750" y="266700"/>
                  </a:cubicBezTo>
                  <a:lnTo>
                    <a:pt x="5238750" y="3790950"/>
                  </a:lnTo>
                  <a:cubicBezTo>
                    <a:pt x="5238750" y="3938244"/>
                    <a:pt x="5119344" y="4057650"/>
                    <a:pt x="4972050" y="4057650"/>
                  </a:cubicBezTo>
                  <a:lnTo>
                    <a:pt x="266700" y="4057650"/>
                  </a:lnTo>
                  <a:cubicBezTo>
                    <a:pt x="119406" y="4057650"/>
                    <a:pt x="0" y="3938244"/>
                    <a:pt x="0" y="3790950"/>
                  </a:cubicBezTo>
                  <a:lnTo>
                    <a:pt x="0" y="266700"/>
                  </a:lnTo>
                  <a:cubicBezTo>
                    <a:pt x="0" y="119406"/>
                    <a:pt x="119406" y="0"/>
                    <a:pt x="26670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12" name="Freeform 12"/>
            <p:cNvSpPr/>
            <p:nvPr/>
          </p:nvSpPr>
          <p:spPr>
            <a:xfrm>
              <a:off x="571500" y="1619250"/>
              <a:ext cx="5238750" cy="666750"/>
            </a:xfrm>
            <a:custGeom>
              <a:avLst/>
              <a:gdLst/>
              <a:ahLst/>
              <a:cxnLst/>
              <a:rect l="l" t="t" r="r" b="b"/>
              <a:pathLst>
                <a:path w="5238750" h="666750">
                  <a:moveTo>
                    <a:pt x="266700" y="0"/>
                  </a:moveTo>
                  <a:lnTo>
                    <a:pt x="4972050" y="0"/>
                  </a:lnTo>
                  <a:cubicBezTo>
                    <a:pt x="5119344" y="0"/>
                    <a:pt x="5238750" y="119406"/>
                    <a:pt x="5238750" y="266700"/>
                  </a:cubicBezTo>
                  <a:lnTo>
                    <a:pt x="5238750" y="400050"/>
                  </a:lnTo>
                  <a:cubicBezTo>
                    <a:pt x="5238750" y="547344"/>
                    <a:pt x="5119344" y="666750"/>
                    <a:pt x="4972050" y="666750"/>
                  </a:cubicBezTo>
                  <a:lnTo>
                    <a:pt x="266700" y="666750"/>
                  </a:lnTo>
                  <a:cubicBezTo>
                    <a:pt x="119406" y="666750"/>
                    <a:pt x="0" y="547344"/>
                    <a:pt x="0" y="400050"/>
                  </a:cubicBezTo>
                  <a:lnTo>
                    <a:pt x="0" y="266700"/>
                  </a:lnTo>
                  <a:cubicBezTo>
                    <a:pt x="0" y="119406"/>
                    <a:pt x="119406" y="0"/>
                    <a:pt x="266700" y="0"/>
                  </a:cubicBezTo>
                  <a:close/>
                </a:path>
              </a:pathLst>
            </a:custGeom>
            <a:solidFill>
              <a:srgbClr val="10B981"/>
            </a:solidFill>
            <a:ln>
              <a:noFill/>
            </a:ln>
            <a:effectLst>
              <a:outerShdw blurRad="152400" dist="38100" dir="10799140" algn="tl" rotWithShape="0">
                <a:srgbClr val="0F172A">
                  <a:alpha val="10000"/>
                </a:srgbClr>
              </a:outerShdw>
            </a:effectLst>
          </p:spPr>
        </p:sp>
        <p:sp>
          <p:nvSpPr>
            <p:cNvPr id="13" name="TextBox 13"/>
            <p:cNvSpPr txBox="1"/>
            <p:nvPr/>
          </p:nvSpPr>
          <p:spPr>
            <a:xfrm>
              <a:off x="2629748" y="1844040"/>
              <a:ext cx="1122255"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800" b="1" dirty="0">
                  <a:solidFill>
                    <a:srgbClr val="94A3B8"/>
                  </a:solidFill>
                  <a:latin typeface="Arial"/>
                  <a:ea typeface="Microsoft YaHei"/>
                  <a:cs typeface="Arial"/>
                </a:rPr>
                <a:t>Best fit</a:t>
              </a:r>
            </a:p>
          </p:txBody>
        </p:sp>
        <p:sp>
          <p:nvSpPr>
            <p:cNvPr id="14" name="TextBox 14"/>
            <p:cNvSpPr txBox="1"/>
            <p:nvPr/>
          </p:nvSpPr>
          <p:spPr>
            <a:xfrm>
              <a:off x="954405" y="2597468"/>
              <a:ext cx="2249467"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FFFFFF"/>
                  </a:solidFill>
                  <a:latin typeface="Arial"/>
                  <a:ea typeface="Microsoft YaHei"/>
                  <a:cs typeface="Arial"/>
                </a:rPr>
                <a:t>Use it when you want:</a:t>
              </a:r>
            </a:p>
          </p:txBody>
        </p:sp>
        <p:sp>
          <p:nvSpPr>
            <p:cNvPr id="15" name="TextBox 15"/>
            <p:cNvSpPr txBox="1"/>
            <p:nvPr/>
          </p:nvSpPr>
          <p:spPr>
            <a:xfrm>
              <a:off x="956310" y="3070860"/>
              <a:ext cx="4026408"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CBD5E1"/>
                  </a:solidFill>
                  <a:latin typeface="Arial"/>
                  <a:ea typeface="Microsoft YaHei"/>
                  <a:cs typeface="Arial"/>
                </a:rPr>
                <a:t>- Native editable output for real delivery work</a:t>
              </a:r>
            </a:p>
          </p:txBody>
        </p:sp>
        <p:sp>
          <p:nvSpPr>
            <p:cNvPr id="16" name="TextBox 16"/>
            <p:cNvSpPr txBox="1"/>
            <p:nvPr/>
          </p:nvSpPr>
          <p:spPr>
            <a:xfrm>
              <a:off x="956310" y="3337560"/>
              <a:ext cx="4972812"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CBD5E1"/>
                  </a:solidFill>
                  <a:latin typeface="Arial"/>
                  <a:ea typeface="Microsoft YaHei"/>
                  <a:cs typeface="Arial"/>
                </a:rPr>
                <a:t>- Transparent cost without platform subscription lock-in</a:t>
              </a:r>
            </a:p>
          </p:txBody>
        </p:sp>
        <p:sp>
          <p:nvSpPr>
            <p:cNvPr id="17" name="TextBox 17"/>
            <p:cNvSpPr txBox="1"/>
            <p:nvPr/>
          </p:nvSpPr>
          <p:spPr>
            <a:xfrm>
              <a:off x="956310" y="3604260"/>
              <a:ext cx="4166616"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CBD5E1"/>
                  </a:solidFill>
                  <a:latin typeface="Arial"/>
                  <a:ea typeface="Microsoft YaHei"/>
                  <a:cs typeface="Arial"/>
                </a:rPr>
                <a:t>- Local handling of source materials and exports</a:t>
              </a:r>
            </a:p>
          </p:txBody>
        </p:sp>
        <p:sp>
          <p:nvSpPr>
            <p:cNvPr id="18" name="TextBox 18"/>
            <p:cNvSpPr txBox="1"/>
            <p:nvPr/>
          </p:nvSpPr>
          <p:spPr>
            <a:xfrm>
              <a:off x="956310" y="3870960"/>
              <a:ext cx="5007864"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CBD5E1"/>
                  </a:solidFill>
                  <a:latin typeface="Arial"/>
                  <a:ea typeface="Microsoft YaHei"/>
                  <a:cs typeface="Arial"/>
                </a:rPr>
                <a:t>- Freedom to pair the workflow with your preferred AI IDE</a:t>
              </a:r>
            </a:p>
          </p:txBody>
        </p:sp>
      </p:grpSp>
      <p:grpSp>
        <p:nvGrpSpPr>
          <p:cNvPr id="28" name="Group 28"/>
          <p:cNvGrpSpPr/>
          <p:nvPr/>
        </p:nvGrpSpPr>
        <p:grpSpPr>
          <a:xfrm>
            <a:off x="6381750" y="1619250"/>
            <a:ext cx="5238750" cy="4057650"/>
            <a:chOff x="6381750" y="1619250"/>
            <a:chExt cx="5238750" cy="4057650"/>
          </a:xfrm>
          <a:effectLst>
            <a:outerShdw blurRad="152400" dist="38100" dir="10799140" algn="tl" rotWithShape="0">
              <a:srgbClr val="0F172A">
                <a:alpha val="10000"/>
              </a:srgbClr>
            </a:outerShdw>
          </a:effectLst>
        </p:grpSpPr>
        <p:sp>
          <p:nvSpPr>
            <p:cNvPr id="20" name="Freeform 20"/>
            <p:cNvSpPr/>
            <p:nvPr/>
          </p:nvSpPr>
          <p:spPr>
            <a:xfrm>
              <a:off x="6381750" y="1619250"/>
              <a:ext cx="5238750" cy="4057650"/>
            </a:xfrm>
            <a:custGeom>
              <a:avLst/>
              <a:gdLst/>
              <a:ahLst/>
              <a:cxnLst/>
              <a:rect l="l" t="t" r="r" b="b"/>
              <a:pathLst>
                <a:path w="5238750" h="4057650">
                  <a:moveTo>
                    <a:pt x="266700" y="0"/>
                  </a:moveTo>
                  <a:lnTo>
                    <a:pt x="4972050" y="0"/>
                  </a:lnTo>
                  <a:cubicBezTo>
                    <a:pt x="5119344" y="0"/>
                    <a:pt x="5238750" y="119406"/>
                    <a:pt x="5238750" y="266700"/>
                  </a:cubicBezTo>
                  <a:lnTo>
                    <a:pt x="5238750" y="3790950"/>
                  </a:lnTo>
                  <a:cubicBezTo>
                    <a:pt x="5238750" y="3938244"/>
                    <a:pt x="5119344" y="4057650"/>
                    <a:pt x="4972050" y="4057650"/>
                  </a:cubicBezTo>
                  <a:lnTo>
                    <a:pt x="266700" y="4057650"/>
                  </a:lnTo>
                  <a:cubicBezTo>
                    <a:pt x="119406" y="4057650"/>
                    <a:pt x="0" y="3938244"/>
                    <a:pt x="0" y="3790950"/>
                  </a:cubicBezTo>
                  <a:lnTo>
                    <a:pt x="0" y="266700"/>
                  </a:lnTo>
                  <a:cubicBezTo>
                    <a:pt x="0" y="119406"/>
                    <a:pt x="119406" y="0"/>
                    <a:pt x="266700" y="0"/>
                  </a:cubicBezTo>
                  <a:close/>
                </a:path>
              </a:pathLst>
            </a:custGeom>
            <a:solidFill>
              <a:srgbClr val="F8FAFC"/>
            </a:solidFill>
            <a:ln>
              <a:noFill/>
            </a:ln>
            <a:effectLst>
              <a:outerShdw blurRad="152400" dist="38100" dir="10799140" algn="tl" rotWithShape="0">
                <a:srgbClr val="0F172A">
                  <a:alpha val="10000"/>
                </a:srgbClr>
              </a:outerShdw>
            </a:effectLst>
          </p:spPr>
        </p:sp>
        <p:sp>
          <p:nvSpPr>
            <p:cNvPr id="21" name="Freeform 21"/>
            <p:cNvSpPr/>
            <p:nvPr/>
          </p:nvSpPr>
          <p:spPr>
            <a:xfrm>
              <a:off x="6381750" y="1619250"/>
              <a:ext cx="5238750" cy="666750"/>
            </a:xfrm>
            <a:custGeom>
              <a:avLst/>
              <a:gdLst/>
              <a:ahLst/>
              <a:cxnLst/>
              <a:rect l="l" t="t" r="r" b="b"/>
              <a:pathLst>
                <a:path w="5238750" h="666750">
                  <a:moveTo>
                    <a:pt x="266700" y="0"/>
                  </a:moveTo>
                  <a:lnTo>
                    <a:pt x="4972050" y="0"/>
                  </a:lnTo>
                  <a:cubicBezTo>
                    <a:pt x="5119344" y="0"/>
                    <a:pt x="5238750" y="119406"/>
                    <a:pt x="5238750" y="266700"/>
                  </a:cubicBezTo>
                  <a:lnTo>
                    <a:pt x="5238750" y="400050"/>
                  </a:lnTo>
                  <a:cubicBezTo>
                    <a:pt x="5238750" y="547344"/>
                    <a:pt x="5119344" y="666750"/>
                    <a:pt x="4972050" y="666750"/>
                  </a:cubicBezTo>
                  <a:lnTo>
                    <a:pt x="266700" y="666750"/>
                  </a:lnTo>
                  <a:cubicBezTo>
                    <a:pt x="119406" y="666750"/>
                    <a:pt x="0" y="547344"/>
                    <a:pt x="0" y="400050"/>
                  </a:cubicBezTo>
                  <a:lnTo>
                    <a:pt x="0" y="266700"/>
                  </a:lnTo>
                  <a:cubicBezTo>
                    <a:pt x="0" y="119406"/>
                    <a:pt x="119406" y="0"/>
                    <a:pt x="266700" y="0"/>
                  </a:cubicBezTo>
                  <a:close/>
                </a:path>
              </a:pathLst>
            </a:custGeom>
            <a:solidFill>
              <a:srgbClr val="EF4444"/>
            </a:solidFill>
            <a:ln>
              <a:noFill/>
            </a:ln>
            <a:effectLst>
              <a:outerShdw blurRad="152400" dist="38100" dir="10799140" algn="tl" rotWithShape="0">
                <a:srgbClr val="0F172A">
                  <a:alpha val="10000"/>
                </a:srgbClr>
              </a:outerShdw>
            </a:effectLst>
          </p:spPr>
        </p:sp>
        <p:sp>
          <p:nvSpPr>
            <p:cNvPr id="22" name="TextBox 22"/>
            <p:cNvSpPr txBox="1"/>
            <p:nvPr/>
          </p:nvSpPr>
          <p:spPr>
            <a:xfrm>
              <a:off x="7860325" y="1844040"/>
              <a:ext cx="2281599"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800" b="1" dirty="0">
                  <a:solidFill>
                    <a:srgbClr val="94A3B8"/>
                  </a:solidFill>
                  <a:latin typeface="Arial"/>
                  <a:ea typeface="Microsoft YaHei"/>
                  <a:cs typeface="Arial"/>
                </a:rPr>
                <a:t>Not the right fit</a:t>
              </a:r>
            </a:p>
          </p:txBody>
        </p:sp>
        <p:sp>
          <p:nvSpPr>
            <p:cNvPr id="23" name="TextBox 23"/>
            <p:cNvSpPr txBox="1"/>
            <p:nvPr/>
          </p:nvSpPr>
          <p:spPr>
            <a:xfrm>
              <a:off x="6764655" y="2597468"/>
              <a:ext cx="1949279"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FFFFFF"/>
                  </a:solidFill>
                  <a:latin typeface="Arial"/>
                  <a:ea typeface="Microsoft YaHei"/>
                  <a:cs typeface="Arial"/>
                </a:rPr>
                <a:t>Skip it if you need:</a:t>
              </a:r>
            </a:p>
          </p:txBody>
        </p:sp>
        <p:sp>
          <p:nvSpPr>
            <p:cNvPr id="24" name="TextBox 24"/>
            <p:cNvSpPr txBox="1"/>
            <p:nvPr/>
          </p:nvSpPr>
          <p:spPr>
            <a:xfrm>
              <a:off x="6766560" y="3070860"/>
              <a:ext cx="368465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CBD5E1"/>
                  </a:solidFill>
                  <a:latin typeface="Arial"/>
                  <a:ea typeface="Microsoft YaHei"/>
                  <a:cs typeface="Arial"/>
                </a:rPr>
                <a:t>- Zero-setup instant slides in a browser UI</a:t>
              </a:r>
            </a:p>
          </p:txBody>
        </p:sp>
        <p:sp>
          <p:nvSpPr>
            <p:cNvPr id="25" name="TextBox 25"/>
            <p:cNvSpPr txBox="1"/>
            <p:nvPr/>
          </p:nvSpPr>
          <p:spPr>
            <a:xfrm>
              <a:off x="6766560" y="3337560"/>
              <a:ext cx="438569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CBD5E1"/>
                  </a:solidFill>
                  <a:latin typeface="Arial"/>
                  <a:ea typeface="Microsoft YaHei"/>
                  <a:cs typeface="Arial"/>
                </a:rPr>
                <a:t>- Real-time collaboration and share-link workflows</a:t>
              </a:r>
            </a:p>
          </p:txBody>
        </p:sp>
        <p:sp>
          <p:nvSpPr>
            <p:cNvPr id="26" name="TextBox 26"/>
            <p:cNvSpPr txBox="1"/>
            <p:nvPr/>
          </p:nvSpPr>
          <p:spPr>
            <a:xfrm>
              <a:off x="6766560" y="3604260"/>
              <a:ext cx="3623310"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CBD5E1"/>
                  </a:solidFill>
                  <a:latin typeface="Arial"/>
                  <a:ea typeface="Microsoft YaHei"/>
                  <a:cs typeface="Arial"/>
                </a:rPr>
                <a:t>- Spreadsheet-bound native chart objects</a:t>
              </a:r>
            </a:p>
          </p:txBody>
        </p:sp>
        <p:sp>
          <p:nvSpPr>
            <p:cNvPr id="27" name="TextBox 27"/>
            <p:cNvSpPr txBox="1"/>
            <p:nvPr/>
          </p:nvSpPr>
          <p:spPr>
            <a:xfrm>
              <a:off x="6766560" y="3870960"/>
              <a:ext cx="421043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CBD5E1"/>
                  </a:solidFill>
                  <a:latin typeface="Arial"/>
                  <a:ea typeface="Microsoft YaHei"/>
                  <a:cs typeface="Arial"/>
                </a:rPr>
                <a:t>- A fully polished final deck with no human review</a:t>
              </a:r>
            </a:p>
          </p:txBody>
        </p:sp>
      </p:grpSp>
      <p:sp>
        <p:nvSpPr>
          <p:cNvPr id="29" name="TextBox 29"/>
          <p:cNvSpPr txBox="1"/>
          <p:nvPr/>
        </p:nvSpPr>
        <p:spPr>
          <a:xfrm>
            <a:off x="552450" y="6105525"/>
            <a:ext cx="10653927"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PPT Master is not the easiest path. It is the path optimized for editable, controllable output.</a:t>
            </a:r>
          </a:p>
        </p:txBody>
      </p:sp>
      <p:sp>
        <p:nvSpPr>
          <p:cNvPr id="30" name="TextBox 30"/>
          <p:cNvSpPr txBox="1"/>
          <p:nvPr/>
        </p:nvSpPr>
        <p:spPr>
          <a:xfrm>
            <a:off x="11383042" y="6417945"/>
            <a:ext cx="134588"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13</a:t>
            </a:r>
          </a:p>
        </p:txBody>
      </p:sp>
    </p:spTree>
  </p:cSld>
  <p:clrMapOvr>
    <a:masterClrMapping/>
  </p:clrMapOvr>
  <p:transition 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