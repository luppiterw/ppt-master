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deck compresses the four key documentation files into a single story about what PPT Master is, how it works, and what it demands from the user. The central thread is not just AI slide generation. It is the ability to produce a PowerPoint file that remains editable and usable after export.</a:t>
            </a:r>
          </a:p>
          <a:p>
            <a:endParaRPr lang="zh-CN" dirty="0"/>
          </a:p>
          <a:p>
            <a:r>
              <a:rPr lang="zh-CN" dirty="0"/>
              <a:t>Key points: (1) This is a documentation synthesis deck (2) The story covers product, architecture, and setup (3) Editability is the anchor idea</a:t>
            </a:r>
          </a:p>
          <a:p>
            <a:r>
              <a:rPr lang="zh-CN" dirty="0"/>
              <a:t>Duration: 1 minute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With the scope set, the first question is what PPT Master is actually trying to optimize for.</a:t>
            </a:r>
          </a:p>
          <a:p>
            <a:endParaRPr lang="zh-CN" dirty="0"/>
          </a:p>
          <a:p>
            <a:r>
              <a:rPr lang="zh-CN" dirty="0"/>
              <a:t>The answer is unusually concrete: not pretty screenshots, but a real slide file. The docs make the standard explicit: if the result cannot be opened and edited like a normal PowerPoint deck, then the workflow has missed the point. That framing shapes every downstream engineering decision.</a:t>
            </a:r>
          </a:p>
          <a:p>
            <a:endParaRPr lang="zh-CN" dirty="0"/>
          </a:p>
          <a:p>
            <a:r>
              <a:rPr lang="zh-CN" dirty="0"/>
              <a:t>Key points: (1) Native editability is the core differentiator (2) Engineering choices follow that principle (3) The deck is treated as a working file</a:t>
            </a:r>
          </a:p>
          <a:p>
            <a:r>
              <a:rPr lang="zh-CN" dirty="0"/>
              <a:t>Duration: 1 minute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that standard is clear, the next step is to understand what other AI slide approaches get wrong.</a:t>
            </a:r>
          </a:p>
          <a:p>
            <a:endParaRPr lang="zh-CN" dirty="0"/>
          </a:p>
          <a:p>
            <a:r>
              <a:rPr lang="zh-CN" dirty="0"/>
              <a:t>The docs reject three familiar paths. Image embedding looks polished but destroys editability, HTML and CSS do not map cleanly to slide geometry, and direct python-pptx generation stays editable but usually lacks visual richness. PPT Master positions itself as the fourth path by using SVG as the drafting layer and DrawingML as the delivery layer.</a:t>
            </a:r>
          </a:p>
          <a:p>
            <a:endParaRPr lang="zh-CN" dirty="0"/>
          </a:p>
          <a:p>
            <a:r>
              <a:rPr lang="zh-CN" dirty="0"/>
              <a:t>Key points: (1) Three common approaches have hard limitations (2) PPT Master is a deliberate alternative (3) The product is framed through trade-offs, not hype</a:t>
            </a:r>
          </a:p>
          <a:p>
            <a:r>
              <a:rPr lang="zh-CN" dirty="0"/>
              <a:t>Duration: 1.5 minutes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positioning becomes easier to believe when the product values stay consistent across all docs.</a:t>
            </a:r>
          </a:p>
          <a:p>
            <a:endParaRPr lang="zh-CN" dirty="0"/>
          </a:p>
          <a:p>
            <a:r>
              <a:rPr lang="zh-CN" dirty="0"/>
              <a:t>Four themes repeat everywhere: real PowerPoint output, predictable cost, local-first data handling, and no lock-in on editors or models. These are not decorative claims. They explain why the project is open source, why the workflow runs locally, and why the docs spend so much time on practical setup and export behavior.</a:t>
            </a:r>
          </a:p>
          <a:p>
            <a:endParaRPr lang="zh-CN" dirty="0"/>
          </a:p>
          <a:p>
            <a:r>
              <a:rPr lang="zh-CN" dirty="0"/>
              <a:t>Key points: (1) Editability, cost, privacy, and openness define the product (2) The values are operational, not just branding (3) The docs are coherent across topics</a:t>
            </a:r>
          </a:p>
          <a:p>
            <a:r>
              <a:rPr lang="zh-CN" dirty="0"/>
              <a:t>Duration: 1 minute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After the product promise, the architecture tells us how the promise is delivered.</a:t>
            </a:r>
          </a:p>
          <a:p>
            <a:endParaRPr lang="zh-CN" dirty="0"/>
          </a:p>
          <a:p>
            <a:r>
              <a:rPr lang="zh-CN" dirty="0"/>
              <a:t>The full workflow is intentionally serial. Content gets normalized first, then the strategist plans the deck, then the executor generates SVG and notes, then post-processing cleans everything up before export. The docs are explicit that this serialization protects cross-slide consistency and reduces context drift.</a:t>
            </a:r>
          </a:p>
          <a:p>
            <a:endParaRPr lang="zh-CN" dirty="0"/>
          </a:p>
          <a:p>
            <a:r>
              <a:rPr lang="zh-CN" dirty="0"/>
              <a:t>Key points: (1) The workflow is stage-based and serial (2) Each stage hands off to the next (3) Consistency is prioritized over raw speed</a:t>
            </a:r>
          </a:p>
          <a:p>
            <a:r>
              <a:rPr lang="zh-CN" dirty="0"/>
              <a:t>Duration: 1.5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We can simplify that architecture further into three conceptual stages.</a:t>
            </a:r>
          </a:p>
          <a:p>
            <a:endParaRPr lang="zh-CN" dirty="0"/>
          </a:p>
          <a:p>
            <a:r>
              <a:rPr lang="zh-CN" dirty="0"/>
              <a:t>Stage one is understanding and planning, stage two is visual generation, and stage three is engineering conversion. That separation is important because it clarifies the role of AI: first to interpret content, then to design with SVG, and finally to let deterministic scripts translate the draft into a real slide artifact.</a:t>
            </a:r>
          </a:p>
          <a:p>
            <a:endParaRPr lang="zh-CN" dirty="0"/>
          </a:p>
          <a:p>
            <a:r>
              <a:rPr lang="zh-CN" dirty="0"/>
              <a:t>Key points: (1) Understand (2) Generate (3) Convert</a:t>
            </a:r>
          </a:p>
          <a:p>
            <a:r>
              <a:rPr lang="zh-CN" dirty="0"/>
              <a:t>Duration: 1 minute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most technical question in the docs is why SVG sits at the center of the system.</a:t>
            </a:r>
          </a:p>
          <a:p>
            <a:endParaRPr lang="zh-CN" dirty="0"/>
          </a:p>
          <a:p>
            <a:r>
              <a:rPr lang="zh-CN" dirty="0"/>
              <a:t>The argument is practical rather than ideological. DrawingML is too verbose to author reliably, HTML and CSS speak the wrong layout language, WMF and EMF are not useful AI targets, and image-only SVG throws away editability. SVG wins because it shares the same absolute-coordinate mindset as slide graphics while remaining readable and transformable.</a:t>
            </a:r>
          </a:p>
          <a:p>
            <a:endParaRPr lang="zh-CN" dirty="0"/>
          </a:p>
          <a:p>
            <a:r>
              <a:rPr lang="zh-CN" dirty="0"/>
              <a:t>Key points: (1) SVG is chosen by elimination (2) It matches the slide canvas worldview (3) It remains inspectable before export</a:t>
            </a:r>
          </a:p>
          <a:p>
            <a:r>
              <a:rPr lang="zh-CN" dirty="0"/>
              <a:t>Duration: 1.5 minutes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Even with the right architecture, the docs are careful not to over-promise the final quality.</a:t>
            </a:r>
          </a:p>
          <a:p>
            <a:endParaRPr lang="zh-CN" dirty="0"/>
          </a:p>
          <a:p>
            <a:r>
              <a:rPr lang="zh-CN" dirty="0"/>
              <a:t>The generated deck is described as a design draft, not a finished masterpiece. The workflow aims to remove most of the blank-page labor, but the user is still expected to review, refine, and finish the final mile. That honesty is one of the strongest parts of the documentation because it sets the right quality expectations upfront.</a:t>
            </a:r>
          </a:p>
          <a:p>
            <a:endParaRPr lang="zh-CN" dirty="0"/>
          </a:p>
          <a:p>
            <a:r>
              <a:rPr lang="zh-CN" dirty="0"/>
              <a:t>Key points: (1) AI is the designer, not the finisher (2) Human judgment stays central (3) The product is honest about its limits</a:t>
            </a:r>
          </a:p>
          <a:p>
            <a:r>
              <a:rPr lang="zh-CN" dirty="0"/>
              <a:t>Duration: 1 minute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FAQ then translates those high-level ideas into the practical questions users actually ask.</a:t>
            </a:r>
          </a:p>
          <a:p>
            <a:endParaRPr lang="zh-CN" dirty="0"/>
          </a:p>
          <a:p>
            <a:r>
              <a:rPr lang="zh-CN" dirty="0"/>
              <a:t>The first cluster is basic operating scope: what formats can be read, what formats can be exported, what happens to charts, and whether the output is really editable. The answers are broad on input, explicit on output, and careful about chart limitations. The FAQ reads like a boundary-setting document as much as a help page.</a:t>
            </a:r>
          </a:p>
          <a:p>
            <a:endParaRPr lang="zh-CN" dirty="0"/>
          </a:p>
          <a:p>
            <a:r>
              <a:rPr lang="zh-CN" dirty="0"/>
              <a:t>Key points: (1) Input coverage is broad (2) Export behavior is explicit (3) Charts are visual shapes, not spreadsheet objects</a:t>
            </a:r>
          </a:p>
          <a:p>
            <a:r>
              <a:rPr lang="zh-CN" dirty="0"/>
              <a:t>Duration: 1 minute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next FAQ cluster is about quality, model choice, and what happens when a slide is not quite right.</a:t>
            </a:r>
          </a:p>
          <a:p>
            <a:endParaRPr lang="zh-CN" dirty="0"/>
          </a:p>
          <a:p>
            <a:r>
              <a:rPr lang="zh-CN" dirty="0"/>
              <a:t>The docs strongly favor Claude for layout-heavy generation, while admitting that other models may produce more overflow and coordinate errors. They also normalize an iterative review loop: inspect a page, describe the defect, regenerate or fix that page, and then polish inside PowerPoint. In other words, quality comes from model choice plus editorial process.</a:t>
            </a:r>
          </a:p>
          <a:p>
            <a:endParaRPr lang="zh-CN" dirty="0"/>
          </a:p>
          <a:p>
            <a:r>
              <a:rPr lang="zh-CN" dirty="0"/>
              <a:t>Key points: (1) Model quality matters (2) Review and repair are expected (3) The output is a strong starting point, not an automatic final answer</a:t>
            </a:r>
          </a:p>
          <a:p>
            <a:r>
              <a:rPr lang="zh-CN" dirty="0"/>
              <a:t>Duration: 1 minute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expectations are clear, the setup guide shows the shortest path to getting the workflow running on Windows.</a:t>
            </a:r>
          </a:p>
          <a:p>
            <a:endParaRPr lang="zh-CN" dirty="0"/>
          </a:p>
          <a:p>
            <a:r>
              <a:rPr lang="zh-CN" dirty="0"/>
              <a:t>The logic is simple: install Python correctly, get the project onto the machine, install dependencies, and verify the runtime before trying a larger deck. The repeated emphasis on PATH is not accidental. The guide treats environment correctness as the main gating factor for success.</a:t>
            </a:r>
          </a:p>
          <a:p>
            <a:endParaRPr lang="zh-CN" dirty="0"/>
          </a:p>
          <a:p>
            <a:r>
              <a:rPr lang="zh-CN" dirty="0"/>
              <a:t>Key points: (1) Python plus PATH is the first checkpoint (2) Dependencies and imports come next (3) A tiny sample deck proves the chain works</a:t>
            </a:r>
          </a:p>
          <a:p>
            <a:r>
              <a:rPr lang="zh-CN" dirty="0"/>
              <a:t>Duration: 1 minute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troubleshooting section reinforces the same lesson from a different angle.</a:t>
            </a:r>
          </a:p>
          <a:p>
            <a:endParaRPr lang="zh-CN" dirty="0"/>
          </a:p>
          <a:p>
            <a:r>
              <a:rPr lang="zh-CN" dirty="0"/>
              <a:t>Most failures are not presentation-design problems yet. They are environment problems: the wrong interpreter, the wrong pip target, blocked scripts, or missing modules. The right debugging order is to stabilize the machine first, then test imports, then run a minimal example, and only after that start debugging slide generation itself.</a:t>
            </a:r>
          </a:p>
          <a:p>
            <a:endParaRPr lang="zh-CN" dirty="0"/>
          </a:p>
          <a:p>
            <a:r>
              <a:rPr lang="zh-CN" dirty="0"/>
              <a:t>Key points: (1) Fix the environment before the slides (2) Use a structured debugging sequence (3) Edge-case tools are optional fallbacks</a:t>
            </a:r>
          </a:p>
          <a:p>
            <a:r>
              <a:rPr lang="zh-CN" dirty="0"/>
              <a:t>Duration: 1 minute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brings us to the cleanest possible closing statement about who this workflow is for.</a:t>
            </a:r>
          </a:p>
          <a:p>
            <a:endParaRPr lang="zh-CN" dirty="0"/>
          </a:p>
          <a:p>
            <a:r>
              <a:rPr lang="zh-CN" dirty="0"/>
              <a:t>PPT Master is not the easiest or fastest slide tool. It is the tool for users who care more about editable, controllable output than instant browser convenience. If the audience values native PowerPoint behavior, local execution, predictable cost, and an open workflow, the docs argue that this is the right trade to make.</a:t>
            </a:r>
          </a:p>
          <a:p>
            <a:endParaRPr lang="zh-CN" dirty="0"/>
          </a:p>
          <a:p>
            <a:r>
              <a:rPr lang="zh-CN" dirty="0"/>
              <a:t>Key points: (1) Best for serious editable-output use cases (2) Not ideal for zero-setup browser workflows (3) The product is optimized for control, not ease alone</a:t>
            </a:r>
          </a:p>
          <a:p>
            <a:r>
              <a:rPr lang="zh-CN" dirty="0"/>
              <a:t>Duration: 1 minute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FFFFF"/>
          </a:solidFill>
          <a:ln>
            <a:noFill/>
          </a:ln>
        </p:spPr>
      </p:sp>
      <p:sp>
        <p:nvSpPr>
          <p:cNvPr id="4" name="Rectangle 4"/>
          <p:cNvSpPr/>
          <p:nvPr/>
        </p:nvSpPr>
        <p:spPr>
          <a:xfrm>
            <a:off x="0" y="0"/>
            <a:ext cx="12192000" cy="38100"/>
          </a:xfrm>
          <a:prstGeom prst="rect">
            <a:avLst/>
          </a:prstGeom>
          <a:solidFill>
            <a:srgbClr val="005587"/>
          </a:solidFill>
          <a:ln>
            <a:noFill/>
          </a:ln>
        </p:spPr>
      </p:sp>
      <p:sp>
        <p:nvSpPr>
          <p:cNvPr id="5" name="Rectangle 5"/>
          <p:cNvSpPr/>
          <p:nvPr/>
        </p:nvSpPr>
        <p:spPr>
          <a:xfrm>
            <a:off x="419100" y="533400"/>
            <a:ext cx="76200" cy="5619750"/>
          </a:xfrm>
          <a:prstGeom prst="rect">
            <a:avLst/>
          </a:prstGeom>
          <a:solidFill>
            <a:srgbClr val="005587"/>
          </a:solidFill>
          <a:ln>
            <a:noFill/>
          </a:ln>
        </p:spPr>
      </p:sp>
      <p:sp>
        <p:nvSpPr>
          <p:cNvPr id="6" name="Ellipse 6"/>
          <p:cNvSpPr/>
          <p:nvPr/>
        </p:nvSpPr>
        <p:spPr>
          <a:xfrm>
            <a:off x="8858250" y="-742950"/>
            <a:ext cx="3238500" cy="3238500"/>
          </a:xfrm>
          <a:prstGeom prst="ellipse">
            <a:avLst/>
          </a:prstGeom>
          <a:solidFill>
            <a:srgbClr val="005587">
              <a:alpha val="6000"/>
            </a:srgbClr>
          </a:solidFill>
          <a:ln>
            <a:noFill/>
          </a:ln>
        </p:spPr>
      </p:sp>
      <p:sp>
        <p:nvSpPr>
          <p:cNvPr id="7" name="Ellipse 7"/>
          <p:cNvSpPr/>
          <p:nvPr/>
        </p:nvSpPr>
        <p:spPr>
          <a:xfrm>
            <a:off x="7905750" y="3905250"/>
            <a:ext cx="4000500" cy="4000500"/>
          </a:xfrm>
          <a:prstGeom prst="ellipse">
            <a:avLst/>
          </a:prstGeom>
          <a:solidFill>
            <a:srgbClr val="F5A623">
              <a:alpha val="5000"/>
            </a:srgbClr>
          </a:solidFill>
          <a:ln>
            <a:noFill/>
          </a:ln>
        </p:spPr>
      </p:sp>
      <p:sp>
        <p:nvSpPr>
          <p:cNvPr id="8" name="Ellipse 8"/>
          <p:cNvSpPr/>
          <p:nvPr/>
        </p:nvSpPr>
        <p:spPr>
          <a:xfrm>
            <a:off x="666750" y="209550"/>
            <a:ext cx="2095500" cy="2095500"/>
          </a:xfrm>
          <a:prstGeom prst="ellipse">
            <a:avLst/>
          </a:prstGeom>
          <a:solidFill>
            <a:srgbClr val="0076A8">
              <a:alpha val="7000"/>
            </a:srgbClr>
          </a:solidFill>
          <a:ln>
            <a:noFill/>
          </a:ln>
        </p:spPr>
      </p:sp>
      <p:grpSp>
        <p:nvGrpSpPr>
          <p:cNvPr id="11" name="Group 11"/>
          <p:cNvGrpSpPr/>
          <p:nvPr/>
        </p:nvGrpSpPr>
        <p:grpSpPr>
          <a:xfrm>
            <a:off x="609600" y="533400"/>
            <a:ext cx="876300" cy="228600"/>
            <a:chOff x="609600" y="533400"/>
            <a:chExt cx="876300" cy="228600"/>
          </a:xfrm>
        </p:grpSpPr>
        <p:sp>
          <p:nvSpPr>
            <p:cNvPr id="9" name="Freeform 9"/>
            <p:cNvSpPr/>
            <p:nvPr/>
          </p:nvSpPr>
          <p:spPr>
            <a:xfrm>
              <a:off x="609600" y="533400"/>
              <a:ext cx="552450" cy="76200"/>
            </a:xfrm>
            <a:custGeom>
              <a:avLst/>
              <a:gdLst/>
              <a:ahLst/>
              <a:cxnLst/>
              <a:rect l="l" t="t" r="r" b="b"/>
              <a:pathLst>
                <a:path w="552450" h="76200">
                  <a:moveTo>
                    <a:pt x="38100" y="0"/>
                  </a:moveTo>
                  <a:lnTo>
                    <a:pt x="514350" y="0"/>
                  </a:lnTo>
                  <a:cubicBezTo>
                    <a:pt x="535392" y="0"/>
                    <a:pt x="552450" y="17058"/>
                    <a:pt x="552450" y="38100"/>
                  </a:cubicBezTo>
                  <a:lnTo>
                    <a:pt x="552450" y="38100"/>
                  </a:lnTo>
                  <a:cubicBezTo>
                    <a:pt x="552450" y="59142"/>
                    <a:pt x="535392" y="76200"/>
                    <a:pt x="514350" y="76200"/>
                  </a:cubicBezTo>
                  <a:lnTo>
                    <a:pt x="38100" y="76200"/>
                  </a:lnTo>
                  <a:cubicBezTo>
                    <a:pt x="17058" y="76200"/>
                    <a:pt x="0" y="59142"/>
                    <a:pt x="0" y="38100"/>
                  </a:cubicBezTo>
                  <a:lnTo>
                    <a:pt x="0" y="38100"/>
                  </a:lnTo>
                  <a:cubicBezTo>
                    <a:pt x="0" y="17058"/>
                    <a:pt x="17058" y="0"/>
                    <a:pt x="38100" y="0"/>
                  </a:cubicBezTo>
                  <a:close/>
                </a:path>
              </a:pathLst>
            </a:custGeom>
            <a:solidFill>
              <a:srgbClr val="005587"/>
            </a:solidFill>
            <a:ln>
              <a:noFill/>
            </a:ln>
          </p:spPr>
        </p:sp>
        <p:sp>
          <p:nvSpPr>
            <p:cNvPr id="10" name="Freeform 10"/>
            <p:cNvSpPr/>
            <p:nvPr/>
          </p:nvSpPr>
          <p:spPr>
            <a:xfrm>
              <a:off x="609600" y="685800"/>
              <a:ext cx="876300" cy="76200"/>
            </a:xfrm>
            <a:custGeom>
              <a:avLst/>
              <a:gdLst/>
              <a:ahLst/>
              <a:cxnLst/>
              <a:rect l="l" t="t" r="r" b="b"/>
              <a:pathLst>
                <a:path w="876300" h="76200">
                  <a:moveTo>
                    <a:pt x="38100" y="0"/>
                  </a:moveTo>
                  <a:lnTo>
                    <a:pt x="838200" y="0"/>
                  </a:lnTo>
                  <a:cubicBezTo>
                    <a:pt x="859242" y="0"/>
                    <a:pt x="876300" y="17058"/>
                    <a:pt x="876300" y="38100"/>
                  </a:cubicBezTo>
                  <a:lnTo>
                    <a:pt x="876300" y="38100"/>
                  </a:lnTo>
                  <a:cubicBezTo>
                    <a:pt x="876300" y="59142"/>
                    <a:pt x="859242" y="76200"/>
                    <a:pt x="838200" y="76200"/>
                  </a:cubicBezTo>
                  <a:lnTo>
                    <a:pt x="38100" y="76200"/>
                  </a:lnTo>
                  <a:cubicBezTo>
                    <a:pt x="17058" y="76200"/>
                    <a:pt x="0" y="59142"/>
                    <a:pt x="0" y="38100"/>
                  </a:cubicBezTo>
                  <a:lnTo>
                    <a:pt x="0" y="38100"/>
                  </a:lnTo>
                  <a:cubicBezTo>
                    <a:pt x="0" y="17058"/>
                    <a:pt x="17058" y="0"/>
                    <a:pt x="38100" y="0"/>
                  </a:cubicBezTo>
                  <a:close/>
                </a:path>
              </a:pathLst>
            </a:custGeom>
            <a:solidFill>
              <a:srgbClr val="0076A8"/>
            </a:solidFill>
            <a:ln>
              <a:noFill/>
            </a:ln>
          </p:spPr>
        </p:sp>
      </p:grpSp>
      <p:grpSp>
        <p:nvGrpSpPr>
          <p:cNvPr id="16" name="Group 16"/>
          <p:cNvGrpSpPr/>
          <p:nvPr/>
        </p:nvGrpSpPr>
        <p:grpSpPr>
          <a:xfrm>
            <a:off x="737235" y="1908810"/>
            <a:ext cx="7629049" cy="2177415"/>
            <a:chOff x="737235" y="1908810"/>
            <a:chExt cx="7629049" cy="2177415"/>
          </a:xfrm>
        </p:grpSpPr>
        <p:sp>
          <p:nvSpPr>
            <p:cNvPr id="12" name="TextBox 12"/>
            <p:cNvSpPr txBox="1"/>
            <p:nvPr/>
          </p:nvSpPr>
          <p:spPr>
            <a:xfrm>
              <a:off x="784860" y="1908810"/>
              <a:ext cx="2330768" cy="243840"/>
            </a:xfrm>
            <a:prstGeom prst="rect">
              <a:avLst/>
            </a:prstGeom>
            <a:noFill/>
            <a:ln>
              <a:noFill/>
            </a:ln>
          </p:spPr>
          <p:txBody>
            <a:bodyPr wrap="none" lIns="0" tIns="0" rIns="0" bIns="0" anchor="t" anchorCtr="0">
              <a:spAutoFit/>
            </a:bodyPr>
            <a:lstStyle/>
            <a:p>
              <a:pPr algn="l"/>
              <a:r>
                <a:rPr lang="zh-CN" sz="1200" b="1" dirty="0">
                  <a:solidFill>
                    <a:srgbClr val="005587"/>
                  </a:solidFill>
                  <a:latin typeface="Arial"/>
                  <a:ea typeface="Microsoft YaHei"/>
                  <a:cs typeface="Arial"/>
                </a:rPr>
                <a:t>DOCUMENTATION SYNTHESIS</a:t>
              </a:r>
            </a:p>
          </p:txBody>
        </p:sp>
        <p:sp>
          <p:nvSpPr>
            <p:cNvPr id="13" name="TextBox 13"/>
            <p:cNvSpPr txBox="1"/>
            <p:nvPr/>
          </p:nvSpPr>
          <p:spPr>
            <a:xfrm>
              <a:off x="737235" y="2342198"/>
              <a:ext cx="4262797" cy="1005840"/>
            </a:xfrm>
            <a:prstGeom prst="rect">
              <a:avLst/>
            </a:prstGeom>
            <a:noFill/>
            <a:ln>
              <a:noFill/>
            </a:ln>
          </p:spPr>
          <p:txBody>
            <a:bodyPr wrap="none" lIns="0" tIns="0" rIns="0" bIns="0" anchor="t" anchorCtr="0">
              <a:spAutoFit/>
            </a:bodyPr>
            <a:lstStyle/>
            <a:p>
              <a:pPr algn="l"/>
              <a:r>
                <a:rPr lang="zh-CN" sz="4950" b="1" dirty="0">
                  <a:solidFill>
                    <a:srgbClr val="005587"/>
                  </a:solidFill>
                  <a:latin typeface="Arial"/>
                  <a:ea typeface="Microsoft YaHei"/>
                  <a:cs typeface="Arial"/>
                </a:rPr>
                <a:t>PPT Master</a:t>
              </a:r>
            </a:p>
          </p:txBody>
        </p:sp>
        <p:sp>
          <p:nvSpPr>
            <p:cNvPr id="14" name="TextBox 14"/>
            <p:cNvSpPr txBox="1"/>
            <p:nvPr/>
          </p:nvSpPr>
          <p:spPr>
            <a:xfrm>
              <a:off x="773430" y="3278505"/>
              <a:ext cx="6961103" cy="426720"/>
            </a:xfrm>
            <a:prstGeom prst="rect">
              <a:avLst/>
            </a:prstGeom>
            <a:noFill/>
            <a:ln>
              <a:noFill/>
            </a:ln>
          </p:spPr>
          <p:txBody>
            <a:bodyPr wrap="none" lIns="0" tIns="0" rIns="0" bIns="0" anchor="t" anchorCtr="0">
              <a:spAutoFit/>
            </a:bodyPr>
            <a:lstStyle/>
            <a:p>
              <a:pPr algn="l"/>
              <a:r>
                <a:rPr lang="zh-CN" sz="2100" b="1" dirty="0">
                  <a:solidFill>
                    <a:srgbClr val="2C3E50"/>
                  </a:solidFill>
                  <a:latin typeface="Arial"/>
                  <a:ea typeface="Microsoft YaHei"/>
                  <a:cs typeface="Arial"/>
                </a:rPr>
                <a:t>Product, Architecture, and Setup Overview</a:t>
              </a:r>
            </a:p>
          </p:txBody>
        </p:sp>
        <p:sp>
          <p:nvSpPr>
            <p:cNvPr id="15" name="TextBox 15"/>
            <p:cNvSpPr txBox="1"/>
            <p:nvPr/>
          </p:nvSpPr>
          <p:spPr>
            <a:xfrm>
              <a:off x="781050" y="3781425"/>
              <a:ext cx="7585234" cy="304800"/>
            </a:xfrm>
            <a:prstGeom prst="rect">
              <a:avLst/>
            </a:prstGeom>
            <a:noFill/>
            <a:ln>
              <a:noFill/>
            </a:ln>
          </p:spPr>
          <p:txBody>
            <a:bodyPr wrap="none" lIns="0" tIns="0" rIns="0" bIns="0" anchor="t" anchorCtr="0">
              <a:spAutoFit/>
            </a:bodyPr>
            <a:lstStyle/>
            <a:p>
              <a:pPr algn="l"/>
              <a:r>
                <a:rPr lang="zh-CN" sz="1500" dirty="0">
                  <a:solidFill>
                    <a:srgbClr val="5D6D7E"/>
                  </a:solidFill>
                  <a:latin typeface="Arial"/>
                  <a:ea typeface="Microsoft YaHei"/>
                  <a:cs typeface="Arial"/>
                </a:rPr>
                <a:t>A compact deck distilled from the project docs into a single narrative.</a:t>
              </a:r>
            </a:p>
          </p:txBody>
        </p:sp>
      </p:grpSp>
      <p:grpSp>
        <p:nvGrpSpPr>
          <p:cNvPr id="35" name="Group 35"/>
          <p:cNvGrpSpPr/>
          <p:nvPr/>
        </p:nvGrpSpPr>
        <p:grpSpPr>
          <a:xfrm>
            <a:off x="7048500" y="1181100"/>
            <a:ext cx="7223045" cy="4476750"/>
            <a:chOff x="7048500" y="1181100"/>
            <a:chExt cx="7223045" cy="4476750"/>
          </a:xfrm>
          <a:effectLst>
            <a:outerShdw blurRad="152400" dist="38100" dir="10799140" algn="tl" rotWithShape="0">
              <a:srgbClr val="0F172A">
                <a:alpha val="12000"/>
              </a:srgbClr>
            </a:outerShdw>
          </a:effectLst>
        </p:grpSpPr>
        <p:sp>
          <p:nvSpPr>
            <p:cNvPr id="17" name="Freeform 17"/>
            <p:cNvSpPr/>
            <p:nvPr/>
          </p:nvSpPr>
          <p:spPr>
            <a:xfrm>
              <a:off x="7048500" y="1181100"/>
              <a:ext cx="4400550" cy="4476750"/>
            </a:xfrm>
            <a:custGeom>
              <a:avLst/>
              <a:gdLst/>
              <a:ahLst/>
              <a:cxnLst/>
              <a:rect l="l" t="t" r="r" b="b"/>
              <a:pathLst>
                <a:path w="4400550" h="4476750">
                  <a:moveTo>
                    <a:pt x="266700" y="0"/>
                  </a:moveTo>
                  <a:lnTo>
                    <a:pt x="4133850" y="0"/>
                  </a:lnTo>
                  <a:cubicBezTo>
                    <a:pt x="4281144" y="0"/>
                    <a:pt x="4400550" y="119406"/>
                    <a:pt x="4400550" y="266700"/>
                  </a:cubicBezTo>
                  <a:lnTo>
                    <a:pt x="4400550" y="4210050"/>
                  </a:lnTo>
                  <a:cubicBezTo>
                    <a:pt x="4400550" y="4357344"/>
                    <a:pt x="4281144" y="4476750"/>
                    <a:pt x="4133850" y="4476750"/>
                  </a:cubicBezTo>
                  <a:lnTo>
                    <a:pt x="266700" y="4476750"/>
                  </a:lnTo>
                  <a:cubicBezTo>
                    <a:pt x="119406" y="4476750"/>
                    <a:pt x="0" y="4357344"/>
                    <a:pt x="0" y="4210050"/>
                  </a:cubicBezTo>
                  <a:lnTo>
                    <a:pt x="0" y="266700"/>
                  </a:lnTo>
                  <a:cubicBezTo>
                    <a:pt x="0" y="119406"/>
                    <a:pt x="119406" y="0"/>
                    <a:pt x="266700" y="0"/>
                  </a:cubicBezTo>
                  <a:close/>
                </a:path>
              </a:pathLst>
            </a:custGeom>
            <a:solidFill>
              <a:srgbClr val="ECF0F1"/>
            </a:solidFill>
            <a:ln>
              <a:noFill/>
            </a:ln>
            <a:effectLst>
              <a:outerShdw blurRad="152400" dist="38100" dir="10799140" algn="tl" rotWithShape="0">
                <a:srgbClr val="0F172A">
                  <a:alpha val="12000"/>
                </a:srgbClr>
              </a:outerShdw>
            </a:effectLst>
          </p:spPr>
        </p:sp>
        <p:sp>
          <p:nvSpPr>
            <p:cNvPr id="18" name="Freeform 18"/>
            <p:cNvSpPr/>
            <p:nvPr/>
          </p:nvSpPr>
          <p:spPr>
            <a:xfrm>
              <a:off x="7048500" y="1181100"/>
              <a:ext cx="4400550" cy="4476750"/>
            </a:xfrm>
            <a:custGeom>
              <a:avLst/>
              <a:gdLst/>
              <a:ahLst/>
              <a:cxnLst/>
              <a:rect l="l" t="t" r="r" b="b"/>
              <a:pathLst>
                <a:path w="4400550" h="4476750">
                  <a:moveTo>
                    <a:pt x="266700" y="0"/>
                  </a:moveTo>
                  <a:lnTo>
                    <a:pt x="4133850" y="0"/>
                  </a:lnTo>
                  <a:cubicBezTo>
                    <a:pt x="4281144" y="0"/>
                    <a:pt x="4400550" y="119406"/>
                    <a:pt x="4400550" y="266700"/>
                  </a:cubicBezTo>
                  <a:lnTo>
                    <a:pt x="4400550" y="4210050"/>
                  </a:lnTo>
                  <a:cubicBezTo>
                    <a:pt x="4400550" y="4357344"/>
                    <a:pt x="4281144" y="4476750"/>
                    <a:pt x="4133850" y="4476750"/>
                  </a:cubicBezTo>
                  <a:lnTo>
                    <a:pt x="266700" y="4476750"/>
                  </a:lnTo>
                  <a:cubicBezTo>
                    <a:pt x="119406" y="4476750"/>
                    <a:pt x="0" y="4357344"/>
                    <a:pt x="0" y="4210050"/>
                  </a:cubicBezTo>
                  <a:lnTo>
                    <a:pt x="0" y="266700"/>
                  </a:lnTo>
                  <a:cubicBezTo>
                    <a:pt x="0" y="119406"/>
                    <a:pt x="119406" y="0"/>
                    <a:pt x="266700" y="0"/>
                  </a:cubicBezTo>
                  <a:close/>
                </a:path>
              </a:pathLst>
            </a:custGeom>
            <a:solidFill>
              <a:srgbClr val="005587">
                <a:alpha val="3000"/>
              </a:srgbClr>
            </a:solidFill>
            <a:ln>
              <a:noFill/>
            </a:ln>
            <a:effectLst>
              <a:outerShdw blurRad="152400" dist="38100" dir="10799140" algn="tl" rotWithShape="0">
                <a:srgbClr val="0F172A">
                  <a:alpha val="12000"/>
                </a:srgbClr>
              </a:outerShdw>
            </a:effectLst>
          </p:spPr>
        </p:sp>
        <p:grpSp>
          <p:nvGrpSpPr>
            <p:cNvPr id="21" name="Group 21"/>
            <p:cNvGrpSpPr/>
            <p:nvPr/>
          </p:nvGrpSpPr>
          <p:grpSpPr>
            <a:xfrm>
              <a:off x="7448550" y="1581150"/>
              <a:ext cx="381000" cy="381000"/>
              <a:chOff x="7448550" y="1581150"/>
              <a:chExt cx="381000" cy="381000"/>
            </a:xfrm>
          </p:grpSpPr>
          <p:sp>
            <p:nvSpPr>
              <p:cNvPr id="19" name="Freeform 19"/>
              <p:cNvSpPr/>
              <p:nvPr/>
            </p:nvSpPr>
            <p:spPr>
              <a:xfrm>
                <a:off x="7448550" y="1581150"/>
                <a:ext cx="381000" cy="381000"/>
              </a:xfrm>
              <a:custGeom>
                <a:avLst/>
                <a:gdLst/>
                <a:ahLst/>
                <a:cxnLst/>
                <a:rect l="l" t="t" r="r" b="b"/>
                <a:pathLst>
                  <a:path w="381000" h="381000">
                    <a:moveTo>
                      <a:pt x="238125" y="381000"/>
                    </a:moveTo>
                    <a:lnTo>
                      <a:pt x="285750" y="333375"/>
                    </a:lnTo>
                    <a:lnTo>
                      <a:pt x="285750" y="238125"/>
                    </a:lnTo>
                    <a:lnTo>
                      <a:pt x="325205" y="198671"/>
                    </a:lnTo>
                    <a:cubicBezTo>
                      <a:pt x="360928" y="162945"/>
                      <a:pt x="381000" y="114491"/>
                      <a:pt x="381000" y="63967"/>
                    </a:cubicBezTo>
                    <a:lnTo>
                      <a:pt x="381000" y="0"/>
                    </a:lnTo>
                    <a:lnTo>
                      <a:pt x="317032" y="0"/>
                    </a:lnTo>
                    <a:cubicBezTo>
                      <a:pt x="266510" y="0"/>
                      <a:pt x="218054" y="20070"/>
                      <a:pt x="182329" y="55796"/>
                    </a:cubicBezTo>
                    <a:lnTo>
                      <a:pt x="142875" y="95250"/>
                    </a:lnTo>
                    <a:lnTo>
                      <a:pt x="47625" y="95250"/>
                    </a:lnTo>
                    <a:lnTo>
                      <a:pt x="0" y="142875"/>
                    </a:lnTo>
                    <a:lnTo>
                      <a:pt x="238125" y="381000"/>
                    </a:lnTo>
                    <a:close/>
                    <a:moveTo>
                      <a:pt x="250031" y="166688"/>
                    </a:moveTo>
                    <a:cubicBezTo>
                      <a:pt x="269758" y="166688"/>
                      <a:pt x="285750" y="150696"/>
                      <a:pt x="285750" y="130969"/>
                    </a:cubicBezTo>
                    <a:cubicBezTo>
                      <a:pt x="285750" y="111242"/>
                      <a:pt x="269758" y="95250"/>
                      <a:pt x="250031" y="95250"/>
                    </a:cubicBezTo>
                    <a:cubicBezTo>
                      <a:pt x="230304" y="95250"/>
                      <a:pt x="214312" y="111242"/>
                      <a:pt x="214312" y="130969"/>
                    </a:cubicBezTo>
                    <a:cubicBezTo>
                      <a:pt x="214312" y="150696"/>
                      <a:pt x="230304" y="166688"/>
                      <a:pt x="250031" y="166688"/>
                    </a:cubicBezTo>
                    <a:close/>
                  </a:path>
                </a:pathLst>
              </a:custGeom>
              <a:solidFill>
                <a:srgbClr val="005587"/>
              </a:solidFill>
              <a:ln>
                <a:noFill/>
              </a:ln>
              <a:effectLst>
                <a:outerShdw blurRad="152400" dist="38100" dir="10799140" algn="tl" rotWithShape="0">
                  <a:srgbClr val="0F172A">
                    <a:alpha val="12000"/>
                  </a:srgbClr>
                </a:outerShdw>
              </a:effectLst>
            </p:spPr>
          </p:sp>
          <p:sp>
            <p:nvSpPr>
              <p:cNvPr id="20" name="Freeform 20"/>
              <p:cNvSpPr/>
              <p:nvPr/>
            </p:nvSpPr>
            <p:spPr>
              <a:xfrm>
                <a:off x="7448550" y="1844816"/>
                <a:ext cx="117334" cy="117334"/>
              </a:xfrm>
              <a:custGeom>
                <a:avLst/>
                <a:gdLst/>
                <a:ahLst/>
                <a:cxnLst/>
                <a:rect l="l" t="t" r="r" b="b"/>
                <a:pathLst>
                  <a:path w="117334" h="117334">
                    <a:moveTo>
                      <a:pt x="117334" y="63894"/>
                    </a:moveTo>
                    <a:lnTo>
                      <a:pt x="53441" y="0"/>
                    </a:lnTo>
                    <a:lnTo>
                      <a:pt x="0" y="93521"/>
                    </a:lnTo>
                    <a:lnTo>
                      <a:pt x="23812" y="117334"/>
                    </a:lnTo>
                    <a:lnTo>
                      <a:pt x="117334" y="63894"/>
                    </a:lnTo>
                    <a:close/>
                  </a:path>
                </a:pathLst>
              </a:custGeom>
              <a:solidFill>
                <a:srgbClr val="005587"/>
              </a:solidFill>
              <a:ln>
                <a:noFill/>
              </a:ln>
              <a:effectLst>
                <a:outerShdw blurRad="152400" dist="38100" dir="10799140" algn="tl" rotWithShape="0">
                  <a:srgbClr val="0F172A">
                    <a:alpha val="12000"/>
                  </a:srgbClr>
                </a:outerShdw>
              </a:effectLst>
            </p:spPr>
          </p:sp>
        </p:grpSp>
        <p:sp>
          <p:nvSpPr>
            <p:cNvPr id="22" name="TextBox 22"/>
            <p:cNvSpPr txBox="1"/>
            <p:nvPr/>
          </p:nvSpPr>
          <p:spPr>
            <a:xfrm>
              <a:off x="7995285" y="1637348"/>
              <a:ext cx="3264182" cy="39624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950" b="1" dirty="0">
                  <a:solidFill>
                    <a:srgbClr val="2C3E50"/>
                  </a:solidFill>
                  <a:latin typeface="Arial"/>
                  <a:ea typeface="Microsoft YaHei"/>
                  <a:cs typeface="Arial"/>
                </a:rPr>
                <a:t>What this deck covers</a:t>
              </a:r>
            </a:p>
          </p:txBody>
        </p:sp>
        <p:grpSp>
          <p:nvGrpSpPr>
            <p:cNvPr id="26" name="Group 26"/>
            <p:cNvGrpSpPr/>
            <p:nvPr/>
          </p:nvGrpSpPr>
          <p:grpSpPr>
            <a:xfrm>
              <a:off x="7448550" y="2190750"/>
              <a:ext cx="5746789" cy="838200"/>
              <a:chOff x="7448550" y="2190750"/>
              <a:chExt cx="5746789" cy="838200"/>
            </a:xfrm>
          </p:grpSpPr>
          <p:sp>
            <p:nvSpPr>
              <p:cNvPr id="23" name="Freeform 23"/>
              <p:cNvSpPr/>
              <p:nvPr/>
            </p:nvSpPr>
            <p:spPr>
              <a:xfrm>
                <a:off x="7448550" y="21907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ECF0F1"/>
              </a:solidFill>
              <a:ln>
                <a:noFill/>
              </a:ln>
              <a:effectLst>
                <a:outerShdw blurRad="152400" dist="38100" dir="10799140" algn="tl" rotWithShape="0">
                  <a:srgbClr val="0F172A">
                    <a:alpha val="12000"/>
                  </a:srgbClr>
                </a:outerShdw>
              </a:effectLst>
            </p:spPr>
          </p:sp>
          <p:sp>
            <p:nvSpPr>
              <p:cNvPr id="24" name="TextBox 24"/>
              <p:cNvSpPr txBox="1"/>
              <p:nvPr/>
            </p:nvSpPr>
            <p:spPr>
              <a:xfrm>
                <a:off x="7717155" y="2368868"/>
                <a:ext cx="1938928"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005587"/>
                    </a:solidFill>
                    <a:latin typeface="Arial"/>
                    <a:ea typeface="Microsoft YaHei"/>
                    <a:cs typeface="Arial"/>
                  </a:rPr>
                  <a:t>01 Product position</a:t>
                </a:r>
              </a:p>
            </p:txBody>
          </p:sp>
          <p:sp>
            <p:nvSpPr>
              <p:cNvPr id="25" name="TextBox 25"/>
              <p:cNvSpPr txBox="1"/>
              <p:nvPr/>
            </p:nvSpPr>
            <p:spPr>
              <a:xfrm>
                <a:off x="7720012" y="2659856"/>
                <a:ext cx="5475327"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Why PPT Master exists and how it differs from other AI slide paths.</a:t>
                </a:r>
              </a:p>
            </p:txBody>
          </p:sp>
        </p:grpSp>
        <p:grpSp>
          <p:nvGrpSpPr>
            <p:cNvPr id="30" name="Group 30"/>
            <p:cNvGrpSpPr/>
            <p:nvPr/>
          </p:nvGrpSpPr>
          <p:grpSpPr>
            <a:xfrm>
              <a:off x="7448550" y="3219450"/>
              <a:ext cx="5878234" cy="838200"/>
              <a:chOff x="7448550" y="3219450"/>
              <a:chExt cx="5878234" cy="838200"/>
            </a:xfrm>
          </p:grpSpPr>
          <p:sp>
            <p:nvSpPr>
              <p:cNvPr id="27" name="Freeform 27"/>
              <p:cNvSpPr/>
              <p:nvPr/>
            </p:nvSpPr>
            <p:spPr>
              <a:xfrm>
                <a:off x="7448550" y="32194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ECF0F1"/>
              </a:solidFill>
              <a:ln>
                <a:noFill/>
              </a:ln>
              <a:effectLst>
                <a:outerShdw blurRad="152400" dist="38100" dir="10799140" algn="tl" rotWithShape="0">
                  <a:srgbClr val="0F172A">
                    <a:alpha val="12000"/>
                  </a:srgbClr>
                </a:outerShdw>
              </a:effectLst>
            </p:spPr>
          </p:sp>
          <p:sp>
            <p:nvSpPr>
              <p:cNvPr id="28" name="TextBox 28"/>
              <p:cNvSpPr txBox="1"/>
              <p:nvPr/>
            </p:nvSpPr>
            <p:spPr>
              <a:xfrm>
                <a:off x="7717155" y="3397568"/>
                <a:ext cx="1773307"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0076A8"/>
                    </a:solidFill>
                    <a:latin typeface="Arial"/>
                    <a:ea typeface="Microsoft YaHei"/>
                    <a:cs typeface="Arial"/>
                  </a:rPr>
                  <a:t>02 Technical logic</a:t>
                </a:r>
              </a:p>
            </p:txBody>
          </p:sp>
          <p:sp>
            <p:nvSpPr>
              <p:cNvPr id="29" name="TextBox 29"/>
              <p:cNvSpPr txBox="1"/>
              <p:nvPr/>
            </p:nvSpPr>
            <p:spPr>
              <a:xfrm>
                <a:off x="7720012" y="3688556"/>
                <a:ext cx="5606772"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Why SVG sits at the center of the system and how the pipeline works.</a:t>
                </a:r>
              </a:p>
            </p:txBody>
          </p:sp>
        </p:grpSp>
        <p:grpSp>
          <p:nvGrpSpPr>
            <p:cNvPr id="34" name="Group 34"/>
            <p:cNvGrpSpPr/>
            <p:nvPr/>
          </p:nvGrpSpPr>
          <p:grpSpPr>
            <a:xfrm>
              <a:off x="7448550" y="4248150"/>
              <a:ext cx="6822995" cy="838200"/>
              <a:chOff x="7448550" y="4248150"/>
              <a:chExt cx="6822995" cy="838200"/>
            </a:xfrm>
          </p:grpSpPr>
          <p:sp>
            <p:nvSpPr>
              <p:cNvPr id="31" name="Freeform 31"/>
              <p:cNvSpPr/>
              <p:nvPr/>
            </p:nvSpPr>
            <p:spPr>
              <a:xfrm>
                <a:off x="7448550" y="42481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ECF0F1"/>
              </a:solidFill>
              <a:ln>
                <a:noFill/>
              </a:ln>
              <a:effectLst>
                <a:outerShdw blurRad="152400" dist="38100" dir="10799140" algn="tl" rotWithShape="0">
                  <a:srgbClr val="0F172A">
                    <a:alpha val="12000"/>
                  </a:srgbClr>
                </a:outerShdw>
              </a:effectLst>
            </p:spPr>
          </p:sp>
          <p:sp>
            <p:nvSpPr>
              <p:cNvPr id="32" name="TextBox 32"/>
              <p:cNvSpPr txBox="1"/>
              <p:nvPr/>
            </p:nvSpPr>
            <p:spPr>
              <a:xfrm>
                <a:off x="7717155" y="4426268"/>
                <a:ext cx="1649092"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F5A623"/>
                    </a:solidFill>
                    <a:latin typeface="Arial"/>
                    <a:ea typeface="Microsoft YaHei"/>
                    <a:cs typeface="Arial"/>
                  </a:rPr>
                  <a:t>03 Setup and fit</a:t>
                </a:r>
              </a:p>
            </p:txBody>
          </p:sp>
          <p:sp>
            <p:nvSpPr>
              <p:cNvPr id="33" name="TextBox 33"/>
              <p:cNvSpPr txBox="1"/>
              <p:nvPr/>
            </p:nvSpPr>
            <p:spPr>
              <a:xfrm>
                <a:off x="7720012" y="4717256"/>
                <a:ext cx="6551533"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What users should expect, how to get running on Windows, and who should use it.</a:t>
                </a:r>
              </a:p>
            </p:txBody>
          </p:sp>
        </p:grpSp>
      </p:grpSp>
      <p:grpSp>
        <p:nvGrpSpPr>
          <p:cNvPr id="42" name="Group 42"/>
          <p:cNvGrpSpPr/>
          <p:nvPr/>
        </p:nvGrpSpPr>
        <p:grpSpPr>
          <a:xfrm>
            <a:off x="800100" y="4724400"/>
            <a:ext cx="5200650" cy="400050"/>
            <a:chOff x="800100" y="4724400"/>
            <a:chExt cx="5200650" cy="400050"/>
          </a:xfrm>
        </p:grpSpPr>
        <p:sp>
          <p:nvSpPr>
            <p:cNvPr id="36" name="Freeform 36"/>
            <p:cNvSpPr/>
            <p:nvPr/>
          </p:nvSpPr>
          <p:spPr>
            <a:xfrm>
              <a:off x="800100" y="4724400"/>
              <a:ext cx="1790700" cy="400050"/>
            </a:xfrm>
            <a:custGeom>
              <a:avLst/>
              <a:gdLst/>
              <a:ahLst/>
              <a:cxnLst/>
              <a:rect l="l" t="t" r="r" b="b"/>
              <a:pathLst>
                <a:path w="1790700" h="400050">
                  <a:moveTo>
                    <a:pt x="200025" y="0"/>
                  </a:moveTo>
                  <a:lnTo>
                    <a:pt x="1590675" y="0"/>
                  </a:lnTo>
                  <a:cubicBezTo>
                    <a:pt x="1701146" y="0"/>
                    <a:pt x="1790700" y="89554"/>
                    <a:pt x="1790700" y="200025"/>
                  </a:cubicBezTo>
                  <a:lnTo>
                    <a:pt x="1790700" y="200025"/>
                  </a:lnTo>
                  <a:cubicBezTo>
                    <a:pt x="1790700" y="310496"/>
                    <a:pt x="1701146" y="400050"/>
                    <a:pt x="1590675" y="400050"/>
                  </a:cubicBezTo>
                  <a:lnTo>
                    <a:pt x="200025" y="400050"/>
                  </a:lnTo>
                  <a:cubicBezTo>
                    <a:pt x="89554" y="400050"/>
                    <a:pt x="0" y="310496"/>
                    <a:pt x="0" y="200025"/>
                  </a:cubicBezTo>
                  <a:lnTo>
                    <a:pt x="0" y="200025"/>
                  </a:lnTo>
                  <a:cubicBezTo>
                    <a:pt x="0" y="89554"/>
                    <a:pt x="89554" y="0"/>
                    <a:pt x="200025" y="0"/>
                  </a:cubicBezTo>
                  <a:close/>
                </a:path>
              </a:pathLst>
            </a:custGeom>
            <a:solidFill>
              <a:srgbClr val="005587">
                <a:alpha val="10000"/>
              </a:srgbClr>
            </a:solidFill>
            <a:ln>
              <a:noFill/>
            </a:ln>
          </p:spPr>
        </p:sp>
        <p:sp>
          <p:nvSpPr>
            <p:cNvPr id="37" name="TextBox 37"/>
            <p:cNvSpPr txBox="1"/>
            <p:nvPr/>
          </p:nvSpPr>
          <p:spPr>
            <a:xfrm>
              <a:off x="1034207" y="4860131"/>
              <a:ext cx="1322487" cy="228600"/>
            </a:xfrm>
            <a:prstGeom prst="rect">
              <a:avLst/>
            </a:prstGeom>
            <a:noFill/>
            <a:ln>
              <a:noFill/>
            </a:ln>
          </p:spPr>
          <p:txBody>
            <a:bodyPr wrap="none" lIns="0" tIns="0" rIns="0" bIns="0" anchor="t" anchorCtr="0">
              <a:spAutoFit/>
            </a:bodyPr>
            <a:lstStyle/>
            <a:p>
              <a:pPr algn="ctr"/>
              <a:r>
                <a:rPr lang="zh-CN" sz="1125" b="1" dirty="0">
                  <a:solidFill>
                    <a:srgbClr val="005587"/>
                  </a:solidFill>
                  <a:latin typeface="Arial"/>
                  <a:ea typeface="Microsoft YaHei"/>
                  <a:cs typeface="Arial"/>
                </a:rPr>
                <a:t>Editable output</a:t>
              </a:r>
            </a:p>
          </p:txBody>
        </p:sp>
        <p:sp>
          <p:nvSpPr>
            <p:cNvPr id="38" name="Freeform 38"/>
            <p:cNvSpPr/>
            <p:nvPr/>
          </p:nvSpPr>
          <p:spPr>
            <a:xfrm>
              <a:off x="2724150" y="4724400"/>
              <a:ext cx="1581150" cy="400050"/>
            </a:xfrm>
            <a:custGeom>
              <a:avLst/>
              <a:gdLst/>
              <a:ahLst/>
              <a:cxnLst/>
              <a:rect l="l" t="t" r="r" b="b"/>
              <a:pathLst>
                <a:path w="1581150" h="400050">
                  <a:moveTo>
                    <a:pt x="200025" y="0"/>
                  </a:moveTo>
                  <a:lnTo>
                    <a:pt x="1381125" y="0"/>
                  </a:lnTo>
                  <a:cubicBezTo>
                    <a:pt x="1491596" y="0"/>
                    <a:pt x="1581150" y="89554"/>
                    <a:pt x="1581150" y="200025"/>
                  </a:cubicBezTo>
                  <a:lnTo>
                    <a:pt x="1581150" y="200025"/>
                  </a:lnTo>
                  <a:cubicBezTo>
                    <a:pt x="1581150" y="310496"/>
                    <a:pt x="1491596" y="400050"/>
                    <a:pt x="1381125" y="400050"/>
                  </a:cubicBezTo>
                  <a:lnTo>
                    <a:pt x="200025" y="400050"/>
                  </a:lnTo>
                  <a:cubicBezTo>
                    <a:pt x="89554" y="400050"/>
                    <a:pt x="0" y="310496"/>
                    <a:pt x="0" y="200025"/>
                  </a:cubicBezTo>
                  <a:lnTo>
                    <a:pt x="0" y="200025"/>
                  </a:lnTo>
                  <a:cubicBezTo>
                    <a:pt x="0" y="89554"/>
                    <a:pt x="89554" y="0"/>
                    <a:pt x="200025" y="0"/>
                  </a:cubicBezTo>
                  <a:close/>
                </a:path>
              </a:pathLst>
            </a:custGeom>
            <a:solidFill>
              <a:srgbClr val="0076A8">
                <a:alpha val="10000"/>
              </a:srgbClr>
            </a:solidFill>
            <a:ln>
              <a:noFill/>
            </a:ln>
          </p:spPr>
        </p:sp>
        <p:sp>
          <p:nvSpPr>
            <p:cNvPr id="39" name="TextBox 39"/>
            <p:cNvSpPr txBox="1"/>
            <p:nvPr/>
          </p:nvSpPr>
          <p:spPr>
            <a:xfrm>
              <a:off x="2866421" y="4860131"/>
              <a:ext cx="1296608" cy="228600"/>
            </a:xfrm>
            <a:prstGeom prst="rect">
              <a:avLst/>
            </a:prstGeom>
            <a:noFill/>
            <a:ln>
              <a:noFill/>
            </a:ln>
          </p:spPr>
          <p:txBody>
            <a:bodyPr wrap="none" lIns="0" tIns="0" rIns="0" bIns="0" anchor="t" anchorCtr="0">
              <a:spAutoFit/>
            </a:bodyPr>
            <a:lstStyle/>
            <a:p>
              <a:pPr algn="ctr"/>
              <a:r>
                <a:rPr lang="zh-CN" sz="1125" b="1" dirty="0">
                  <a:solidFill>
                    <a:srgbClr val="0076A8"/>
                  </a:solidFill>
                  <a:latin typeface="Arial"/>
                  <a:ea typeface="Microsoft YaHei"/>
                  <a:cs typeface="Arial"/>
                </a:rPr>
                <a:t>Local workflow</a:t>
              </a:r>
            </a:p>
          </p:txBody>
        </p:sp>
        <p:sp>
          <p:nvSpPr>
            <p:cNvPr id="40" name="Freeform 40"/>
            <p:cNvSpPr/>
            <p:nvPr/>
          </p:nvSpPr>
          <p:spPr>
            <a:xfrm>
              <a:off x="4438650" y="4724400"/>
              <a:ext cx="1562100" cy="400050"/>
            </a:xfrm>
            <a:custGeom>
              <a:avLst/>
              <a:gdLst/>
              <a:ahLst/>
              <a:cxnLst/>
              <a:rect l="l" t="t" r="r" b="b"/>
              <a:pathLst>
                <a:path w="1562100" h="400050">
                  <a:moveTo>
                    <a:pt x="200025" y="0"/>
                  </a:moveTo>
                  <a:lnTo>
                    <a:pt x="1362075" y="0"/>
                  </a:lnTo>
                  <a:cubicBezTo>
                    <a:pt x="1472546" y="0"/>
                    <a:pt x="1562100" y="89554"/>
                    <a:pt x="1562100" y="200025"/>
                  </a:cubicBezTo>
                  <a:lnTo>
                    <a:pt x="1562100" y="200025"/>
                  </a:lnTo>
                  <a:cubicBezTo>
                    <a:pt x="1562100" y="310496"/>
                    <a:pt x="1472546" y="400050"/>
                    <a:pt x="1362075" y="400050"/>
                  </a:cubicBezTo>
                  <a:lnTo>
                    <a:pt x="200025" y="400050"/>
                  </a:lnTo>
                  <a:cubicBezTo>
                    <a:pt x="89554" y="400050"/>
                    <a:pt x="0" y="310496"/>
                    <a:pt x="0" y="200025"/>
                  </a:cubicBezTo>
                  <a:lnTo>
                    <a:pt x="0" y="200025"/>
                  </a:lnTo>
                  <a:cubicBezTo>
                    <a:pt x="0" y="89554"/>
                    <a:pt x="89554" y="0"/>
                    <a:pt x="200025" y="0"/>
                  </a:cubicBezTo>
                  <a:close/>
                </a:path>
              </a:pathLst>
            </a:custGeom>
            <a:solidFill>
              <a:srgbClr val="F5A623">
                <a:alpha val="10000"/>
              </a:srgbClr>
            </a:solidFill>
            <a:ln>
              <a:noFill/>
            </a:ln>
          </p:spPr>
        </p:sp>
        <p:sp>
          <p:nvSpPr>
            <p:cNvPr id="41" name="TextBox 41"/>
            <p:cNvSpPr txBox="1"/>
            <p:nvPr/>
          </p:nvSpPr>
          <p:spPr>
            <a:xfrm>
              <a:off x="4511013" y="4860131"/>
              <a:ext cx="1417374" cy="228600"/>
            </a:xfrm>
            <a:prstGeom prst="rect">
              <a:avLst/>
            </a:prstGeom>
            <a:noFill/>
            <a:ln>
              <a:noFill/>
            </a:ln>
          </p:spPr>
          <p:txBody>
            <a:bodyPr wrap="none" lIns="0" tIns="0" rIns="0" bIns="0" anchor="t" anchorCtr="0">
              <a:spAutoFit/>
            </a:bodyPr>
            <a:lstStyle/>
            <a:p>
              <a:pPr algn="ctr"/>
              <a:r>
                <a:rPr lang="zh-CN" sz="1125" b="1" dirty="0">
                  <a:solidFill>
                    <a:srgbClr val="F5A623"/>
                  </a:solidFill>
                  <a:latin typeface="Arial"/>
                  <a:ea typeface="Microsoft YaHei"/>
                  <a:cs typeface="Arial"/>
                </a:rPr>
                <a:t>Open framework</a:t>
              </a:r>
            </a:p>
          </p:txBody>
        </p:sp>
      </p:grpSp>
      <p:sp>
        <p:nvSpPr>
          <p:cNvPr id="43" name="TextBox 43"/>
          <p:cNvSpPr txBox="1"/>
          <p:nvPr/>
        </p:nvSpPr>
        <p:spPr>
          <a:xfrm>
            <a:off x="786765" y="6173152"/>
            <a:ext cx="677418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Source set: why-ppt-master.md, technical-design.md, faq.md, windows-installation.md</a:t>
            </a:r>
          </a:p>
        </p:txBody>
      </p:sp>
      <p:sp>
        <p:nvSpPr>
          <p:cNvPr id="44" name="TextBox 44"/>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01</a:t>
            </a:r>
          </a:p>
        </p:txBody>
      </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Rectangle 4"/>
          <p:cNvSpPr/>
          <p:nvPr/>
        </p:nvSpPr>
        <p:spPr>
          <a:xfrm>
            <a:off x="552450" y="400050"/>
            <a:ext cx="11087100" cy="19050"/>
          </a:xfrm>
          <a:prstGeom prst="rect">
            <a:avLst/>
          </a:prstGeom>
          <a:solidFill>
            <a:srgbClr val="D8E0E5"/>
          </a:solidFill>
          <a:ln>
            <a:noFill/>
          </a:ln>
        </p:spPr>
      </p:sp>
      <p:sp>
        <p:nvSpPr>
          <p:cNvPr id="5" name="TextBox 5"/>
          <p:cNvSpPr txBox="1"/>
          <p:nvPr/>
        </p:nvSpPr>
        <p:spPr>
          <a:xfrm>
            <a:off x="539115" y="601028"/>
            <a:ext cx="10290698" cy="518160"/>
          </a:xfrm>
          <a:prstGeom prst="rect">
            <a:avLst/>
          </a:prstGeom>
          <a:noFill/>
          <a:ln>
            <a:noFill/>
          </a:ln>
        </p:spPr>
        <p:txBody>
          <a:bodyPr wrap="none" lIns="0" tIns="0" rIns="0" bIns="0" anchor="t" anchorCtr="0">
            <a:spAutoFit/>
          </a:bodyPr>
          <a:lstStyle/>
          <a:p>
            <a:pPr algn="l"/>
            <a:r>
              <a:rPr lang="zh-CN" sz="2550" b="1" dirty="0">
                <a:solidFill>
                  <a:srgbClr val="005587"/>
                </a:solidFill>
                <a:latin typeface="Arial"/>
                <a:ea typeface="Microsoft YaHei"/>
                <a:cs typeface="Arial"/>
              </a:rPr>
              <a:t>A real PowerPoint workflow, not a screenshot export</a:t>
            </a:r>
          </a:p>
        </p:txBody>
      </p:sp>
      <p:sp>
        <p:nvSpPr>
          <p:cNvPr id="6" name="TextBox 6"/>
          <p:cNvSpPr txBox="1"/>
          <p:nvPr/>
        </p:nvSpPr>
        <p:spPr>
          <a:xfrm>
            <a:off x="556260" y="1032510"/>
            <a:ext cx="6523863"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core message across the docs is simple: the output must stay editable.</a:t>
            </a:r>
          </a:p>
        </p:txBody>
      </p:sp>
      <p:grpSp>
        <p:nvGrpSpPr>
          <p:cNvPr id="21" name="Group 21"/>
          <p:cNvGrpSpPr/>
          <p:nvPr/>
        </p:nvGrpSpPr>
        <p:grpSpPr>
          <a:xfrm>
            <a:off x="571500" y="1562100"/>
            <a:ext cx="5793938" cy="4495800"/>
            <a:chOff x="571500" y="1562100"/>
            <a:chExt cx="5793938" cy="4495800"/>
          </a:xfrm>
          <a:effectLst>
            <a:outerShdw blurRad="152400" dist="38100" dir="10799140" algn="tl" rotWithShape="0">
              <a:srgbClr val="0F172A">
                <a:alpha val="10000"/>
              </a:srgbClr>
            </a:outerShdw>
          </a:effectLst>
        </p:grpSpPr>
        <p:sp>
          <p:nvSpPr>
            <p:cNvPr id="7" name="Freeform 7"/>
            <p:cNvSpPr/>
            <p:nvPr/>
          </p:nvSpPr>
          <p:spPr>
            <a:xfrm>
              <a:off x="571500" y="1562100"/>
              <a:ext cx="4533900" cy="4495800"/>
            </a:xfrm>
            <a:custGeom>
              <a:avLst/>
              <a:gdLst/>
              <a:ahLst/>
              <a:cxnLst/>
              <a:rect l="l" t="t" r="r" b="b"/>
              <a:pathLst>
                <a:path w="4533900" h="4495800">
                  <a:moveTo>
                    <a:pt x="266700" y="0"/>
                  </a:moveTo>
                  <a:lnTo>
                    <a:pt x="4267200" y="0"/>
                  </a:lnTo>
                  <a:cubicBezTo>
                    <a:pt x="4414494" y="0"/>
                    <a:pt x="4533900" y="119406"/>
                    <a:pt x="4533900" y="266700"/>
                  </a:cubicBezTo>
                  <a:lnTo>
                    <a:pt x="4533900" y="4229100"/>
                  </a:lnTo>
                  <a:cubicBezTo>
                    <a:pt x="4533900" y="4376394"/>
                    <a:pt x="4414494" y="4495800"/>
                    <a:pt x="4267200" y="4495800"/>
                  </a:cubicBezTo>
                  <a:lnTo>
                    <a:pt x="266700" y="4495800"/>
                  </a:lnTo>
                  <a:cubicBezTo>
                    <a:pt x="119406" y="4495800"/>
                    <a:pt x="0" y="4376394"/>
                    <a:pt x="0" y="4229100"/>
                  </a:cubicBezTo>
                  <a:lnTo>
                    <a:pt x="0" y="266700"/>
                  </a:lnTo>
                  <a:cubicBezTo>
                    <a:pt x="0" y="119406"/>
                    <a:pt x="119406" y="0"/>
                    <a:pt x="2667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8" name="Freeform 8"/>
            <p:cNvSpPr/>
            <p:nvPr/>
          </p:nvSpPr>
          <p:spPr>
            <a:xfrm>
              <a:off x="571500" y="1562100"/>
              <a:ext cx="4533900" cy="4495800"/>
            </a:xfrm>
            <a:custGeom>
              <a:avLst/>
              <a:gdLst/>
              <a:ahLst/>
              <a:cxnLst/>
              <a:rect l="l" t="t" r="r" b="b"/>
              <a:pathLst>
                <a:path w="4533900" h="4495800">
                  <a:moveTo>
                    <a:pt x="266700" y="0"/>
                  </a:moveTo>
                  <a:lnTo>
                    <a:pt x="4267200" y="0"/>
                  </a:lnTo>
                  <a:cubicBezTo>
                    <a:pt x="4414494" y="0"/>
                    <a:pt x="4533900" y="119406"/>
                    <a:pt x="4533900" y="266700"/>
                  </a:cubicBezTo>
                  <a:lnTo>
                    <a:pt x="4533900" y="4229100"/>
                  </a:lnTo>
                  <a:cubicBezTo>
                    <a:pt x="4533900" y="4376394"/>
                    <a:pt x="4414494" y="4495800"/>
                    <a:pt x="4267200" y="4495800"/>
                  </a:cubicBezTo>
                  <a:lnTo>
                    <a:pt x="266700" y="4495800"/>
                  </a:lnTo>
                  <a:cubicBezTo>
                    <a:pt x="119406" y="4495800"/>
                    <a:pt x="0" y="4376394"/>
                    <a:pt x="0" y="4229100"/>
                  </a:cubicBezTo>
                  <a:lnTo>
                    <a:pt x="0" y="266700"/>
                  </a:lnTo>
                  <a:cubicBezTo>
                    <a:pt x="0" y="119406"/>
                    <a:pt x="119406" y="0"/>
                    <a:pt x="266700" y="0"/>
                  </a:cubicBezTo>
                  <a:close/>
                </a:path>
              </a:pathLst>
            </a:custGeom>
            <a:solidFill>
              <a:srgbClr val="005587">
                <a:alpha val="3000"/>
              </a:srgbClr>
            </a:solidFill>
            <a:ln>
              <a:noFill/>
            </a:ln>
            <a:effectLst>
              <a:outerShdw blurRad="152400" dist="38100" dir="10799140" algn="tl" rotWithShape="0">
                <a:srgbClr val="0F172A">
                  <a:alpha val="10000"/>
                </a:srgbClr>
              </a:outerShdw>
            </a:effectLst>
          </p:spPr>
        </p:sp>
        <p:grpSp>
          <p:nvGrpSpPr>
            <p:cNvPr id="12" name="Group 12"/>
            <p:cNvGrpSpPr/>
            <p:nvPr/>
          </p:nvGrpSpPr>
          <p:grpSpPr>
            <a:xfrm>
              <a:off x="959644" y="1943100"/>
              <a:ext cx="366712" cy="419100"/>
              <a:chOff x="959644" y="1943100"/>
              <a:chExt cx="366712" cy="419100"/>
            </a:xfrm>
          </p:grpSpPr>
          <p:sp>
            <p:nvSpPr>
              <p:cNvPr id="9" name="Freeform 9"/>
              <p:cNvSpPr/>
              <p:nvPr/>
            </p:nvSpPr>
            <p:spPr>
              <a:xfrm>
                <a:off x="959644" y="1943100"/>
                <a:ext cx="366712" cy="209550"/>
              </a:xfrm>
              <a:custGeom>
                <a:avLst/>
                <a:gdLst/>
                <a:ahLst/>
                <a:cxnLst/>
                <a:rect l="l" t="t" r="r" b="b"/>
                <a:pathLst>
                  <a:path w="366712" h="209550">
                    <a:moveTo>
                      <a:pt x="0" y="130969"/>
                    </a:moveTo>
                    <a:lnTo>
                      <a:pt x="0" y="78581"/>
                    </a:lnTo>
                    <a:lnTo>
                      <a:pt x="183356" y="0"/>
                    </a:lnTo>
                    <a:lnTo>
                      <a:pt x="366712" y="78581"/>
                    </a:lnTo>
                    <a:lnTo>
                      <a:pt x="366712" y="130969"/>
                    </a:lnTo>
                    <a:lnTo>
                      <a:pt x="183356" y="209550"/>
                    </a:lnTo>
                    <a:lnTo>
                      <a:pt x="0" y="130969"/>
                    </a:lnTo>
                    <a:close/>
                  </a:path>
                </a:pathLst>
              </a:custGeom>
              <a:solidFill>
                <a:srgbClr val="005587"/>
              </a:solidFill>
              <a:ln>
                <a:noFill/>
              </a:ln>
              <a:effectLst>
                <a:outerShdw blurRad="152400" dist="38100" dir="10799140" algn="tl" rotWithShape="0">
                  <a:srgbClr val="0F172A">
                    <a:alpha val="10000"/>
                  </a:srgbClr>
                </a:outerShdw>
              </a:effectLst>
            </p:spPr>
          </p:sp>
          <p:sp>
            <p:nvSpPr>
              <p:cNvPr id="10" name="Freeform 10"/>
              <p:cNvSpPr/>
              <p:nvPr/>
            </p:nvSpPr>
            <p:spPr>
              <a:xfrm>
                <a:off x="959644" y="2231231"/>
                <a:ext cx="366712" cy="130969"/>
              </a:xfrm>
              <a:custGeom>
                <a:avLst/>
                <a:gdLst/>
                <a:ahLst/>
                <a:cxnLst/>
                <a:rect l="l" t="t" r="r" b="b"/>
                <a:pathLst>
                  <a:path w="366712" h="130969">
                    <a:moveTo>
                      <a:pt x="183356" y="130969"/>
                    </a:moveTo>
                    <a:lnTo>
                      <a:pt x="0" y="52388"/>
                    </a:lnTo>
                    <a:lnTo>
                      <a:pt x="0" y="0"/>
                    </a:lnTo>
                    <a:lnTo>
                      <a:pt x="183356" y="78581"/>
                    </a:lnTo>
                    <a:lnTo>
                      <a:pt x="366712" y="0"/>
                    </a:lnTo>
                    <a:lnTo>
                      <a:pt x="366712" y="52388"/>
                    </a:lnTo>
                    <a:lnTo>
                      <a:pt x="183356" y="130969"/>
                    </a:lnTo>
                    <a:close/>
                  </a:path>
                </a:pathLst>
              </a:custGeom>
              <a:solidFill>
                <a:srgbClr val="005587"/>
              </a:solidFill>
              <a:ln>
                <a:noFill/>
              </a:ln>
              <a:effectLst>
                <a:outerShdw blurRad="152400" dist="38100" dir="10799140" algn="tl" rotWithShape="0">
                  <a:srgbClr val="0F172A">
                    <a:alpha val="10000"/>
                  </a:srgbClr>
                </a:outerShdw>
              </a:effectLst>
            </p:spPr>
          </p:sp>
          <p:sp>
            <p:nvSpPr>
              <p:cNvPr id="11" name="Freeform 11"/>
              <p:cNvSpPr/>
              <p:nvPr/>
            </p:nvSpPr>
            <p:spPr>
              <a:xfrm>
                <a:off x="959644" y="2126456"/>
                <a:ext cx="366712" cy="130969"/>
              </a:xfrm>
              <a:custGeom>
                <a:avLst/>
                <a:gdLst/>
                <a:ahLst/>
                <a:cxnLst/>
                <a:rect l="l" t="t" r="r" b="b"/>
                <a:pathLst>
                  <a:path w="366712" h="130969">
                    <a:moveTo>
                      <a:pt x="0" y="52388"/>
                    </a:moveTo>
                    <a:lnTo>
                      <a:pt x="183356" y="130969"/>
                    </a:lnTo>
                    <a:lnTo>
                      <a:pt x="366712" y="52388"/>
                    </a:lnTo>
                    <a:lnTo>
                      <a:pt x="366712" y="0"/>
                    </a:lnTo>
                    <a:lnTo>
                      <a:pt x="183356" y="78581"/>
                    </a:lnTo>
                    <a:lnTo>
                      <a:pt x="0" y="0"/>
                    </a:lnTo>
                    <a:lnTo>
                      <a:pt x="0" y="52388"/>
                    </a:lnTo>
                    <a:close/>
                  </a:path>
                </a:pathLst>
              </a:custGeom>
              <a:solidFill>
                <a:srgbClr val="005587"/>
              </a:solidFill>
              <a:ln>
                <a:noFill/>
              </a:ln>
              <a:effectLst>
                <a:outerShdw blurRad="152400" dist="38100" dir="10799140" algn="tl" rotWithShape="0">
                  <a:srgbClr val="0F172A">
                    <a:alpha val="10000"/>
                  </a:srgbClr>
                </a:outerShdw>
              </a:effectLst>
            </p:spPr>
          </p:sp>
        </p:grpSp>
        <p:sp>
          <p:nvSpPr>
            <p:cNvPr id="13" name="TextBox 13"/>
            <p:cNvSpPr txBox="1"/>
            <p:nvPr/>
          </p:nvSpPr>
          <p:spPr>
            <a:xfrm>
              <a:off x="1520190" y="2044065"/>
              <a:ext cx="2723255"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2C3E50"/>
                  </a:solidFill>
                  <a:latin typeface="Arial"/>
                  <a:ea typeface="Microsoft YaHei"/>
                  <a:cs typeface="Arial"/>
                </a:rPr>
                <a:t>Core differentiator</a:t>
              </a:r>
            </a:p>
          </p:txBody>
        </p:sp>
        <p:sp>
          <p:nvSpPr>
            <p:cNvPr id="14" name="TextBox 14"/>
            <p:cNvSpPr txBox="1"/>
            <p:nvPr/>
          </p:nvSpPr>
          <p:spPr>
            <a:xfrm>
              <a:off x="904875" y="2671762"/>
              <a:ext cx="4387441"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2C3E50"/>
                  </a:solidFill>
                  <a:latin typeface="Arial"/>
                  <a:ea typeface="Microsoft YaHei"/>
                  <a:cs typeface="Arial"/>
                </a:rPr>
                <a:t>If it cannot be opened and</a:t>
              </a:r>
            </a:p>
          </p:txBody>
        </p:sp>
        <p:sp>
          <p:nvSpPr>
            <p:cNvPr id="15" name="TextBox 15"/>
            <p:cNvSpPr txBox="1"/>
            <p:nvPr/>
          </p:nvSpPr>
          <p:spPr>
            <a:xfrm>
              <a:off x="904875" y="3071812"/>
              <a:ext cx="3921633"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2C3E50"/>
                  </a:solidFill>
                  <a:latin typeface="Arial"/>
                  <a:ea typeface="Microsoft YaHei"/>
                  <a:cs typeface="Arial"/>
                </a:rPr>
                <a:t>edited like a real deck,</a:t>
              </a:r>
            </a:p>
          </p:txBody>
        </p:sp>
        <p:sp>
          <p:nvSpPr>
            <p:cNvPr id="16" name="TextBox 16"/>
            <p:cNvSpPr txBox="1"/>
            <p:nvPr/>
          </p:nvSpPr>
          <p:spPr>
            <a:xfrm>
              <a:off x="904875" y="3471862"/>
              <a:ext cx="4887754"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2C3E50"/>
                  </a:solidFill>
                  <a:latin typeface="Arial"/>
                  <a:ea typeface="Microsoft YaHei"/>
                  <a:cs typeface="Arial"/>
                </a:rPr>
                <a:t>it should not be called a PPT.</a:t>
              </a:r>
            </a:p>
          </p:txBody>
        </p:sp>
        <p:sp>
          <p:nvSpPr>
            <p:cNvPr id="17" name="Freeform 17"/>
            <p:cNvSpPr/>
            <p:nvPr/>
          </p:nvSpPr>
          <p:spPr>
            <a:xfrm>
              <a:off x="933450" y="4362450"/>
              <a:ext cx="3771900" cy="1123950"/>
            </a:xfrm>
            <a:custGeom>
              <a:avLst/>
              <a:gdLst/>
              <a:ahLst/>
              <a:cxnLst/>
              <a:rect l="l" t="t" r="r" b="b"/>
              <a:pathLst>
                <a:path w="3771900" h="1123950">
                  <a:moveTo>
                    <a:pt x="171450" y="0"/>
                  </a:moveTo>
                  <a:lnTo>
                    <a:pt x="3600450" y="0"/>
                  </a:lnTo>
                  <a:cubicBezTo>
                    <a:pt x="3695139" y="0"/>
                    <a:pt x="3771900" y="76761"/>
                    <a:pt x="3771900" y="171450"/>
                  </a:cubicBezTo>
                  <a:lnTo>
                    <a:pt x="3771900" y="952500"/>
                  </a:lnTo>
                  <a:cubicBezTo>
                    <a:pt x="3771900" y="1047189"/>
                    <a:pt x="3695139" y="1123950"/>
                    <a:pt x="3600450" y="1123950"/>
                  </a:cubicBezTo>
                  <a:lnTo>
                    <a:pt x="171450" y="1123950"/>
                  </a:lnTo>
                  <a:cubicBezTo>
                    <a:pt x="76761" y="1123950"/>
                    <a:pt x="0" y="1047189"/>
                    <a:pt x="0" y="952500"/>
                  </a:cubicBezTo>
                  <a:lnTo>
                    <a:pt x="0" y="171450"/>
                  </a:lnTo>
                  <a:cubicBezTo>
                    <a:pt x="0" y="76761"/>
                    <a:pt x="76761" y="0"/>
                    <a:pt x="1714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8" name="TextBox 18"/>
            <p:cNvSpPr txBox="1"/>
            <p:nvPr/>
          </p:nvSpPr>
          <p:spPr>
            <a:xfrm>
              <a:off x="1184910" y="4594860"/>
              <a:ext cx="99660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b="1" dirty="0">
                  <a:solidFill>
                    <a:srgbClr val="005587"/>
                  </a:solidFill>
                  <a:latin typeface="Arial"/>
                  <a:ea typeface="Microsoft YaHei"/>
                  <a:cs typeface="Arial"/>
                </a:rPr>
                <a:t>Implication</a:t>
              </a:r>
            </a:p>
          </p:txBody>
        </p:sp>
        <p:sp>
          <p:nvSpPr>
            <p:cNvPr id="19" name="TextBox 19"/>
            <p:cNvSpPr txBox="1"/>
            <p:nvPr/>
          </p:nvSpPr>
          <p:spPr>
            <a:xfrm>
              <a:off x="1185862" y="4888706"/>
              <a:ext cx="475238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The system is optimized around native shapes, text boxes,</a:t>
              </a:r>
            </a:p>
          </p:txBody>
        </p:sp>
        <p:sp>
          <p:nvSpPr>
            <p:cNvPr id="20" name="TextBox 20"/>
            <p:cNvSpPr txBox="1"/>
            <p:nvPr/>
          </p:nvSpPr>
          <p:spPr>
            <a:xfrm>
              <a:off x="1185862" y="5117306"/>
              <a:ext cx="5179576"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and engineering conversion, not just eye-catching screenshots.</a:t>
              </a:r>
            </a:p>
          </p:txBody>
        </p:sp>
      </p:grpSp>
      <p:grpSp>
        <p:nvGrpSpPr>
          <p:cNvPr id="45" name="Group 45"/>
          <p:cNvGrpSpPr/>
          <p:nvPr/>
        </p:nvGrpSpPr>
        <p:grpSpPr>
          <a:xfrm>
            <a:off x="5467350" y="1714500"/>
            <a:ext cx="7914894" cy="3867150"/>
            <a:chOff x="5467350" y="1714500"/>
            <a:chExt cx="7914894" cy="3867150"/>
          </a:xfrm>
        </p:grpSpPr>
        <p:grpSp>
          <p:nvGrpSpPr>
            <p:cNvPr id="29" name="Group 29"/>
            <p:cNvGrpSpPr/>
            <p:nvPr/>
          </p:nvGrpSpPr>
          <p:grpSpPr>
            <a:xfrm>
              <a:off x="5467350" y="1714500"/>
              <a:ext cx="7695819" cy="1123950"/>
              <a:chOff x="5467350" y="1714500"/>
              <a:chExt cx="7695819" cy="1123950"/>
            </a:xfrm>
            <a:effectLst>
              <a:outerShdw blurRad="152400" dist="38100" dir="10799140" algn="tl" rotWithShape="0">
                <a:srgbClr val="0F172A">
                  <a:alpha val="10000"/>
                </a:srgbClr>
              </a:outerShdw>
            </a:effectLst>
          </p:grpSpPr>
          <p:sp>
            <p:nvSpPr>
              <p:cNvPr id="22" name="Freeform 22"/>
              <p:cNvSpPr/>
              <p:nvPr/>
            </p:nvSpPr>
            <p:spPr>
              <a:xfrm>
                <a:off x="5467350" y="17145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ECF0F1"/>
              </a:solidFill>
              <a:ln>
                <a:noFill/>
              </a:ln>
              <a:effectLst>
                <a:outerShdw blurRad="152400" dist="38100" dir="10799140" algn="tl" rotWithShape="0">
                  <a:srgbClr val="0F172A">
                    <a:alpha val="10000"/>
                  </a:srgbClr>
                </a:outerShdw>
              </a:effectLst>
            </p:spPr>
          </p:sp>
          <p:grpSp>
            <p:nvGrpSpPr>
              <p:cNvPr id="26" name="Group 26"/>
              <p:cNvGrpSpPr/>
              <p:nvPr/>
            </p:nvGrpSpPr>
            <p:grpSpPr>
              <a:xfrm>
                <a:off x="5791200" y="2058591"/>
                <a:ext cx="323850" cy="283369"/>
                <a:chOff x="5791200" y="2058591"/>
                <a:chExt cx="323850" cy="283369"/>
              </a:xfrm>
            </p:grpSpPr>
            <p:sp>
              <p:nvSpPr>
                <p:cNvPr id="23" name="Freeform 23"/>
                <p:cNvSpPr/>
                <p:nvPr/>
              </p:nvSpPr>
              <p:spPr>
                <a:xfrm>
                  <a:off x="6034088" y="2058591"/>
                  <a:ext cx="80962" cy="283369"/>
                </a:xfrm>
                <a:custGeom>
                  <a:avLst/>
                  <a:gdLst/>
                  <a:ahLst/>
                  <a:cxnLst/>
                  <a:rect l="l" t="t" r="r" b="b"/>
                  <a:pathLst>
                    <a:path w="80962" h="283369">
                      <a:moveTo>
                        <a:pt x="80962" y="0"/>
                      </a:moveTo>
                      <a:lnTo>
                        <a:pt x="0" y="0"/>
                      </a:lnTo>
                      <a:lnTo>
                        <a:pt x="0" y="283369"/>
                      </a:lnTo>
                      <a:lnTo>
                        <a:pt x="80962" y="283369"/>
                      </a:lnTo>
                      <a:lnTo>
                        <a:pt x="80962" y="0"/>
                      </a:lnTo>
                      <a:close/>
                    </a:path>
                  </a:pathLst>
                </a:custGeom>
                <a:solidFill>
                  <a:srgbClr val="005587"/>
                </a:solidFill>
                <a:ln>
                  <a:noFill/>
                </a:ln>
                <a:effectLst>
                  <a:outerShdw blurRad="152400" dist="38100" dir="10799140" algn="tl" rotWithShape="0">
                    <a:srgbClr val="0F172A">
                      <a:alpha val="10000"/>
                    </a:srgbClr>
                  </a:outerShdw>
                </a:effectLst>
              </p:spPr>
            </p:sp>
            <p:sp>
              <p:nvSpPr>
                <p:cNvPr id="24" name="Freeform 24"/>
                <p:cNvSpPr/>
                <p:nvPr/>
              </p:nvSpPr>
              <p:spPr>
                <a:xfrm>
                  <a:off x="5912644" y="2139553"/>
                  <a:ext cx="80962" cy="202406"/>
                </a:xfrm>
                <a:custGeom>
                  <a:avLst/>
                  <a:gdLst/>
                  <a:ahLst/>
                  <a:cxnLst/>
                  <a:rect l="l" t="t" r="r" b="b"/>
                  <a:pathLst>
                    <a:path w="80962" h="202406">
                      <a:moveTo>
                        <a:pt x="0" y="0"/>
                      </a:moveTo>
                      <a:lnTo>
                        <a:pt x="80962" y="0"/>
                      </a:lnTo>
                      <a:lnTo>
                        <a:pt x="80962" y="202406"/>
                      </a:lnTo>
                      <a:lnTo>
                        <a:pt x="0" y="202406"/>
                      </a:lnTo>
                      <a:lnTo>
                        <a:pt x="0" y="0"/>
                      </a:lnTo>
                      <a:close/>
                    </a:path>
                  </a:pathLst>
                </a:custGeom>
                <a:solidFill>
                  <a:srgbClr val="005587"/>
                </a:solidFill>
                <a:ln>
                  <a:noFill/>
                </a:ln>
                <a:effectLst>
                  <a:outerShdw blurRad="152400" dist="38100" dir="10799140" algn="tl" rotWithShape="0">
                    <a:srgbClr val="0F172A">
                      <a:alpha val="10000"/>
                    </a:srgbClr>
                  </a:outerShdw>
                </a:effectLst>
              </p:spPr>
            </p:sp>
            <p:sp>
              <p:nvSpPr>
                <p:cNvPr id="25" name="Freeform 25"/>
                <p:cNvSpPr/>
                <p:nvPr/>
              </p:nvSpPr>
              <p:spPr>
                <a:xfrm>
                  <a:off x="5791200" y="2220516"/>
                  <a:ext cx="80962" cy="121444"/>
                </a:xfrm>
                <a:custGeom>
                  <a:avLst/>
                  <a:gdLst/>
                  <a:ahLst/>
                  <a:cxnLst/>
                  <a:rect l="l" t="t" r="r" b="b"/>
                  <a:pathLst>
                    <a:path w="80962" h="121444">
                      <a:moveTo>
                        <a:pt x="0" y="0"/>
                      </a:moveTo>
                      <a:lnTo>
                        <a:pt x="80962" y="0"/>
                      </a:lnTo>
                      <a:lnTo>
                        <a:pt x="80962" y="121444"/>
                      </a:lnTo>
                      <a:lnTo>
                        <a:pt x="0" y="121444"/>
                      </a:lnTo>
                      <a:lnTo>
                        <a:pt x="0" y="0"/>
                      </a:lnTo>
                      <a:close/>
                    </a:path>
                  </a:pathLst>
                </a:custGeom>
                <a:solidFill>
                  <a:srgbClr val="005587"/>
                </a:solidFill>
                <a:ln>
                  <a:noFill/>
                </a:ln>
                <a:effectLst>
                  <a:outerShdw blurRad="152400" dist="38100" dir="10799140" algn="tl" rotWithShape="0">
                    <a:srgbClr val="0F172A">
                      <a:alpha val="10000"/>
                    </a:srgbClr>
                  </a:outerShdw>
                </a:effectLst>
              </p:spPr>
            </p:sp>
          </p:grpSp>
          <p:sp>
            <p:nvSpPr>
              <p:cNvPr id="27" name="TextBox 27"/>
              <p:cNvSpPr txBox="1"/>
              <p:nvPr/>
            </p:nvSpPr>
            <p:spPr>
              <a:xfrm>
                <a:off x="6267450" y="2076450"/>
                <a:ext cx="4132612"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The deck is treated as a working file</a:t>
                </a:r>
              </a:p>
            </p:txBody>
          </p:sp>
          <p:sp>
            <p:nvSpPr>
              <p:cNvPr id="28" name="TextBox 28"/>
              <p:cNvSpPr txBox="1"/>
              <p:nvPr/>
            </p:nvSpPr>
            <p:spPr>
              <a:xfrm>
                <a:off x="6271260" y="2404110"/>
                <a:ext cx="689190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 docs repeatedly frame the export as a usable artifact, not a frozen visual.</a:t>
                </a:r>
              </a:p>
            </p:txBody>
          </p:sp>
        </p:grpSp>
        <p:grpSp>
          <p:nvGrpSpPr>
            <p:cNvPr id="37" name="Group 37"/>
            <p:cNvGrpSpPr/>
            <p:nvPr/>
          </p:nvGrpSpPr>
          <p:grpSpPr>
            <a:xfrm>
              <a:off x="5467350" y="3086100"/>
              <a:ext cx="7914894" cy="1123950"/>
              <a:chOff x="5467350" y="3086100"/>
              <a:chExt cx="7914894" cy="1123950"/>
            </a:xfrm>
            <a:effectLst>
              <a:outerShdw blurRad="152400" dist="38100" dir="10799140" algn="tl" rotWithShape="0">
                <a:srgbClr val="0F172A">
                  <a:alpha val="10000"/>
                </a:srgbClr>
              </a:outerShdw>
            </a:effectLst>
          </p:grpSpPr>
          <p:sp>
            <p:nvSpPr>
              <p:cNvPr id="30" name="Freeform 30"/>
              <p:cNvSpPr/>
              <p:nvPr/>
            </p:nvSpPr>
            <p:spPr>
              <a:xfrm>
                <a:off x="5467350" y="30861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ECF0F1"/>
              </a:solidFill>
              <a:ln>
                <a:noFill/>
              </a:ln>
              <a:effectLst>
                <a:outerShdw blurRad="152400" dist="38100" dir="10799140" algn="tl" rotWithShape="0">
                  <a:srgbClr val="0F172A">
                    <a:alpha val="10000"/>
                  </a:srgbClr>
                </a:outerShdw>
              </a:effectLst>
            </p:spPr>
          </p:sp>
          <p:grpSp>
            <p:nvGrpSpPr>
              <p:cNvPr id="34" name="Group 34"/>
              <p:cNvGrpSpPr/>
              <p:nvPr/>
            </p:nvGrpSpPr>
            <p:grpSpPr>
              <a:xfrm>
                <a:off x="5791200" y="3427328"/>
                <a:ext cx="323850" cy="289093"/>
                <a:chOff x="5791200" y="3427328"/>
                <a:chExt cx="323850" cy="289093"/>
              </a:xfrm>
            </p:grpSpPr>
            <p:sp>
              <p:nvSpPr>
                <p:cNvPr id="31" name="Freeform 31"/>
                <p:cNvSpPr/>
                <p:nvPr/>
              </p:nvSpPr>
              <p:spPr>
                <a:xfrm>
                  <a:off x="5912847" y="3427328"/>
                  <a:ext cx="80556" cy="289093"/>
                </a:xfrm>
                <a:custGeom>
                  <a:avLst/>
                  <a:gdLst/>
                  <a:ahLst/>
                  <a:cxnLst/>
                  <a:rect l="l" t="t" r="r" b="b"/>
                  <a:pathLst>
                    <a:path w="80556" h="289093">
                      <a:moveTo>
                        <a:pt x="40481" y="0"/>
                      </a:moveTo>
                      <a:lnTo>
                        <a:pt x="0" y="283369"/>
                      </a:lnTo>
                      <a:lnTo>
                        <a:pt x="40074" y="289093"/>
                      </a:lnTo>
                      <a:lnTo>
                        <a:pt x="80556" y="5725"/>
                      </a:lnTo>
                      <a:lnTo>
                        <a:pt x="40481" y="0"/>
                      </a:lnTo>
                      <a:close/>
                    </a:path>
                  </a:pathLst>
                </a:custGeom>
                <a:solidFill>
                  <a:srgbClr val="0076A8"/>
                </a:solidFill>
                <a:ln>
                  <a:noFill/>
                </a:ln>
                <a:effectLst>
                  <a:outerShdw blurRad="152400" dist="38100" dir="10799140" algn="tl" rotWithShape="0">
                    <a:srgbClr val="0F172A">
                      <a:alpha val="10000"/>
                    </a:srgbClr>
                  </a:outerShdw>
                </a:effectLst>
              </p:spPr>
            </p:sp>
            <p:sp>
              <p:nvSpPr>
                <p:cNvPr id="32" name="Freeform 32"/>
                <p:cNvSpPr/>
                <p:nvPr/>
              </p:nvSpPr>
              <p:spPr>
                <a:xfrm>
                  <a:off x="6015584" y="3501033"/>
                  <a:ext cx="99466" cy="141684"/>
                </a:xfrm>
                <a:custGeom>
                  <a:avLst/>
                  <a:gdLst/>
                  <a:ahLst/>
                  <a:cxnLst/>
                  <a:rect l="l" t="t" r="r" b="b"/>
                  <a:pathLst>
                    <a:path w="99466" h="141684">
                      <a:moveTo>
                        <a:pt x="28624" y="141684"/>
                      </a:moveTo>
                      <a:lnTo>
                        <a:pt x="0" y="113060"/>
                      </a:lnTo>
                      <a:lnTo>
                        <a:pt x="42218" y="70842"/>
                      </a:lnTo>
                      <a:lnTo>
                        <a:pt x="0" y="28625"/>
                      </a:lnTo>
                      <a:lnTo>
                        <a:pt x="28624" y="0"/>
                      </a:lnTo>
                      <a:lnTo>
                        <a:pt x="99466" y="70842"/>
                      </a:lnTo>
                      <a:lnTo>
                        <a:pt x="28624" y="141684"/>
                      </a:lnTo>
                      <a:close/>
                    </a:path>
                  </a:pathLst>
                </a:custGeom>
                <a:solidFill>
                  <a:srgbClr val="0076A8"/>
                </a:solidFill>
                <a:ln>
                  <a:noFill/>
                </a:ln>
                <a:effectLst>
                  <a:outerShdw blurRad="152400" dist="38100" dir="10799140" algn="tl" rotWithShape="0">
                    <a:srgbClr val="0F172A">
                      <a:alpha val="10000"/>
                    </a:srgbClr>
                  </a:outerShdw>
                </a:effectLst>
              </p:spPr>
            </p:sp>
            <p:sp>
              <p:nvSpPr>
                <p:cNvPr id="33" name="Freeform 33"/>
                <p:cNvSpPr/>
                <p:nvPr/>
              </p:nvSpPr>
              <p:spPr>
                <a:xfrm>
                  <a:off x="5791200" y="3501033"/>
                  <a:ext cx="99467" cy="141684"/>
                </a:xfrm>
                <a:custGeom>
                  <a:avLst/>
                  <a:gdLst/>
                  <a:ahLst/>
                  <a:cxnLst/>
                  <a:rect l="l" t="t" r="r" b="b"/>
                  <a:pathLst>
                    <a:path w="99467" h="141684">
                      <a:moveTo>
                        <a:pt x="57249" y="70842"/>
                      </a:moveTo>
                      <a:lnTo>
                        <a:pt x="99467" y="113060"/>
                      </a:lnTo>
                      <a:lnTo>
                        <a:pt x="70842" y="141684"/>
                      </a:lnTo>
                      <a:lnTo>
                        <a:pt x="0" y="70842"/>
                      </a:lnTo>
                      <a:lnTo>
                        <a:pt x="70842" y="0"/>
                      </a:lnTo>
                      <a:lnTo>
                        <a:pt x="99467" y="28625"/>
                      </a:lnTo>
                      <a:lnTo>
                        <a:pt x="57249" y="70842"/>
                      </a:lnTo>
                      <a:close/>
                    </a:path>
                  </a:pathLst>
                </a:custGeom>
                <a:solidFill>
                  <a:srgbClr val="0076A8"/>
                </a:solidFill>
                <a:ln>
                  <a:noFill/>
                </a:ln>
                <a:effectLst>
                  <a:outerShdw blurRad="152400" dist="38100" dir="10799140" algn="tl" rotWithShape="0">
                    <a:srgbClr val="0F172A">
                      <a:alpha val="10000"/>
                    </a:srgbClr>
                  </a:outerShdw>
                </a:effectLst>
              </p:spPr>
            </p:sp>
          </p:grpSp>
          <p:sp>
            <p:nvSpPr>
              <p:cNvPr id="35" name="TextBox 35"/>
              <p:cNvSpPr txBox="1"/>
              <p:nvPr/>
            </p:nvSpPr>
            <p:spPr>
              <a:xfrm>
                <a:off x="6267450" y="3448050"/>
                <a:ext cx="3511534"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The engineering path is explicit</a:t>
                </a:r>
              </a:p>
            </p:txBody>
          </p:sp>
          <p:sp>
            <p:nvSpPr>
              <p:cNvPr id="36" name="TextBox 36"/>
              <p:cNvSpPr txBox="1"/>
              <p:nvPr/>
            </p:nvSpPr>
            <p:spPr>
              <a:xfrm>
                <a:off x="6271260" y="3775710"/>
                <a:ext cx="711098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SVG generation, post-processing, and DrawingML export are all first-class steps.</a:t>
                </a:r>
              </a:p>
            </p:txBody>
          </p:sp>
        </p:grpSp>
        <p:grpSp>
          <p:nvGrpSpPr>
            <p:cNvPr id="44" name="Group 44"/>
            <p:cNvGrpSpPr/>
            <p:nvPr/>
          </p:nvGrpSpPr>
          <p:grpSpPr>
            <a:xfrm>
              <a:off x="5467350" y="4457700"/>
              <a:ext cx="7538085" cy="1123950"/>
              <a:chOff x="5467350" y="4457700"/>
              <a:chExt cx="7538085" cy="1123950"/>
            </a:xfrm>
            <a:effectLst>
              <a:outerShdw blurRad="152400" dist="38100" dir="10799140" algn="tl" rotWithShape="0">
                <a:srgbClr val="0F172A">
                  <a:alpha val="10000"/>
                </a:srgbClr>
              </a:outerShdw>
            </a:effectLst>
          </p:grpSpPr>
          <p:sp>
            <p:nvSpPr>
              <p:cNvPr id="38" name="Freeform 38"/>
              <p:cNvSpPr/>
              <p:nvPr/>
            </p:nvSpPr>
            <p:spPr>
              <a:xfrm>
                <a:off x="5467350" y="44577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ECF0F1"/>
              </a:solidFill>
              <a:ln>
                <a:noFill/>
              </a:ln>
              <a:effectLst>
                <a:outerShdw blurRad="152400" dist="38100" dir="10799140" algn="tl" rotWithShape="0">
                  <a:srgbClr val="0F172A">
                    <a:alpha val="10000"/>
                  </a:srgbClr>
                </a:outerShdw>
              </a:effectLst>
            </p:spPr>
          </p:sp>
          <p:grpSp>
            <p:nvGrpSpPr>
              <p:cNvPr id="41" name="Group 41"/>
              <p:cNvGrpSpPr/>
              <p:nvPr/>
            </p:nvGrpSpPr>
            <p:grpSpPr>
              <a:xfrm>
                <a:off x="5831681" y="4801791"/>
                <a:ext cx="242888" cy="283369"/>
                <a:chOff x="5831681" y="4801791"/>
                <a:chExt cx="242888" cy="283369"/>
              </a:xfrm>
            </p:grpSpPr>
            <p:sp>
              <p:nvSpPr>
                <p:cNvPr id="39" name="Freeform 39"/>
                <p:cNvSpPr/>
                <p:nvPr/>
              </p:nvSpPr>
              <p:spPr>
                <a:xfrm>
                  <a:off x="5892403" y="4801791"/>
                  <a:ext cx="121444" cy="121444"/>
                </a:xfrm>
                <a:custGeom>
                  <a:avLst/>
                  <a:gdLst/>
                  <a:ahLst/>
                  <a:cxnLst/>
                  <a:rect l="l" t="t" r="r" b="b"/>
                  <a:pathLst>
                    <a:path w="121444" h="121444">
                      <a:moveTo>
                        <a:pt x="60722" y="121444"/>
                      </a:moveTo>
                      <a:cubicBezTo>
                        <a:pt x="94258" y="121444"/>
                        <a:pt x="121444" y="94258"/>
                        <a:pt x="121444" y="60722"/>
                      </a:cubicBezTo>
                      <a:cubicBezTo>
                        <a:pt x="121444" y="27186"/>
                        <a:pt x="94258" y="0"/>
                        <a:pt x="60722" y="0"/>
                      </a:cubicBezTo>
                      <a:cubicBezTo>
                        <a:pt x="27186" y="0"/>
                        <a:pt x="0" y="27186"/>
                        <a:pt x="0" y="60722"/>
                      </a:cubicBezTo>
                      <a:cubicBezTo>
                        <a:pt x="0" y="94258"/>
                        <a:pt x="27186" y="121444"/>
                        <a:pt x="60722" y="121444"/>
                      </a:cubicBezTo>
                      <a:close/>
                    </a:path>
                  </a:pathLst>
                </a:custGeom>
                <a:solidFill>
                  <a:srgbClr val="F5A623"/>
                </a:solidFill>
                <a:ln>
                  <a:noFill/>
                </a:ln>
                <a:effectLst>
                  <a:outerShdw blurRad="152400" dist="38100" dir="10799140" algn="tl" rotWithShape="0">
                    <a:srgbClr val="0F172A">
                      <a:alpha val="10000"/>
                    </a:srgbClr>
                  </a:outerShdw>
                </a:effectLst>
              </p:spPr>
            </p:sp>
            <p:sp>
              <p:nvSpPr>
                <p:cNvPr id="40" name="Freeform 40"/>
                <p:cNvSpPr/>
                <p:nvPr/>
              </p:nvSpPr>
              <p:spPr>
                <a:xfrm>
                  <a:off x="5831681" y="4963716"/>
                  <a:ext cx="242888" cy="121444"/>
                </a:xfrm>
                <a:custGeom>
                  <a:avLst/>
                  <a:gdLst/>
                  <a:ahLst/>
                  <a:cxnLst/>
                  <a:rect l="l" t="t" r="r" b="b"/>
                  <a:pathLst>
                    <a:path w="242888" h="121444">
                      <a:moveTo>
                        <a:pt x="242888" y="60722"/>
                      </a:moveTo>
                      <a:cubicBezTo>
                        <a:pt x="242888" y="27185"/>
                        <a:pt x="215702" y="0"/>
                        <a:pt x="182166" y="0"/>
                      </a:cubicBezTo>
                      <a:lnTo>
                        <a:pt x="60722" y="0"/>
                      </a:lnTo>
                      <a:cubicBezTo>
                        <a:pt x="27186" y="0"/>
                        <a:pt x="0" y="27185"/>
                        <a:pt x="0" y="60722"/>
                      </a:cubicBezTo>
                      <a:lnTo>
                        <a:pt x="0" y="121444"/>
                      </a:lnTo>
                      <a:lnTo>
                        <a:pt x="242888" y="121444"/>
                      </a:lnTo>
                      <a:lnTo>
                        <a:pt x="242888" y="60722"/>
                      </a:lnTo>
                      <a:close/>
                    </a:path>
                  </a:pathLst>
                </a:custGeom>
                <a:solidFill>
                  <a:srgbClr val="F5A623"/>
                </a:solidFill>
                <a:ln>
                  <a:noFill/>
                </a:ln>
                <a:effectLst>
                  <a:outerShdw blurRad="152400" dist="38100" dir="10799140" algn="tl" rotWithShape="0">
                    <a:srgbClr val="0F172A">
                      <a:alpha val="10000"/>
                    </a:srgbClr>
                  </a:outerShdw>
                </a:effectLst>
              </p:spPr>
            </p:sp>
          </p:grpSp>
          <p:sp>
            <p:nvSpPr>
              <p:cNvPr id="42" name="TextBox 42"/>
              <p:cNvSpPr txBox="1"/>
              <p:nvPr/>
            </p:nvSpPr>
            <p:spPr>
              <a:xfrm>
                <a:off x="6267450" y="4819650"/>
                <a:ext cx="3177992"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The user keeps final control</a:t>
                </a:r>
              </a:p>
            </p:txBody>
          </p:sp>
          <p:sp>
            <p:nvSpPr>
              <p:cNvPr id="43" name="TextBox 43"/>
              <p:cNvSpPr txBox="1"/>
              <p:nvPr/>
            </p:nvSpPr>
            <p:spPr>
              <a:xfrm>
                <a:off x="6271260" y="5147310"/>
                <a:ext cx="673417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 AI does the heavy lifting, but the final mile still belongs to the presenter.</a:t>
                </a:r>
              </a:p>
            </p:txBody>
          </p:sp>
        </p:grpSp>
      </p:grpSp>
      <p:sp>
        <p:nvSpPr>
          <p:cNvPr id="46" name="TextBox 46"/>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02</a:t>
            </a:r>
          </a:p>
        </p:txBody>
      </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8609188"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Four approaches, four different trade-offs</a:t>
            </a:r>
          </a:p>
        </p:txBody>
      </p:sp>
      <p:sp>
        <p:nvSpPr>
          <p:cNvPr id="5" name="TextBox 5"/>
          <p:cNvSpPr txBox="1"/>
          <p:nvPr/>
        </p:nvSpPr>
        <p:spPr>
          <a:xfrm>
            <a:off x="556260" y="975360"/>
            <a:ext cx="5594985"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product story is built on rejecting three unsatisfying paths.</a:t>
            </a:r>
          </a:p>
        </p:txBody>
      </p:sp>
      <p:grpSp>
        <p:nvGrpSpPr>
          <p:cNvPr id="13" name="Group 13"/>
          <p:cNvGrpSpPr/>
          <p:nvPr/>
        </p:nvGrpSpPr>
        <p:grpSpPr>
          <a:xfrm>
            <a:off x="571500" y="1524000"/>
            <a:ext cx="3074193" cy="4495800"/>
            <a:chOff x="571500" y="1524000"/>
            <a:chExt cx="3074193" cy="4495800"/>
          </a:xfrm>
          <a:effectLst>
            <a:outerShdw blurRad="133350" dist="38100" dir="10799140" algn="tl" rotWithShape="0">
              <a:srgbClr val="0F172A">
                <a:alpha val="10000"/>
              </a:srgbClr>
            </a:outerShdw>
          </a:effectLst>
        </p:grpSpPr>
        <p:sp>
          <p:nvSpPr>
            <p:cNvPr id="6" name="Freeform 6"/>
            <p:cNvSpPr/>
            <p:nvPr/>
          </p:nvSpPr>
          <p:spPr>
            <a:xfrm>
              <a:off x="57150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7" name="Freeform 7"/>
            <p:cNvSpPr/>
            <p:nvPr/>
          </p:nvSpPr>
          <p:spPr>
            <a:xfrm>
              <a:off x="57150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E74C3C"/>
            </a:solidFill>
            <a:ln>
              <a:noFill/>
            </a:ln>
            <a:effectLst>
              <a:outerShdw blurRad="133350" dist="38100" dir="10799140" algn="tl" rotWithShape="0">
                <a:srgbClr val="0F172A">
                  <a:alpha val="10000"/>
                </a:srgbClr>
              </a:outerShdw>
            </a:effectLst>
          </p:spPr>
        </p:sp>
        <p:sp>
          <p:nvSpPr>
            <p:cNvPr id="8" name="TextBox 8"/>
            <p:cNvSpPr txBox="1"/>
            <p:nvPr/>
          </p:nvSpPr>
          <p:spPr>
            <a:xfrm>
              <a:off x="817245" y="1860232"/>
              <a:ext cx="1686616"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Embed images</a:t>
              </a:r>
            </a:p>
          </p:txBody>
        </p:sp>
        <p:sp>
          <p:nvSpPr>
            <p:cNvPr id="9" name="TextBox 9"/>
            <p:cNvSpPr txBox="1"/>
            <p:nvPr/>
          </p:nvSpPr>
          <p:spPr>
            <a:xfrm>
              <a:off x="822960" y="2232660"/>
              <a:ext cx="2773299"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E74C3C"/>
                  </a:solidFill>
                  <a:latin typeface="Arial"/>
                  <a:ea typeface="Microsoft YaHei"/>
                  <a:cs typeface="Arial"/>
                </a:rPr>
                <a:t>Looks polished, loses editability</a:t>
              </a:r>
            </a:p>
          </p:txBody>
        </p:sp>
        <p:sp>
          <p:nvSpPr>
            <p:cNvPr id="10" name="TextBox 10"/>
            <p:cNvSpPr txBox="1"/>
            <p:nvPr/>
          </p:nvSpPr>
          <p:spPr>
            <a:xfrm>
              <a:off x="823912" y="2850356"/>
              <a:ext cx="276427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Everything becomes a flat visual</a:t>
              </a:r>
            </a:p>
          </p:txBody>
        </p:sp>
        <p:sp>
          <p:nvSpPr>
            <p:cNvPr id="11" name="TextBox 11"/>
            <p:cNvSpPr txBox="1"/>
            <p:nvPr/>
          </p:nvSpPr>
          <p:spPr>
            <a:xfrm>
              <a:off x="823912" y="3088481"/>
              <a:ext cx="2082403"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Text cannot be selected</a:t>
              </a:r>
            </a:p>
          </p:txBody>
        </p:sp>
        <p:sp>
          <p:nvSpPr>
            <p:cNvPr id="12" name="TextBox 12"/>
            <p:cNvSpPr txBox="1"/>
            <p:nvPr/>
          </p:nvSpPr>
          <p:spPr>
            <a:xfrm>
              <a:off x="823912" y="3326606"/>
              <a:ext cx="282178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Scaling behaves like a screenshot</a:t>
              </a:r>
            </a:p>
          </p:txBody>
        </p:sp>
      </p:grpSp>
      <p:grpSp>
        <p:nvGrpSpPr>
          <p:cNvPr id="21" name="Group 21"/>
          <p:cNvGrpSpPr/>
          <p:nvPr/>
        </p:nvGrpSpPr>
        <p:grpSpPr>
          <a:xfrm>
            <a:off x="3333750" y="1524000"/>
            <a:ext cx="3222069" cy="4495800"/>
            <a:chOff x="3333750" y="1524000"/>
            <a:chExt cx="3222069" cy="4495800"/>
          </a:xfrm>
          <a:effectLst>
            <a:outerShdw blurRad="133350" dist="38100" dir="10799140" algn="tl" rotWithShape="0">
              <a:srgbClr val="0F172A">
                <a:alpha val="10000"/>
              </a:srgbClr>
            </a:outerShdw>
          </a:effectLst>
        </p:grpSpPr>
        <p:sp>
          <p:nvSpPr>
            <p:cNvPr id="14" name="Freeform 14"/>
            <p:cNvSpPr/>
            <p:nvPr/>
          </p:nvSpPr>
          <p:spPr>
            <a:xfrm>
              <a:off x="333375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15" name="Freeform 15"/>
            <p:cNvSpPr/>
            <p:nvPr/>
          </p:nvSpPr>
          <p:spPr>
            <a:xfrm>
              <a:off x="333375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E74C3C"/>
            </a:solidFill>
            <a:ln>
              <a:noFill/>
            </a:ln>
            <a:effectLst>
              <a:outerShdw blurRad="133350" dist="38100" dir="10799140" algn="tl" rotWithShape="0">
                <a:srgbClr val="0F172A">
                  <a:alpha val="10000"/>
                </a:srgbClr>
              </a:outerShdw>
            </a:effectLst>
          </p:spPr>
        </p:sp>
        <p:sp>
          <p:nvSpPr>
            <p:cNvPr id="16" name="TextBox 16"/>
            <p:cNvSpPr txBox="1"/>
            <p:nvPr/>
          </p:nvSpPr>
          <p:spPr>
            <a:xfrm>
              <a:off x="3579495" y="1860232"/>
              <a:ext cx="2116769"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HTML/CSS export</a:t>
              </a:r>
            </a:p>
          </p:txBody>
        </p:sp>
        <p:sp>
          <p:nvSpPr>
            <p:cNvPr id="17" name="TextBox 17"/>
            <p:cNvSpPr txBox="1"/>
            <p:nvPr/>
          </p:nvSpPr>
          <p:spPr>
            <a:xfrm>
              <a:off x="3585210" y="2232660"/>
              <a:ext cx="2685669"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E74C3C"/>
                  </a:solidFill>
                  <a:latin typeface="Arial"/>
                  <a:ea typeface="Microsoft YaHei"/>
                  <a:cs typeface="Arial"/>
                </a:rPr>
                <a:t>Strong on the web, weak in PPT</a:t>
              </a:r>
            </a:p>
          </p:txBody>
        </p:sp>
        <p:sp>
          <p:nvSpPr>
            <p:cNvPr id="18" name="TextBox 18"/>
            <p:cNvSpPr txBox="1"/>
            <p:nvPr/>
          </p:nvSpPr>
          <p:spPr>
            <a:xfrm>
              <a:off x="3586162" y="2850356"/>
              <a:ext cx="2969657"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Browser flow is not slide geometry</a:t>
              </a:r>
            </a:p>
          </p:txBody>
        </p:sp>
        <p:sp>
          <p:nvSpPr>
            <p:cNvPr id="19" name="TextBox 19"/>
            <p:cNvSpPr txBox="1"/>
            <p:nvPr/>
          </p:nvSpPr>
          <p:spPr>
            <a:xfrm>
              <a:off x="3586162" y="3088481"/>
              <a:ext cx="212348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Layouts break on export</a:t>
              </a:r>
            </a:p>
          </p:txBody>
        </p:sp>
        <p:sp>
          <p:nvSpPr>
            <p:cNvPr id="20" name="TextBox 20"/>
            <p:cNvSpPr txBox="1"/>
            <p:nvPr/>
          </p:nvSpPr>
          <p:spPr>
            <a:xfrm>
              <a:off x="3586162" y="3326606"/>
              <a:ext cx="252603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Elements often get flattened</a:t>
              </a:r>
            </a:p>
          </p:txBody>
        </p:sp>
      </p:grpSp>
      <p:grpSp>
        <p:nvGrpSpPr>
          <p:cNvPr id="29" name="Group 29"/>
          <p:cNvGrpSpPr/>
          <p:nvPr/>
        </p:nvGrpSpPr>
        <p:grpSpPr>
          <a:xfrm>
            <a:off x="6096000" y="1524000"/>
            <a:ext cx="3953232" cy="4495800"/>
            <a:chOff x="6096000" y="1524000"/>
            <a:chExt cx="3953232" cy="4495800"/>
          </a:xfrm>
          <a:effectLst>
            <a:outerShdw blurRad="133350" dist="38100" dir="10799140" algn="tl" rotWithShape="0">
              <a:srgbClr val="0F172A">
                <a:alpha val="10000"/>
              </a:srgbClr>
            </a:outerShdw>
          </a:effectLst>
        </p:grpSpPr>
        <p:sp>
          <p:nvSpPr>
            <p:cNvPr id="22" name="Freeform 22"/>
            <p:cNvSpPr/>
            <p:nvPr/>
          </p:nvSpPr>
          <p:spPr>
            <a:xfrm>
              <a:off x="609600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23" name="Freeform 23"/>
            <p:cNvSpPr/>
            <p:nvPr/>
          </p:nvSpPr>
          <p:spPr>
            <a:xfrm>
              <a:off x="609600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E74C3C"/>
            </a:solidFill>
            <a:ln>
              <a:noFill/>
            </a:ln>
            <a:effectLst>
              <a:outerShdw blurRad="133350" dist="38100" dir="10799140" algn="tl" rotWithShape="0">
                <a:srgbClr val="0F172A">
                  <a:alpha val="10000"/>
                </a:srgbClr>
              </a:outerShdw>
            </a:effectLst>
          </p:spPr>
        </p:sp>
        <p:sp>
          <p:nvSpPr>
            <p:cNvPr id="24" name="TextBox 24"/>
            <p:cNvSpPr txBox="1"/>
            <p:nvPr/>
          </p:nvSpPr>
          <p:spPr>
            <a:xfrm>
              <a:off x="6341745" y="1860232"/>
              <a:ext cx="2420407"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Direct python-pptx</a:t>
              </a:r>
            </a:p>
          </p:txBody>
        </p:sp>
        <p:sp>
          <p:nvSpPr>
            <p:cNvPr id="25" name="TextBox 25"/>
            <p:cNvSpPr txBox="1"/>
            <p:nvPr/>
          </p:nvSpPr>
          <p:spPr>
            <a:xfrm>
              <a:off x="6347460" y="2232660"/>
              <a:ext cx="2606802"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E74C3C"/>
                  </a:solidFill>
                  <a:latin typeface="Arial"/>
                  <a:ea typeface="Microsoft YaHei"/>
                  <a:cs typeface="Arial"/>
                </a:rPr>
                <a:t>Editable objects, weak visuals</a:t>
              </a:r>
            </a:p>
          </p:txBody>
        </p:sp>
        <p:sp>
          <p:nvSpPr>
            <p:cNvPr id="26" name="TextBox 26"/>
            <p:cNvSpPr txBox="1"/>
            <p:nvPr/>
          </p:nvSpPr>
          <p:spPr>
            <a:xfrm>
              <a:off x="6348412" y="2850356"/>
              <a:ext cx="324076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AI has less design-native training data</a:t>
              </a:r>
            </a:p>
          </p:txBody>
        </p:sp>
        <p:sp>
          <p:nvSpPr>
            <p:cNvPr id="27" name="TextBox 27"/>
            <p:cNvSpPr txBox="1"/>
            <p:nvPr/>
          </p:nvSpPr>
          <p:spPr>
            <a:xfrm>
              <a:off x="6348412" y="3088481"/>
              <a:ext cx="3248977"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Results skew toward boxes and bullets</a:t>
              </a:r>
            </a:p>
          </p:txBody>
        </p:sp>
        <p:sp>
          <p:nvSpPr>
            <p:cNvPr id="28" name="TextBox 28"/>
            <p:cNvSpPr txBox="1"/>
            <p:nvPr/>
          </p:nvSpPr>
          <p:spPr>
            <a:xfrm>
              <a:off x="6348412" y="3326606"/>
              <a:ext cx="370082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Complex design systems are hard to express</a:t>
              </a:r>
            </a:p>
          </p:txBody>
        </p:sp>
      </p:grpSp>
      <p:grpSp>
        <p:nvGrpSpPr>
          <p:cNvPr id="44" name="Group 44"/>
          <p:cNvGrpSpPr/>
          <p:nvPr/>
        </p:nvGrpSpPr>
        <p:grpSpPr>
          <a:xfrm>
            <a:off x="8858250" y="1524000"/>
            <a:ext cx="5032296" cy="4495800"/>
            <a:chOff x="8858250" y="1524000"/>
            <a:chExt cx="5032296" cy="4495800"/>
          </a:xfrm>
          <a:effectLst>
            <a:outerShdw blurRad="133350" dist="38100" dir="10799140" algn="tl" rotWithShape="0">
              <a:srgbClr val="0F172A">
                <a:alpha val="10000"/>
              </a:srgbClr>
            </a:outerShdw>
          </a:effectLst>
        </p:grpSpPr>
        <p:sp>
          <p:nvSpPr>
            <p:cNvPr id="30" name="Freeform 30"/>
            <p:cNvSpPr/>
            <p:nvPr/>
          </p:nvSpPr>
          <p:spPr>
            <a:xfrm>
              <a:off x="8858250" y="1524000"/>
              <a:ext cx="2762250" cy="4495800"/>
            </a:xfrm>
            <a:custGeom>
              <a:avLst/>
              <a:gdLst/>
              <a:ahLst/>
              <a:cxnLst/>
              <a:rect l="l" t="t" r="r" b="b"/>
              <a:pathLst>
                <a:path w="2762250" h="4495800">
                  <a:moveTo>
                    <a:pt x="228600" y="0"/>
                  </a:moveTo>
                  <a:lnTo>
                    <a:pt x="2533650" y="0"/>
                  </a:lnTo>
                  <a:cubicBezTo>
                    <a:pt x="2659902" y="0"/>
                    <a:pt x="2762250" y="102348"/>
                    <a:pt x="2762250" y="228600"/>
                  </a:cubicBezTo>
                  <a:lnTo>
                    <a:pt x="2762250" y="4267200"/>
                  </a:lnTo>
                  <a:cubicBezTo>
                    <a:pt x="2762250" y="4393452"/>
                    <a:pt x="2659902" y="4495800"/>
                    <a:pt x="25336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31" name="Freeform 31"/>
            <p:cNvSpPr/>
            <p:nvPr/>
          </p:nvSpPr>
          <p:spPr>
            <a:xfrm>
              <a:off x="8858250" y="1524000"/>
              <a:ext cx="2762250" cy="114300"/>
            </a:xfrm>
            <a:custGeom>
              <a:avLst/>
              <a:gdLst/>
              <a:ahLst/>
              <a:cxnLst/>
              <a:rect l="l" t="t" r="r" b="b"/>
              <a:pathLst>
                <a:path w="2762250" h="114300">
                  <a:moveTo>
                    <a:pt x="57150" y="0"/>
                  </a:moveTo>
                  <a:lnTo>
                    <a:pt x="2705100" y="0"/>
                  </a:lnTo>
                  <a:cubicBezTo>
                    <a:pt x="2736663" y="0"/>
                    <a:pt x="2762250" y="25587"/>
                    <a:pt x="2762250" y="57150"/>
                  </a:cubicBezTo>
                  <a:lnTo>
                    <a:pt x="2762250" y="57150"/>
                  </a:lnTo>
                  <a:cubicBezTo>
                    <a:pt x="2762250" y="88713"/>
                    <a:pt x="2736663" y="114300"/>
                    <a:pt x="2705100" y="114300"/>
                  </a:cubicBezTo>
                  <a:lnTo>
                    <a:pt x="57150" y="114300"/>
                  </a:lnTo>
                  <a:cubicBezTo>
                    <a:pt x="25587" y="114300"/>
                    <a:pt x="0" y="88713"/>
                    <a:pt x="0" y="57150"/>
                  </a:cubicBezTo>
                  <a:lnTo>
                    <a:pt x="0" y="57150"/>
                  </a:lnTo>
                  <a:cubicBezTo>
                    <a:pt x="0" y="25587"/>
                    <a:pt x="25587" y="0"/>
                    <a:pt x="57150" y="0"/>
                  </a:cubicBezTo>
                  <a:close/>
                </a:path>
              </a:pathLst>
            </a:custGeom>
            <a:solidFill>
              <a:srgbClr val="005587"/>
            </a:solidFill>
            <a:ln>
              <a:noFill/>
            </a:ln>
            <a:effectLst>
              <a:outerShdw blurRad="133350" dist="38100" dir="10799140" algn="tl" rotWithShape="0">
                <a:srgbClr val="0F172A">
                  <a:alpha val="10000"/>
                </a:srgbClr>
              </a:outerShdw>
            </a:effectLst>
          </p:spPr>
        </p:sp>
        <p:grpSp>
          <p:nvGrpSpPr>
            <p:cNvPr id="35" name="Group 35"/>
            <p:cNvGrpSpPr/>
            <p:nvPr/>
          </p:nvGrpSpPr>
          <p:grpSpPr>
            <a:xfrm>
              <a:off x="9124950" y="1857375"/>
              <a:ext cx="304800" cy="266700"/>
              <a:chOff x="9124950" y="1857375"/>
              <a:chExt cx="304800" cy="266700"/>
            </a:xfrm>
          </p:grpSpPr>
          <p:sp>
            <p:nvSpPr>
              <p:cNvPr id="32" name="Freeform 32"/>
              <p:cNvSpPr/>
              <p:nvPr/>
            </p:nvSpPr>
            <p:spPr>
              <a:xfrm>
                <a:off x="9353550" y="1857375"/>
                <a:ext cx="76200" cy="266700"/>
              </a:xfrm>
              <a:custGeom>
                <a:avLst/>
                <a:gdLst/>
                <a:ahLst/>
                <a:cxnLst/>
                <a:rect l="l" t="t" r="r" b="b"/>
                <a:pathLst>
                  <a:path w="76200" h="266700">
                    <a:moveTo>
                      <a:pt x="76200" y="0"/>
                    </a:moveTo>
                    <a:lnTo>
                      <a:pt x="0" y="0"/>
                    </a:lnTo>
                    <a:lnTo>
                      <a:pt x="0" y="266700"/>
                    </a:lnTo>
                    <a:lnTo>
                      <a:pt x="76200" y="266700"/>
                    </a:lnTo>
                    <a:lnTo>
                      <a:pt x="76200" y="0"/>
                    </a:lnTo>
                    <a:close/>
                  </a:path>
                </a:pathLst>
              </a:custGeom>
              <a:solidFill>
                <a:srgbClr val="005587"/>
              </a:solidFill>
              <a:ln>
                <a:noFill/>
              </a:ln>
              <a:effectLst>
                <a:outerShdw blurRad="133350" dist="38100" dir="10799140" algn="tl" rotWithShape="0">
                  <a:srgbClr val="0F172A">
                    <a:alpha val="10000"/>
                  </a:srgbClr>
                </a:outerShdw>
              </a:effectLst>
            </p:spPr>
          </p:sp>
          <p:sp>
            <p:nvSpPr>
              <p:cNvPr id="33" name="Freeform 33"/>
              <p:cNvSpPr/>
              <p:nvPr/>
            </p:nvSpPr>
            <p:spPr>
              <a:xfrm>
                <a:off x="9239250" y="1933575"/>
                <a:ext cx="76200" cy="190500"/>
              </a:xfrm>
              <a:custGeom>
                <a:avLst/>
                <a:gdLst/>
                <a:ahLst/>
                <a:cxnLst/>
                <a:rect l="l" t="t" r="r" b="b"/>
                <a:pathLst>
                  <a:path w="76200" h="190500">
                    <a:moveTo>
                      <a:pt x="0" y="0"/>
                    </a:moveTo>
                    <a:lnTo>
                      <a:pt x="76200" y="0"/>
                    </a:lnTo>
                    <a:lnTo>
                      <a:pt x="76200" y="190500"/>
                    </a:lnTo>
                    <a:lnTo>
                      <a:pt x="0" y="190500"/>
                    </a:lnTo>
                    <a:lnTo>
                      <a:pt x="0" y="0"/>
                    </a:lnTo>
                    <a:close/>
                  </a:path>
                </a:pathLst>
              </a:custGeom>
              <a:solidFill>
                <a:srgbClr val="005587"/>
              </a:solidFill>
              <a:ln>
                <a:noFill/>
              </a:ln>
              <a:effectLst>
                <a:outerShdw blurRad="133350" dist="38100" dir="10799140" algn="tl" rotWithShape="0">
                  <a:srgbClr val="0F172A">
                    <a:alpha val="10000"/>
                  </a:srgbClr>
                </a:outerShdw>
              </a:effectLst>
            </p:spPr>
          </p:sp>
          <p:sp>
            <p:nvSpPr>
              <p:cNvPr id="34" name="Freeform 34"/>
              <p:cNvSpPr/>
              <p:nvPr/>
            </p:nvSpPr>
            <p:spPr>
              <a:xfrm>
                <a:off x="9124950" y="2009775"/>
                <a:ext cx="76200" cy="114300"/>
              </a:xfrm>
              <a:custGeom>
                <a:avLst/>
                <a:gdLst/>
                <a:ahLst/>
                <a:cxnLst/>
                <a:rect l="l" t="t" r="r" b="b"/>
                <a:pathLst>
                  <a:path w="76200" h="114300">
                    <a:moveTo>
                      <a:pt x="0" y="0"/>
                    </a:moveTo>
                    <a:lnTo>
                      <a:pt x="76200" y="0"/>
                    </a:lnTo>
                    <a:lnTo>
                      <a:pt x="76200" y="114300"/>
                    </a:lnTo>
                    <a:lnTo>
                      <a:pt x="0" y="114300"/>
                    </a:lnTo>
                    <a:lnTo>
                      <a:pt x="0" y="0"/>
                    </a:lnTo>
                    <a:close/>
                  </a:path>
                </a:pathLst>
              </a:custGeom>
              <a:solidFill>
                <a:srgbClr val="005587"/>
              </a:solidFill>
              <a:ln>
                <a:noFill/>
              </a:ln>
              <a:effectLst>
                <a:outerShdw blurRad="133350" dist="38100" dir="10799140" algn="tl" rotWithShape="0">
                  <a:srgbClr val="0F172A">
                    <a:alpha val="10000"/>
                  </a:srgbClr>
                </a:outerShdw>
              </a:effectLst>
            </p:spPr>
          </p:sp>
        </p:grpSp>
        <p:sp>
          <p:nvSpPr>
            <p:cNvPr id="36" name="TextBox 36"/>
            <p:cNvSpPr txBox="1"/>
            <p:nvPr/>
          </p:nvSpPr>
          <p:spPr>
            <a:xfrm>
              <a:off x="9580245" y="1860232"/>
              <a:ext cx="2053511"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PPT Master path</a:t>
              </a:r>
            </a:p>
          </p:txBody>
        </p:sp>
        <p:sp>
          <p:nvSpPr>
            <p:cNvPr id="37" name="TextBox 37"/>
            <p:cNvSpPr txBox="1"/>
            <p:nvPr/>
          </p:nvSpPr>
          <p:spPr>
            <a:xfrm>
              <a:off x="9109710" y="2232660"/>
              <a:ext cx="2966085"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005587"/>
                  </a:solidFill>
                  <a:latin typeface="Arial"/>
                  <a:ea typeface="Microsoft YaHei"/>
                  <a:cs typeface="Arial"/>
                </a:rPr>
                <a:t>SVG -&gt; post-process -&gt; DrawingML</a:t>
              </a:r>
            </a:p>
          </p:txBody>
        </p:sp>
        <p:sp>
          <p:nvSpPr>
            <p:cNvPr id="38" name="TextBox 38"/>
            <p:cNvSpPr txBox="1"/>
            <p:nvPr/>
          </p:nvSpPr>
          <p:spPr>
            <a:xfrm>
              <a:off x="9110662" y="2850356"/>
              <a:ext cx="338863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Keeps the vector/canvas mindset intact</a:t>
              </a:r>
            </a:p>
          </p:txBody>
        </p:sp>
        <p:sp>
          <p:nvSpPr>
            <p:cNvPr id="39" name="TextBox 39"/>
            <p:cNvSpPr txBox="1"/>
            <p:nvPr/>
          </p:nvSpPr>
          <p:spPr>
            <a:xfrm>
              <a:off x="9110662" y="3088481"/>
              <a:ext cx="328183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Preserves editable native slide objects</a:t>
              </a:r>
            </a:p>
          </p:txBody>
        </p:sp>
        <p:sp>
          <p:nvSpPr>
            <p:cNvPr id="40" name="TextBox 40"/>
            <p:cNvSpPr txBox="1"/>
            <p:nvPr/>
          </p:nvSpPr>
          <p:spPr>
            <a:xfrm>
              <a:off x="9110662" y="3326606"/>
              <a:ext cx="388977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Makes the engineering transformation explicit</a:t>
              </a:r>
            </a:p>
          </p:txBody>
        </p:sp>
        <p:sp>
          <p:nvSpPr>
            <p:cNvPr id="41" name="Freeform 41"/>
            <p:cNvSpPr/>
            <p:nvPr/>
          </p:nvSpPr>
          <p:spPr>
            <a:xfrm>
              <a:off x="9124950" y="4857750"/>
              <a:ext cx="2228850" cy="704850"/>
            </a:xfrm>
            <a:custGeom>
              <a:avLst/>
              <a:gdLst/>
              <a:ahLst/>
              <a:cxnLst/>
              <a:rect l="l" t="t" r="r" b="b"/>
              <a:pathLst>
                <a:path w="2228850" h="704850">
                  <a:moveTo>
                    <a:pt x="171450" y="0"/>
                  </a:moveTo>
                  <a:lnTo>
                    <a:pt x="2057400" y="0"/>
                  </a:lnTo>
                  <a:cubicBezTo>
                    <a:pt x="2152089" y="0"/>
                    <a:pt x="2228850" y="76761"/>
                    <a:pt x="2228850" y="171450"/>
                  </a:cubicBezTo>
                  <a:lnTo>
                    <a:pt x="2228850" y="533400"/>
                  </a:lnTo>
                  <a:cubicBezTo>
                    <a:pt x="2228850" y="628089"/>
                    <a:pt x="2152089" y="704850"/>
                    <a:pt x="2057400" y="704850"/>
                  </a:cubicBezTo>
                  <a:lnTo>
                    <a:pt x="171450" y="704850"/>
                  </a:lnTo>
                  <a:cubicBezTo>
                    <a:pt x="76761" y="704850"/>
                    <a:pt x="0" y="628089"/>
                    <a:pt x="0" y="533400"/>
                  </a:cubicBezTo>
                  <a:lnTo>
                    <a:pt x="0" y="171450"/>
                  </a:lnTo>
                  <a:cubicBezTo>
                    <a:pt x="0" y="76761"/>
                    <a:pt x="76761" y="0"/>
                    <a:pt x="17145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42" name="TextBox 42"/>
            <p:cNvSpPr txBox="1"/>
            <p:nvPr/>
          </p:nvSpPr>
          <p:spPr>
            <a:xfrm>
              <a:off x="9376410" y="5013960"/>
              <a:ext cx="1843107"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b="1" dirty="0">
                  <a:solidFill>
                    <a:srgbClr val="2C3E50"/>
                  </a:solidFill>
                  <a:latin typeface="Arial"/>
                  <a:ea typeface="Microsoft YaHei"/>
                  <a:cs typeface="Arial"/>
                </a:rPr>
                <a:t>Positioning summary</a:t>
              </a:r>
            </a:p>
          </p:txBody>
        </p:sp>
        <p:sp>
          <p:nvSpPr>
            <p:cNvPr id="43" name="TextBox 43"/>
            <p:cNvSpPr txBox="1"/>
            <p:nvPr/>
          </p:nvSpPr>
          <p:spPr>
            <a:xfrm>
              <a:off x="9378315" y="5277802"/>
              <a:ext cx="4512231" cy="21336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050" dirty="0">
                  <a:solidFill>
                    <a:srgbClr val="5D6D7E"/>
                  </a:solidFill>
                  <a:latin typeface="Arial"/>
                  <a:ea typeface="Microsoft YaHei"/>
                  <a:cs typeface="Arial"/>
                </a:rPr>
                <a:t>A bridge between design quality and object-level editability.</a:t>
              </a:r>
            </a:p>
          </p:txBody>
        </p:sp>
      </p:grpSp>
      <p:sp>
        <p:nvSpPr>
          <p:cNvPr id="45" name="TextBox 45"/>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03</a:t>
            </a:r>
          </a:p>
        </p:txBody>
      </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8785160"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The framework is optimized for usable output</a:t>
            </a:r>
          </a:p>
        </p:txBody>
      </p:sp>
      <p:sp>
        <p:nvSpPr>
          <p:cNvPr id="5" name="TextBox 5"/>
          <p:cNvSpPr txBox="1"/>
          <p:nvPr/>
        </p:nvSpPr>
        <p:spPr>
          <a:xfrm>
            <a:off x="556260" y="975360"/>
            <a:ext cx="7522845"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docs repeat four durable themes: editability, cost clarity, privacy, and openness.</a:t>
            </a:r>
          </a:p>
        </p:txBody>
      </p:sp>
      <p:grpSp>
        <p:nvGrpSpPr>
          <p:cNvPr id="14" name="Group 14"/>
          <p:cNvGrpSpPr/>
          <p:nvPr/>
        </p:nvGrpSpPr>
        <p:grpSpPr>
          <a:xfrm>
            <a:off x="571500" y="1581150"/>
            <a:ext cx="7044309" cy="2038350"/>
            <a:chOff x="571500" y="1581150"/>
            <a:chExt cx="7044309" cy="2038350"/>
          </a:xfrm>
          <a:effectLst>
            <a:outerShdw blurRad="152400" dist="38100" dir="10799140" algn="tl" rotWithShape="0">
              <a:srgbClr val="0F172A">
                <a:alpha val="10000"/>
              </a:srgbClr>
            </a:outerShdw>
          </a:effectLst>
        </p:grpSpPr>
        <p:sp>
          <p:nvSpPr>
            <p:cNvPr id="6" name="Freeform 6"/>
            <p:cNvSpPr/>
            <p:nvPr/>
          </p:nvSpPr>
          <p:spPr>
            <a:xfrm>
              <a:off x="571500" y="15811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grpSp>
          <p:nvGrpSpPr>
            <p:cNvPr id="10" name="Group 10"/>
            <p:cNvGrpSpPr/>
            <p:nvPr/>
          </p:nvGrpSpPr>
          <p:grpSpPr>
            <a:xfrm>
              <a:off x="939403" y="1943100"/>
              <a:ext cx="350044" cy="400050"/>
              <a:chOff x="939403" y="1943100"/>
              <a:chExt cx="350044" cy="400050"/>
            </a:xfrm>
          </p:grpSpPr>
          <p:sp>
            <p:nvSpPr>
              <p:cNvPr id="7" name="Freeform 7"/>
              <p:cNvSpPr/>
              <p:nvPr/>
            </p:nvSpPr>
            <p:spPr>
              <a:xfrm>
                <a:off x="939403" y="1943100"/>
                <a:ext cx="350044" cy="200025"/>
              </a:xfrm>
              <a:custGeom>
                <a:avLst/>
                <a:gdLst/>
                <a:ahLst/>
                <a:cxnLst/>
                <a:rect l="l" t="t" r="r" b="b"/>
                <a:pathLst>
                  <a:path w="350044" h="200025">
                    <a:moveTo>
                      <a:pt x="0" y="125016"/>
                    </a:moveTo>
                    <a:lnTo>
                      <a:pt x="0" y="75009"/>
                    </a:lnTo>
                    <a:lnTo>
                      <a:pt x="175022" y="0"/>
                    </a:lnTo>
                    <a:lnTo>
                      <a:pt x="350044" y="75009"/>
                    </a:lnTo>
                    <a:lnTo>
                      <a:pt x="350044" y="125016"/>
                    </a:lnTo>
                    <a:lnTo>
                      <a:pt x="175022" y="200025"/>
                    </a:lnTo>
                    <a:lnTo>
                      <a:pt x="0" y="125016"/>
                    </a:lnTo>
                    <a:close/>
                  </a:path>
                </a:pathLst>
              </a:custGeom>
              <a:solidFill>
                <a:srgbClr val="005587"/>
              </a:solidFill>
              <a:ln>
                <a:noFill/>
              </a:ln>
              <a:effectLst>
                <a:outerShdw blurRad="152400" dist="38100" dir="10799140" algn="tl" rotWithShape="0">
                  <a:srgbClr val="0F172A">
                    <a:alpha val="10000"/>
                  </a:srgbClr>
                </a:outerShdw>
              </a:effectLst>
            </p:spPr>
          </p:sp>
          <p:sp>
            <p:nvSpPr>
              <p:cNvPr id="8" name="Freeform 8"/>
              <p:cNvSpPr/>
              <p:nvPr/>
            </p:nvSpPr>
            <p:spPr>
              <a:xfrm>
                <a:off x="939403" y="2218134"/>
                <a:ext cx="350044" cy="125016"/>
              </a:xfrm>
              <a:custGeom>
                <a:avLst/>
                <a:gdLst/>
                <a:ahLst/>
                <a:cxnLst/>
                <a:rect l="l" t="t" r="r" b="b"/>
                <a:pathLst>
                  <a:path w="350044" h="125016">
                    <a:moveTo>
                      <a:pt x="175022" y="125016"/>
                    </a:moveTo>
                    <a:lnTo>
                      <a:pt x="0" y="50006"/>
                    </a:lnTo>
                    <a:lnTo>
                      <a:pt x="0" y="0"/>
                    </a:lnTo>
                    <a:lnTo>
                      <a:pt x="175022" y="75009"/>
                    </a:lnTo>
                    <a:lnTo>
                      <a:pt x="350044" y="0"/>
                    </a:lnTo>
                    <a:lnTo>
                      <a:pt x="350044" y="50006"/>
                    </a:lnTo>
                    <a:lnTo>
                      <a:pt x="175022" y="125016"/>
                    </a:lnTo>
                    <a:close/>
                  </a:path>
                </a:pathLst>
              </a:custGeom>
              <a:solidFill>
                <a:srgbClr val="005587"/>
              </a:solidFill>
              <a:ln>
                <a:noFill/>
              </a:ln>
              <a:effectLst>
                <a:outerShdw blurRad="152400" dist="38100" dir="10799140" algn="tl" rotWithShape="0">
                  <a:srgbClr val="0F172A">
                    <a:alpha val="10000"/>
                  </a:srgbClr>
                </a:outerShdw>
              </a:effectLst>
            </p:spPr>
          </p:sp>
          <p:sp>
            <p:nvSpPr>
              <p:cNvPr id="9" name="Freeform 9"/>
              <p:cNvSpPr/>
              <p:nvPr/>
            </p:nvSpPr>
            <p:spPr>
              <a:xfrm>
                <a:off x="939403" y="2118122"/>
                <a:ext cx="350044" cy="125016"/>
              </a:xfrm>
              <a:custGeom>
                <a:avLst/>
                <a:gdLst/>
                <a:ahLst/>
                <a:cxnLst/>
                <a:rect l="l" t="t" r="r" b="b"/>
                <a:pathLst>
                  <a:path w="350044" h="125016">
                    <a:moveTo>
                      <a:pt x="0" y="50006"/>
                    </a:moveTo>
                    <a:lnTo>
                      <a:pt x="175022" y="125016"/>
                    </a:lnTo>
                    <a:lnTo>
                      <a:pt x="350044" y="50006"/>
                    </a:lnTo>
                    <a:lnTo>
                      <a:pt x="350044" y="0"/>
                    </a:lnTo>
                    <a:lnTo>
                      <a:pt x="175022" y="75009"/>
                    </a:lnTo>
                    <a:lnTo>
                      <a:pt x="0" y="0"/>
                    </a:lnTo>
                    <a:lnTo>
                      <a:pt x="0" y="50006"/>
                    </a:lnTo>
                    <a:close/>
                  </a:path>
                </a:pathLst>
              </a:custGeom>
              <a:solidFill>
                <a:srgbClr val="005587"/>
              </a:solidFill>
              <a:ln>
                <a:noFill/>
              </a:ln>
              <a:effectLst>
                <a:outerShdw blurRad="152400" dist="38100" dir="10799140" algn="tl" rotWithShape="0">
                  <a:srgbClr val="0F172A">
                    <a:alpha val="10000"/>
                  </a:srgbClr>
                </a:outerShdw>
              </a:effectLst>
            </p:spPr>
          </p:sp>
        </p:grpSp>
        <p:sp>
          <p:nvSpPr>
            <p:cNvPr id="11" name="TextBox 11"/>
            <p:cNvSpPr txBox="1"/>
            <p:nvPr/>
          </p:nvSpPr>
          <p:spPr>
            <a:xfrm>
              <a:off x="1443990" y="2015490"/>
              <a:ext cx="3164910"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2C3E50"/>
                  </a:solidFill>
                  <a:latin typeface="Arial"/>
                  <a:ea typeface="Microsoft YaHei"/>
                  <a:cs typeface="Arial"/>
                </a:rPr>
                <a:t>Real PowerPoint output</a:t>
              </a:r>
            </a:p>
          </p:txBody>
        </p:sp>
        <p:sp>
          <p:nvSpPr>
            <p:cNvPr id="12" name="TextBox 12"/>
            <p:cNvSpPr txBox="1"/>
            <p:nvPr/>
          </p:nvSpPr>
          <p:spPr>
            <a:xfrm>
              <a:off x="899160" y="2594610"/>
              <a:ext cx="671664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 native deck is intended for editing and delivery, while the SVG backup deck</a:t>
              </a:r>
            </a:p>
          </p:txBody>
        </p:sp>
        <p:sp>
          <p:nvSpPr>
            <p:cNvPr id="13" name="TextBox 13"/>
            <p:cNvSpPr txBox="1"/>
            <p:nvPr/>
          </p:nvSpPr>
          <p:spPr>
            <a:xfrm>
              <a:off x="899160" y="2823210"/>
              <a:ext cx="305371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acts as a visual reference version.</a:t>
              </a:r>
            </a:p>
          </p:txBody>
        </p:sp>
      </p:grpSp>
      <p:grpSp>
        <p:nvGrpSpPr>
          <p:cNvPr id="20" name="Group 20"/>
          <p:cNvGrpSpPr/>
          <p:nvPr/>
        </p:nvGrpSpPr>
        <p:grpSpPr>
          <a:xfrm>
            <a:off x="6305550" y="1581150"/>
            <a:ext cx="7000494" cy="2038350"/>
            <a:chOff x="6305550" y="1581150"/>
            <a:chExt cx="7000494" cy="2038350"/>
          </a:xfrm>
          <a:effectLst>
            <a:outerShdw blurRad="152400" dist="38100" dir="10799140" algn="tl" rotWithShape="0">
              <a:srgbClr val="0F172A">
                <a:alpha val="10000"/>
              </a:srgbClr>
            </a:outerShdw>
          </a:effectLst>
        </p:grpSpPr>
        <p:sp>
          <p:nvSpPr>
            <p:cNvPr id="15" name="Freeform 15"/>
            <p:cNvSpPr/>
            <p:nvPr/>
          </p:nvSpPr>
          <p:spPr>
            <a:xfrm>
              <a:off x="6305550" y="15811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6" name="Freeform 16"/>
            <p:cNvSpPr/>
            <p:nvPr/>
          </p:nvSpPr>
          <p:spPr>
            <a:xfrm>
              <a:off x="6698456" y="1943100"/>
              <a:ext cx="300038" cy="400050"/>
            </a:xfrm>
            <a:custGeom>
              <a:avLst/>
              <a:gdLst/>
              <a:ahLst/>
              <a:cxnLst/>
              <a:rect l="l" t="t" r="r" b="b"/>
              <a:pathLst>
                <a:path w="300038" h="400050">
                  <a:moveTo>
                    <a:pt x="105415" y="375047"/>
                  </a:moveTo>
                  <a:lnTo>
                    <a:pt x="102637" y="400050"/>
                  </a:lnTo>
                  <a:lnTo>
                    <a:pt x="152951" y="400050"/>
                  </a:lnTo>
                  <a:lnTo>
                    <a:pt x="155729" y="375047"/>
                  </a:lnTo>
                  <a:lnTo>
                    <a:pt x="200100" y="375047"/>
                  </a:lnTo>
                  <a:cubicBezTo>
                    <a:pt x="255294" y="375047"/>
                    <a:pt x="300038" y="330304"/>
                    <a:pt x="300038" y="275109"/>
                  </a:cubicBezTo>
                  <a:cubicBezTo>
                    <a:pt x="300038" y="228269"/>
                    <a:pt x="267506" y="187713"/>
                    <a:pt x="221780" y="177552"/>
                  </a:cubicBezTo>
                  <a:lnTo>
                    <a:pt x="178735" y="167987"/>
                  </a:lnTo>
                  <a:lnTo>
                    <a:pt x="186288" y="100012"/>
                  </a:lnTo>
                  <a:lnTo>
                    <a:pt x="275034" y="100012"/>
                  </a:lnTo>
                  <a:lnTo>
                    <a:pt x="275034" y="25003"/>
                  </a:lnTo>
                  <a:lnTo>
                    <a:pt x="194623" y="25003"/>
                  </a:lnTo>
                  <a:lnTo>
                    <a:pt x="197401" y="0"/>
                  </a:lnTo>
                  <a:lnTo>
                    <a:pt x="147087" y="0"/>
                  </a:lnTo>
                  <a:lnTo>
                    <a:pt x="144309" y="25003"/>
                  </a:lnTo>
                  <a:lnTo>
                    <a:pt x="99937" y="25003"/>
                  </a:lnTo>
                  <a:cubicBezTo>
                    <a:pt x="44743" y="25003"/>
                    <a:pt x="0" y="69746"/>
                    <a:pt x="0" y="124940"/>
                  </a:cubicBezTo>
                  <a:cubicBezTo>
                    <a:pt x="0" y="171781"/>
                    <a:pt x="32533" y="212337"/>
                    <a:pt x="78258" y="222498"/>
                  </a:cubicBezTo>
                  <a:lnTo>
                    <a:pt x="121302" y="232063"/>
                  </a:lnTo>
                  <a:lnTo>
                    <a:pt x="113749" y="300038"/>
                  </a:lnTo>
                  <a:lnTo>
                    <a:pt x="25003" y="300038"/>
                  </a:lnTo>
                  <a:lnTo>
                    <a:pt x="25003" y="375047"/>
                  </a:lnTo>
                  <a:lnTo>
                    <a:pt x="105415" y="375047"/>
                  </a:lnTo>
                  <a:close/>
                  <a:moveTo>
                    <a:pt x="164063" y="300038"/>
                  </a:moveTo>
                  <a:lnTo>
                    <a:pt x="200100" y="300038"/>
                  </a:lnTo>
                  <a:cubicBezTo>
                    <a:pt x="213867" y="300038"/>
                    <a:pt x="225028" y="288876"/>
                    <a:pt x="225028" y="275109"/>
                  </a:cubicBezTo>
                  <a:cubicBezTo>
                    <a:pt x="225028" y="263425"/>
                    <a:pt x="216912" y="253309"/>
                    <a:pt x="205508" y="250776"/>
                  </a:cubicBezTo>
                  <a:lnTo>
                    <a:pt x="170403" y="242974"/>
                  </a:lnTo>
                  <a:lnTo>
                    <a:pt x="164063" y="300038"/>
                  </a:lnTo>
                  <a:close/>
                  <a:moveTo>
                    <a:pt x="129634" y="157075"/>
                  </a:moveTo>
                  <a:lnTo>
                    <a:pt x="135974" y="100012"/>
                  </a:lnTo>
                  <a:lnTo>
                    <a:pt x="99937" y="100012"/>
                  </a:lnTo>
                  <a:cubicBezTo>
                    <a:pt x="86170" y="100012"/>
                    <a:pt x="75009" y="111173"/>
                    <a:pt x="75009" y="124940"/>
                  </a:cubicBezTo>
                  <a:cubicBezTo>
                    <a:pt x="75009" y="136624"/>
                    <a:pt x="83124" y="146740"/>
                    <a:pt x="94530" y="149274"/>
                  </a:cubicBezTo>
                  <a:lnTo>
                    <a:pt x="129634" y="157075"/>
                  </a:lnTo>
                  <a:close/>
                </a:path>
              </a:pathLst>
            </a:custGeom>
            <a:solidFill>
              <a:srgbClr val="0076A8"/>
            </a:solidFill>
            <a:ln>
              <a:noFill/>
            </a:ln>
            <a:effectLst>
              <a:outerShdw blurRad="152400" dist="38100" dir="10799140" algn="tl" rotWithShape="0">
                <a:srgbClr val="0F172A">
                  <a:alpha val="10000"/>
                </a:srgbClr>
              </a:outerShdw>
            </a:effectLst>
          </p:spPr>
        </p:sp>
        <p:sp>
          <p:nvSpPr>
            <p:cNvPr id="17" name="TextBox 17"/>
            <p:cNvSpPr txBox="1"/>
            <p:nvPr/>
          </p:nvSpPr>
          <p:spPr>
            <a:xfrm>
              <a:off x="7178040" y="2015490"/>
              <a:ext cx="3275324"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2C3E50"/>
                  </a:solidFill>
                  <a:latin typeface="Arial"/>
                  <a:ea typeface="Microsoft YaHei"/>
                  <a:cs typeface="Arial"/>
                </a:rPr>
                <a:t>Predictable cost profile</a:t>
              </a:r>
            </a:p>
          </p:txBody>
        </p:sp>
        <p:sp>
          <p:nvSpPr>
            <p:cNvPr id="18" name="TextBox 18"/>
            <p:cNvSpPr txBox="1"/>
            <p:nvPr/>
          </p:nvSpPr>
          <p:spPr>
            <a:xfrm>
              <a:off x="6633210" y="2594610"/>
              <a:ext cx="667283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 tool itself is open source; the main variable cost is the AI editor or model</a:t>
              </a:r>
            </a:p>
          </p:txBody>
        </p:sp>
        <p:sp>
          <p:nvSpPr>
            <p:cNvPr id="19" name="TextBox 19"/>
            <p:cNvSpPr txBox="1"/>
            <p:nvPr/>
          </p:nvSpPr>
          <p:spPr>
            <a:xfrm>
              <a:off x="6633210" y="2823210"/>
              <a:ext cx="231762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you already choose to use.</a:t>
              </a:r>
            </a:p>
          </p:txBody>
        </p:sp>
      </p:grpSp>
      <p:grpSp>
        <p:nvGrpSpPr>
          <p:cNvPr id="26" name="Group 26"/>
          <p:cNvGrpSpPr/>
          <p:nvPr/>
        </p:nvGrpSpPr>
        <p:grpSpPr>
          <a:xfrm>
            <a:off x="571500" y="3905250"/>
            <a:ext cx="7543800" cy="2038350"/>
            <a:chOff x="571500" y="3905250"/>
            <a:chExt cx="7543800" cy="2038350"/>
          </a:xfrm>
          <a:effectLst>
            <a:outerShdw blurRad="152400" dist="38100" dir="10799140" algn="tl" rotWithShape="0">
              <a:srgbClr val="0F172A">
                <a:alpha val="10000"/>
              </a:srgbClr>
            </a:outerShdw>
          </a:effectLst>
        </p:grpSpPr>
        <p:sp>
          <p:nvSpPr>
            <p:cNvPr id="21" name="Freeform 21"/>
            <p:cNvSpPr/>
            <p:nvPr/>
          </p:nvSpPr>
          <p:spPr>
            <a:xfrm>
              <a:off x="571500" y="39052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2" name="Freeform 22"/>
            <p:cNvSpPr/>
            <p:nvPr/>
          </p:nvSpPr>
          <p:spPr>
            <a:xfrm>
              <a:off x="939403" y="4267200"/>
              <a:ext cx="350044" cy="400050"/>
            </a:xfrm>
            <a:custGeom>
              <a:avLst/>
              <a:gdLst/>
              <a:ahLst/>
              <a:cxnLst/>
              <a:rect l="l" t="t" r="r" b="b"/>
              <a:pathLst>
                <a:path w="350044" h="400050">
                  <a:moveTo>
                    <a:pt x="175022" y="400050"/>
                  </a:moveTo>
                  <a:lnTo>
                    <a:pt x="83763" y="334864"/>
                  </a:lnTo>
                  <a:cubicBezTo>
                    <a:pt x="31197" y="297317"/>
                    <a:pt x="0" y="236696"/>
                    <a:pt x="0" y="172098"/>
                  </a:cubicBezTo>
                  <a:lnTo>
                    <a:pt x="0" y="75009"/>
                  </a:lnTo>
                  <a:lnTo>
                    <a:pt x="175022" y="0"/>
                  </a:lnTo>
                  <a:lnTo>
                    <a:pt x="350044" y="75009"/>
                  </a:lnTo>
                  <a:lnTo>
                    <a:pt x="350044" y="172098"/>
                  </a:lnTo>
                  <a:cubicBezTo>
                    <a:pt x="350044" y="236696"/>
                    <a:pt x="318847" y="297317"/>
                    <a:pt x="266281" y="334864"/>
                  </a:cubicBezTo>
                  <a:lnTo>
                    <a:pt x="175022" y="400050"/>
                  </a:lnTo>
                  <a:close/>
                  <a:moveTo>
                    <a:pt x="280213" y="142696"/>
                  </a:moveTo>
                  <a:lnTo>
                    <a:pt x="244853" y="107336"/>
                  </a:lnTo>
                  <a:lnTo>
                    <a:pt x="150019" y="202170"/>
                  </a:lnTo>
                  <a:lnTo>
                    <a:pt x="105191" y="157342"/>
                  </a:lnTo>
                  <a:lnTo>
                    <a:pt x="69831" y="192702"/>
                  </a:lnTo>
                  <a:lnTo>
                    <a:pt x="150019" y="272889"/>
                  </a:lnTo>
                  <a:lnTo>
                    <a:pt x="280213" y="142696"/>
                  </a:lnTo>
                  <a:close/>
                </a:path>
              </a:pathLst>
            </a:custGeom>
            <a:solidFill>
              <a:srgbClr val="27AE60"/>
            </a:solidFill>
            <a:ln>
              <a:noFill/>
            </a:ln>
            <a:effectLst>
              <a:outerShdw blurRad="152400" dist="38100" dir="10799140" algn="tl" rotWithShape="0">
                <a:srgbClr val="0F172A">
                  <a:alpha val="10000"/>
                </a:srgbClr>
              </a:outerShdw>
            </a:effectLst>
          </p:spPr>
        </p:sp>
        <p:sp>
          <p:nvSpPr>
            <p:cNvPr id="23" name="TextBox 23"/>
            <p:cNvSpPr txBox="1"/>
            <p:nvPr/>
          </p:nvSpPr>
          <p:spPr>
            <a:xfrm>
              <a:off x="1443990" y="4339590"/>
              <a:ext cx="3427143"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2C3E50"/>
                  </a:solidFill>
                  <a:latin typeface="Arial"/>
                  <a:ea typeface="Microsoft YaHei"/>
                  <a:cs typeface="Arial"/>
                </a:rPr>
                <a:t>Local-first data handling</a:t>
              </a:r>
            </a:p>
          </p:txBody>
        </p:sp>
        <p:sp>
          <p:nvSpPr>
            <p:cNvPr id="24" name="TextBox 24"/>
            <p:cNvSpPr txBox="1"/>
            <p:nvPr/>
          </p:nvSpPr>
          <p:spPr>
            <a:xfrm>
              <a:off x="899160" y="4918710"/>
              <a:ext cx="721614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Source conversion, SVG authoring, and PPTX export are kept on the user's machine.</a:t>
              </a:r>
            </a:p>
          </p:txBody>
        </p:sp>
        <p:sp>
          <p:nvSpPr>
            <p:cNvPr id="25" name="TextBox 25"/>
            <p:cNvSpPr txBox="1"/>
            <p:nvPr/>
          </p:nvSpPr>
          <p:spPr>
            <a:xfrm>
              <a:off x="899160" y="5147310"/>
              <a:ext cx="551611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That matters for finance, government, and private workflows.</a:t>
              </a:r>
            </a:p>
          </p:txBody>
        </p:sp>
      </p:grpSp>
      <p:grpSp>
        <p:nvGrpSpPr>
          <p:cNvPr id="32" name="Group 32"/>
          <p:cNvGrpSpPr/>
          <p:nvPr/>
        </p:nvGrpSpPr>
        <p:grpSpPr>
          <a:xfrm>
            <a:off x="6305550" y="3905250"/>
            <a:ext cx="6842760" cy="2038350"/>
            <a:chOff x="6305550" y="3905250"/>
            <a:chExt cx="6842760" cy="2038350"/>
          </a:xfrm>
          <a:effectLst>
            <a:outerShdw blurRad="152400" dist="38100" dir="10799140" algn="tl" rotWithShape="0">
              <a:srgbClr val="0F172A">
                <a:alpha val="10000"/>
              </a:srgbClr>
            </a:outerShdw>
          </a:effectLst>
        </p:grpSpPr>
        <p:sp>
          <p:nvSpPr>
            <p:cNvPr id="27" name="Freeform 27"/>
            <p:cNvSpPr/>
            <p:nvPr/>
          </p:nvSpPr>
          <p:spPr>
            <a:xfrm>
              <a:off x="6305550" y="39052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8" name="Freeform 28"/>
            <p:cNvSpPr/>
            <p:nvPr/>
          </p:nvSpPr>
          <p:spPr>
            <a:xfrm>
              <a:off x="6673453" y="4267200"/>
              <a:ext cx="350044" cy="400050"/>
            </a:xfrm>
            <a:custGeom>
              <a:avLst/>
              <a:gdLst/>
              <a:ahLst/>
              <a:cxnLst/>
              <a:rect l="l" t="t" r="r" b="b"/>
              <a:pathLst>
                <a:path w="350044" h="400050">
                  <a:moveTo>
                    <a:pt x="125016" y="0"/>
                  </a:moveTo>
                  <a:lnTo>
                    <a:pt x="125016" y="100012"/>
                  </a:lnTo>
                  <a:lnTo>
                    <a:pt x="225028" y="100012"/>
                  </a:lnTo>
                  <a:lnTo>
                    <a:pt x="225028" y="0"/>
                  </a:lnTo>
                  <a:lnTo>
                    <a:pt x="275034" y="0"/>
                  </a:lnTo>
                  <a:lnTo>
                    <a:pt x="275034" y="100012"/>
                  </a:lnTo>
                  <a:lnTo>
                    <a:pt x="350044" y="100012"/>
                  </a:lnTo>
                  <a:lnTo>
                    <a:pt x="350044" y="150019"/>
                  </a:lnTo>
                  <a:lnTo>
                    <a:pt x="300038" y="150019"/>
                  </a:lnTo>
                  <a:lnTo>
                    <a:pt x="300038" y="200025"/>
                  </a:lnTo>
                  <a:cubicBezTo>
                    <a:pt x="300038" y="260508"/>
                    <a:pt x="257087" y="310956"/>
                    <a:pt x="200025" y="322540"/>
                  </a:cubicBezTo>
                  <a:lnTo>
                    <a:pt x="200025" y="400050"/>
                  </a:lnTo>
                  <a:lnTo>
                    <a:pt x="150019" y="400050"/>
                  </a:lnTo>
                  <a:lnTo>
                    <a:pt x="150019" y="322540"/>
                  </a:lnTo>
                  <a:cubicBezTo>
                    <a:pt x="92956" y="310956"/>
                    <a:pt x="50006" y="260508"/>
                    <a:pt x="50006" y="200025"/>
                  </a:cubicBezTo>
                  <a:lnTo>
                    <a:pt x="50006" y="150019"/>
                  </a:lnTo>
                  <a:lnTo>
                    <a:pt x="0" y="150019"/>
                  </a:lnTo>
                  <a:lnTo>
                    <a:pt x="0" y="100012"/>
                  </a:lnTo>
                  <a:lnTo>
                    <a:pt x="75009" y="100012"/>
                  </a:lnTo>
                  <a:lnTo>
                    <a:pt x="75009" y="0"/>
                  </a:lnTo>
                  <a:lnTo>
                    <a:pt x="125016" y="0"/>
                  </a:lnTo>
                  <a:close/>
                </a:path>
              </a:pathLst>
            </a:custGeom>
            <a:solidFill>
              <a:srgbClr val="F5A623"/>
            </a:solidFill>
            <a:ln>
              <a:noFill/>
            </a:ln>
            <a:effectLst>
              <a:outerShdw blurRad="152400" dist="38100" dir="10799140" algn="tl" rotWithShape="0">
                <a:srgbClr val="0F172A">
                  <a:alpha val="10000"/>
                </a:srgbClr>
              </a:outerShdw>
            </a:effectLst>
          </p:spPr>
        </p:sp>
        <p:sp>
          <p:nvSpPr>
            <p:cNvPr id="29" name="TextBox 29"/>
            <p:cNvSpPr txBox="1"/>
            <p:nvPr/>
          </p:nvSpPr>
          <p:spPr>
            <a:xfrm>
              <a:off x="7178040" y="4339590"/>
              <a:ext cx="4186237"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2C3E50"/>
                  </a:solidFill>
                  <a:latin typeface="Arial"/>
                  <a:ea typeface="Microsoft YaHei"/>
                  <a:cs typeface="Arial"/>
                </a:rPr>
                <a:t>No lock-in on editors or models</a:t>
              </a:r>
            </a:p>
          </p:txBody>
        </p:sp>
        <p:sp>
          <p:nvSpPr>
            <p:cNvPr id="30" name="TextBox 30"/>
            <p:cNvSpPr txBox="1"/>
            <p:nvPr/>
          </p:nvSpPr>
          <p:spPr>
            <a:xfrm>
              <a:off x="6633210" y="4918710"/>
              <a:ext cx="651510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 project is presented as a framework that can work with multiple AI IDEs</a:t>
              </a:r>
            </a:p>
          </p:txBody>
        </p:sp>
        <p:sp>
          <p:nvSpPr>
            <p:cNvPr id="31" name="TextBox 31"/>
            <p:cNvSpPr txBox="1"/>
            <p:nvPr/>
          </p:nvSpPr>
          <p:spPr>
            <a:xfrm>
              <a:off x="6633210" y="5147310"/>
              <a:ext cx="239649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and multiple model families.</a:t>
              </a:r>
            </a:p>
          </p:txBody>
        </p:sp>
      </p:grpSp>
      <p:sp>
        <p:nvSpPr>
          <p:cNvPr id="33" name="TextBox 33"/>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04</a:t>
            </a:r>
          </a:p>
        </p:txBody>
      </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10486223"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The workflow is a serial design-to-engineering pipeline</a:t>
            </a:r>
          </a:p>
        </p:txBody>
      </p:sp>
      <p:sp>
        <p:nvSpPr>
          <p:cNvPr id="5" name="TextBox 5"/>
          <p:cNvSpPr txBox="1"/>
          <p:nvPr/>
        </p:nvSpPr>
        <p:spPr>
          <a:xfrm>
            <a:off x="556260" y="975360"/>
            <a:ext cx="7855839"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docs are explicit that every stage feeds the next and should not be parallelized blindly.</a:t>
            </a:r>
          </a:p>
        </p:txBody>
      </p:sp>
      <p:grpSp>
        <p:nvGrpSpPr>
          <p:cNvPr id="11" name="Group 11"/>
          <p:cNvGrpSpPr/>
          <p:nvPr/>
        </p:nvGrpSpPr>
        <p:grpSpPr>
          <a:xfrm>
            <a:off x="1047750" y="2781300"/>
            <a:ext cx="10096500" cy="228600"/>
            <a:chOff x="1047750" y="2781300"/>
            <a:chExt cx="10096500" cy="228600"/>
          </a:xfrm>
        </p:grpSpPr>
        <p:sp>
          <p:nvSpPr>
            <p:cNvPr id="6" name="Freeform 6"/>
            <p:cNvSpPr/>
            <p:nvPr/>
          </p:nvSpPr>
          <p:spPr>
            <a:xfrm>
              <a:off x="1047750" y="2857500"/>
              <a:ext cx="10096500" cy="76200"/>
            </a:xfrm>
            <a:custGeom>
              <a:avLst/>
              <a:gdLst/>
              <a:ahLst/>
              <a:cxnLst/>
              <a:rect l="l" t="t" r="r" b="b"/>
              <a:pathLst>
                <a:path w="10096500" h="76200">
                  <a:moveTo>
                    <a:pt x="38100" y="0"/>
                  </a:moveTo>
                  <a:lnTo>
                    <a:pt x="10058400" y="0"/>
                  </a:lnTo>
                  <a:cubicBezTo>
                    <a:pt x="10079442" y="0"/>
                    <a:pt x="10096500" y="17058"/>
                    <a:pt x="10096500" y="38100"/>
                  </a:cubicBezTo>
                  <a:lnTo>
                    <a:pt x="10096500" y="38100"/>
                  </a:lnTo>
                  <a:cubicBezTo>
                    <a:pt x="10096500" y="59142"/>
                    <a:pt x="10079442" y="76200"/>
                    <a:pt x="10058400" y="76200"/>
                  </a:cubicBezTo>
                  <a:lnTo>
                    <a:pt x="38100" y="76200"/>
                  </a:lnTo>
                  <a:cubicBezTo>
                    <a:pt x="17058" y="76200"/>
                    <a:pt x="0" y="59142"/>
                    <a:pt x="0" y="38100"/>
                  </a:cubicBezTo>
                  <a:lnTo>
                    <a:pt x="0" y="38100"/>
                  </a:lnTo>
                  <a:cubicBezTo>
                    <a:pt x="0" y="17058"/>
                    <a:pt x="17058" y="0"/>
                    <a:pt x="38100" y="0"/>
                  </a:cubicBezTo>
                  <a:close/>
                </a:path>
              </a:pathLst>
            </a:custGeom>
            <a:solidFill>
              <a:srgbClr val="D8E0E5"/>
            </a:solidFill>
            <a:ln>
              <a:noFill/>
            </a:ln>
          </p:spPr>
        </p:sp>
        <p:sp>
          <p:nvSpPr>
            <p:cNvPr id="7" name="Polygon 7"/>
            <p:cNvSpPr/>
            <p:nvPr/>
          </p:nvSpPr>
          <p:spPr>
            <a:xfrm>
              <a:off x="299085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8" name="Polygon 8"/>
            <p:cNvSpPr/>
            <p:nvPr/>
          </p:nvSpPr>
          <p:spPr>
            <a:xfrm>
              <a:off x="518160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9" name="Polygon 9"/>
            <p:cNvSpPr/>
            <p:nvPr/>
          </p:nvSpPr>
          <p:spPr>
            <a:xfrm>
              <a:off x="737235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10" name="Polygon 10"/>
            <p:cNvSpPr/>
            <p:nvPr/>
          </p:nvSpPr>
          <p:spPr>
            <a:xfrm>
              <a:off x="956310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grpSp>
      <p:grpSp>
        <p:nvGrpSpPr>
          <p:cNvPr id="15" name="Group 15"/>
          <p:cNvGrpSpPr/>
          <p:nvPr/>
        </p:nvGrpSpPr>
        <p:grpSpPr>
          <a:xfrm>
            <a:off x="1219200" y="2495550"/>
            <a:ext cx="800100" cy="800100"/>
            <a:chOff x="1219200" y="2495550"/>
            <a:chExt cx="800100" cy="800100"/>
          </a:xfrm>
          <a:effectLst>
            <a:outerShdw blurRad="133350" dist="38100" dir="10799140" algn="tl" rotWithShape="0">
              <a:srgbClr val="0F172A">
                <a:alpha val="10000"/>
              </a:srgbClr>
            </a:outerShdw>
          </a:effectLst>
        </p:grpSpPr>
        <p:sp>
          <p:nvSpPr>
            <p:cNvPr id="12" name="Ellipse 12"/>
            <p:cNvSpPr/>
            <p:nvPr/>
          </p:nvSpPr>
          <p:spPr>
            <a:xfrm>
              <a:off x="1219200" y="2495550"/>
              <a:ext cx="800100" cy="800100"/>
            </a:xfrm>
            <a:prstGeom prst="ellipse">
              <a:avLst/>
            </a:prstGeom>
            <a:solidFill>
              <a:srgbClr val="005587"/>
            </a:solidFill>
            <a:ln>
              <a:noFill/>
            </a:ln>
            <a:effectLst>
              <a:outerShdw blurRad="133350" dist="38100" dir="10799140" algn="tl" rotWithShape="0">
                <a:srgbClr val="0F172A">
                  <a:alpha val="10000"/>
                </a:srgbClr>
              </a:outerShdw>
            </a:effectLst>
          </p:spPr>
        </p:sp>
        <p:sp>
          <p:nvSpPr>
            <p:cNvPr id="13" name="TextBox 13"/>
            <p:cNvSpPr txBox="1"/>
            <p:nvPr/>
          </p:nvSpPr>
          <p:spPr>
            <a:xfrm>
              <a:off x="1345210" y="2714149"/>
              <a:ext cx="548080"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SOURCE</a:t>
              </a:r>
            </a:p>
          </p:txBody>
        </p:sp>
        <p:sp>
          <p:nvSpPr>
            <p:cNvPr id="14" name="TextBox 14"/>
            <p:cNvSpPr txBox="1"/>
            <p:nvPr/>
          </p:nvSpPr>
          <p:spPr>
            <a:xfrm>
              <a:off x="1419969" y="2885599"/>
              <a:ext cx="398562"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INPUT</a:t>
              </a:r>
            </a:p>
          </p:txBody>
        </p:sp>
      </p:grpSp>
      <p:grpSp>
        <p:nvGrpSpPr>
          <p:cNvPr id="20" name="Group 20"/>
          <p:cNvGrpSpPr/>
          <p:nvPr/>
        </p:nvGrpSpPr>
        <p:grpSpPr>
          <a:xfrm>
            <a:off x="571500" y="3752850"/>
            <a:ext cx="3238500" cy="1790700"/>
            <a:chOff x="571500" y="3752850"/>
            <a:chExt cx="3238500" cy="1790700"/>
          </a:xfrm>
          <a:effectLst>
            <a:outerShdw blurRad="133350" dist="38100" dir="10799140" algn="tl" rotWithShape="0">
              <a:srgbClr val="0F172A">
                <a:alpha val="10000"/>
              </a:srgbClr>
            </a:outerShdw>
          </a:effectLst>
        </p:grpSpPr>
        <p:sp>
          <p:nvSpPr>
            <p:cNvPr id="16" name="Freeform 16"/>
            <p:cNvSpPr/>
            <p:nvPr/>
          </p:nvSpPr>
          <p:spPr>
            <a:xfrm>
              <a:off x="57150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17" name="TextBox 17"/>
            <p:cNvSpPr txBox="1"/>
            <p:nvPr/>
          </p:nvSpPr>
          <p:spPr>
            <a:xfrm>
              <a:off x="819150" y="3952875"/>
              <a:ext cx="2062353"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Normalize content</a:t>
              </a:r>
            </a:p>
          </p:txBody>
        </p:sp>
        <p:sp>
          <p:nvSpPr>
            <p:cNvPr id="18" name="TextBox 18"/>
            <p:cNvSpPr txBox="1"/>
            <p:nvPr/>
          </p:nvSpPr>
          <p:spPr>
            <a:xfrm>
              <a:off x="823912" y="4336256"/>
              <a:ext cx="249316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PDF, DOCX, URL, and Markdown</a:t>
              </a:r>
            </a:p>
          </p:txBody>
        </p:sp>
        <p:sp>
          <p:nvSpPr>
            <p:cNvPr id="19" name="TextBox 19"/>
            <p:cNvSpPr txBox="1"/>
            <p:nvPr/>
          </p:nvSpPr>
          <p:spPr>
            <a:xfrm>
              <a:off x="823912" y="4545806"/>
              <a:ext cx="298608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are converted into structured text.</a:t>
              </a:r>
            </a:p>
          </p:txBody>
        </p:sp>
      </p:grpSp>
      <p:grpSp>
        <p:nvGrpSpPr>
          <p:cNvPr id="24" name="Group 24"/>
          <p:cNvGrpSpPr/>
          <p:nvPr/>
        </p:nvGrpSpPr>
        <p:grpSpPr>
          <a:xfrm>
            <a:off x="3409950" y="2495550"/>
            <a:ext cx="800100" cy="800100"/>
            <a:chOff x="3409950" y="2495550"/>
            <a:chExt cx="800100" cy="800100"/>
          </a:xfrm>
          <a:effectLst>
            <a:outerShdw blurRad="133350" dist="38100" dir="10799140" algn="tl" rotWithShape="0">
              <a:srgbClr val="0F172A">
                <a:alpha val="10000"/>
              </a:srgbClr>
            </a:outerShdw>
          </a:effectLst>
        </p:grpSpPr>
        <p:sp>
          <p:nvSpPr>
            <p:cNvPr id="21" name="Ellipse 21"/>
            <p:cNvSpPr/>
            <p:nvPr/>
          </p:nvSpPr>
          <p:spPr>
            <a:xfrm>
              <a:off x="3409950" y="2495550"/>
              <a:ext cx="800100" cy="800100"/>
            </a:xfrm>
            <a:prstGeom prst="ellipse">
              <a:avLst/>
            </a:prstGeom>
            <a:solidFill>
              <a:srgbClr val="0076A8"/>
            </a:solidFill>
            <a:ln>
              <a:noFill/>
            </a:ln>
            <a:effectLst>
              <a:outerShdw blurRad="133350" dist="38100" dir="10799140" algn="tl" rotWithShape="0">
                <a:srgbClr val="0F172A">
                  <a:alpha val="10000"/>
                </a:srgbClr>
              </a:outerShdw>
            </a:effectLst>
          </p:spPr>
        </p:sp>
        <p:sp>
          <p:nvSpPr>
            <p:cNvPr id="22" name="TextBox 22"/>
            <p:cNvSpPr txBox="1"/>
            <p:nvPr/>
          </p:nvSpPr>
          <p:spPr>
            <a:xfrm>
              <a:off x="3592029" y="2752249"/>
              <a:ext cx="435941"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STRAT</a:t>
              </a:r>
            </a:p>
          </p:txBody>
        </p:sp>
        <p:sp>
          <p:nvSpPr>
            <p:cNvPr id="23" name="TextBox 23"/>
            <p:cNvSpPr txBox="1"/>
            <p:nvPr/>
          </p:nvSpPr>
          <p:spPr>
            <a:xfrm>
              <a:off x="3610719" y="2904649"/>
              <a:ext cx="398562"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EGIST</a:t>
              </a:r>
            </a:p>
          </p:txBody>
        </p:sp>
      </p:grpSp>
      <p:grpSp>
        <p:nvGrpSpPr>
          <p:cNvPr id="29" name="Group 29"/>
          <p:cNvGrpSpPr/>
          <p:nvPr/>
        </p:nvGrpSpPr>
        <p:grpSpPr>
          <a:xfrm>
            <a:off x="2762250" y="3752850"/>
            <a:ext cx="3148131" cy="1790700"/>
            <a:chOff x="2762250" y="3752850"/>
            <a:chExt cx="3148131" cy="1790700"/>
          </a:xfrm>
          <a:effectLst>
            <a:outerShdw blurRad="133350" dist="38100" dir="10799140" algn="tl" rotWithShape="0">
              <a:srgbClr val="0F172A">
                <a:alpha val="10000"/>
              </a:srgbClr>
            </a:outerShdw>
          </a:effectLst>
        </p:grpSpPr>
        <p:sp>
          <p:nvSpPr>
            <p:cNvPr id="25" name="Freeform 25"/>
            <p:cNvSpPr/>
            <p:nvPr/>
          </p:nvSpPr>
          <p:spPr>
            <a:xfrm>
              <a:off x="276225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26" name="TextBox 26"/>
            <p:cNvSpPr txBox="1"/>
            <p:nvPr/>
          </p:nvSpPr>
          <p:spPr>
            <a:xfrm>
              <a:off x="3009900" y="3952875"/>
              <a:ext cx="1510284"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Plan the deck</a:t>
              </a:r>
            </a:p>
          </p:txBody>
        </p:sp>
        <p:sp>
          <p:nvSpPr>
            <p:cNvPr id="27" name="TextBox 27"/>
            <p:cNvSpPr txBox="1"/>
            <p:nvPr/>
          </p:nvSpPr>
          <p:spPr>
            <a:xfrm>
              <a:off x="3014662" y="4336256"/>
              <a:ext cx="285464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The strategist defines page count,</a:t>
              </a:r>
            </a:p>
          </p:txBody>
        </p:sp>
        <p:sp>
          <p:nvSpPr>
            <p:cNvPr id="28" name="TextBox 28"/>
            <p:cNvSpPr txBox="1"/>
            <p:nvPr/>
          </p:nvSpPr>
          <p:spPr>
            <a:xfrm>
              <a:off x="3014662" y="45458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visual system, and content outline.</a:t>
              </a:r>
            </a:p>
          </p:txBody>
        </p:sp>
      </p:grpSp>
      <p:grpSp>
        <p:nvGrpSpPr>
          <p:cNvPr id="33" name="Group 33"/>
          <p:cNvGrpSpPr/>
          <p:nvPr/>
        </p:nvGrpSpPr>
        <p:grpSpPr>
          <a:xfrm>
            <a:off x="5600700" y="2495550"/>
            <a:ext cx="800100" cy="800100"/>
            <a:chOff x="5600700" y="2495550"/>
            <a:chExt cx="800100" cy="800100"/>
          </a:xfrm>
          <a:effectLst>
            <a:outerShdw blurRad="133350" dist="38100" dir="10799140" algn="tl" rotWithShape="0">
              <a:srgbClr val="0F172A">
                <a:alpha val="10000"/>
              </a:srgbClr>
            </a:outerShdw>
          </a:effectLst>
        </p:grpSpPr>
        <p:sp>
          <p:nvSpPr>
            <p:cNvPr id="30" name="Ellipse 30"/>
            <p:cNvSpPr/>
            <p:nvPr/>
          </p:nvSpPr>
          <p:spPr>
            <a:xfrm>
              <a:off x="5600700" y="2495550"/>
              <a:ext cx="800100" cy="800100"/>
            </a:xfrm>
            <a:prstGeom prst="ellipse">
              <a:avLst/>
            </a:prstGeom>
            <a:solidFill>
              <a:srgbClr val="F5A623"/>
            </a:solidFill>
            <a:ln>
              <a:noFill/>
            </a:ln>
            <a:effectLst>
              <a:outerShdw blurRad="133350" dist="38100" dir="10799140" algn="tl" rotWithShape="0">
                <a:srgbClr val="0F172A">
                  <a:alpha val="10000"/>
                </a:srgbClr>
              </a:outerShdw>
            </a:effectLst>
          </p:spPr>
        </p:sp>
        <p:sp>
          <p:nvSpPr>
            <p:cNvPr id="31" name="TextBox 31"/>
            <p:cNvSpPr txBox="1"/>
            <p:nvPr/>
          </p:nvSpPr>
          <p:spPr>
            <a:xfrm>
              <a:off x="5823897" y="2752249"/>
              <a:ext cx="353706"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EXEC</a:t>
              </a:r>
            </a:p>
          </p:txBody>
        </p:sp>
        <p:sp>
          <p:nvSpPr>
            <p:cNvPr id="32" name="TextBox 32"/>
            <p:cNvSpPr txBox="1"/>
            <p:nvPr/>
          </p:nvSpPr>
          <p:spPr>
            <a:xfrm>
              <a:off x="5808945" y="2904649"/>
              <a:ext cx="383610"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UTOR</a:t>
              </a:r>
            </a:p>
          </p:txBody>
        </p:sp>
      </p:grpSp>
      <p:grpSp>
        <p:nvGrpSpPr>
          <p:cNvPr id="38" name="Group 38"/>
          <p:cNvGrpSpPr/>
          <p:nvPr/>
        </p:nvGrpSpPr>
        <p:grpSpPr>
          <a:xfrm>
            <a:off x="4953000" y="3752850"/>
            <a:ext cx="3057763" cy="1790700"/>
            <a:chOff x="4953000" y="3752850"/>
            <a:chExt cx="3057763" cy="1790700"/>
          </a:xfrm>
          <a:effectLst>
            <a:outerShdw blurRad="133350" dist="38100" dir="10799140" algn="tl" rotWithShape="0">
              <a:srgbClr val="0F172A">
                <a:alpha val="10000"/>
              </a:srgbClr>
            </a:outerShdw>
          </a:effectLst>
        </p:grpSpPr>
        <p:sp>
          <p:nvSpPr>
            <p:cNvPr id="34" name="Freeform 34"/>
            <p:cNvSpPr/>
            <p:nvPr/>
          </p:nvSpPr>
          <p:spPr>
            <a:xfrm>
              <a:off x="495300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35" name="TextBox 35"/>
            <p:cNvSpPr txBox="1"/>
            <p:nvPr/>
          </p:nvSpPr>
          <p:spPr>
            <a:xfrm>
              <a:off x="5200650" y="3952875"/>
              <a:ext cx="2200370"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Generate SVG pages</a:t>
              </a:r>
            </a:p>
          </p:txBody>
        </p:sp>
        <p:sp>
          <p:nvSpPr>
            <p:cNvPr id="36" name="TextBox 36"/>
            <p:cNvSpPr txBox="1"/>
            <p:nvPr/>
          </p:nvSpPr>
          <p:spPr>
            <a:xfrm>
              <a:off x="5205412" y="4336256"/>
              <a:ext cx="280535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The main agent produces slide SVGs</a:t>
              </a:r>
            </a:p>
          </p:txBody>
        </p:sp>
        <p:sp>
          <p:nvSpPr>
            <p:cNvPr id="37" name="TextBox 37"/>
            <p:cNvSpPr txBox="1"/>
            <p:nvPr/>
          </p:nvSpPr>
          <p:spPr>
            <a:xfrm>
              <a:off x="5205412" y="4545806"/>
              <a:ext cx="233707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and complete speaker notes.</a:t>
              </a:r>
            </a:p>
          </p:txBody>
        </p:sp>
      </p:grpSp>
      <p:grpSp>
        <p:nvGrpSpPr>
          <p:cNvPr id="42" name="Group 42"/>
          <p:cNvGrpSpPr/>
          <p:nvPr/>
        </p:nvGrpSpPr>
        <p:grpSpPr>
          <a:xfrm>
            <a:off x="7791450" y="2495550"/>
            <a:ext cx="800100" cy="800100"/>
            <a:chOff x="7791450" y="2495550"/>
            <a:chExt cx="800100" cy="800100"/>
          </a:xfrm>
          <a:effectLst>
            <a:outerShdw blurRad="133350" dist="38100" dir="10799140" algn="tl" rotWithShape="0">
              <a:srgbClr val="0F172A">
                <a:alpha val="10000"/>
              </a:srgbClr>
            </a:outerShdw>
          </a:effectLst>
        </p:grpSpPr>
        <p:sp>
          <p:nvSpPr>
            <p:cNvPr id="39" name="Ellipse 39"/>
            <p:cNvSpPr/>
            <p:nvPr/>
          </p:nvSpPr>
          <p:spPr>
            <a:xfrm>
              <a:off x="7791450" y="2495550"/>
              <a:ext cx="800100" cy="800100"/>
            </a:xfrm>
            <a:prstGeom prst="ellipse">
              <a:avLst/>
            </a:prstGeom>
            <a:solidFill>
              <a:srgbClr val="27AE60"/>
            </a:solidFill>
            <a:ln>
              <a:noFill/>
            </a:ln>
            <a:effectLst>
              <a:outerShdw blurRad="133350" dist="38100" dir="10799140" algn="tl" rotWithShape="0">
                <a:srgbClr val="0F172A">
                  <a:alpha val="10000"/>
                </a:srgbClr>
              </a:outerShdw>
            </a:effectLst>
          </p:spPr>
        </p:sp>
        <p:sp>
          <p:nvSpPr>
            <p:cNvPr id="40" name="TextBox 40"/>
            <p:cNvSpPr txBox="1"/>
            <p:nvPr/>
          </p:nvSpPr>
          <p:spPr>
            <a:xfrm>
              <a:off x="8007548" y="2760345"/>
              <a:ext cx="367903"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FINAL</a:t>
              </a:r>
            </a:p>
          </p:txBody>
        </p:sp>
        <p:sp>
          <p:nvSpPr>
            <p:cNvPr id="41" name="TextBox 41"/>
            <p:cNvSpPr txBox="1"/>
            <p:nvPr/>
          </p:nvSpPr>
          <p:spPr>
            <a:xfrm>
              <a:off x="8083458" y="2912745"/>
              <a:ext cx="216084"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IZE</a:t>
              </a:r>
            </a:p>
          </p:txBody>
        </p:sp>
      </p:grpSp>
      <p:grpSp>
        <p:nvGrpSpPr>
          <p:cNvPr id="47" name="Group 47"/>
          <p:cNvGrpSpPr/>
          <p:nvPr/>
        </p:nvGrpSpPr>
        <p:grpSpPr>
          <a:xfrm>
            <a:off x="7143750" y="3752850"/>
            <a:ext cx="3682126" cy="1790700"/>
            <a:chOff x="7143750" y="3752850"/>
            <a:chExt cx="3682126" cy="1790700"/>
          </a:xfrm>
          <a:effectLst>
            <a:outerShdw blurRad="133350" dist="38100" dir="10799140" algn="tl" rotWithShape="0">
              <a:srgbClr val="0F172A">
                <a:alpha val="10000"/>
              </a:srgbClr>
            </a:outerShdw>
          </a:effectLst>
        </p:grpSpPr>
        <p:sp>
          <p:nvSpPr>
            <p:cNvPr id="43" name="Freeform 43"/>
            <p:cNvSpPr/>
            <p:nvPr/>
          </p:nvSpPr>
          <p:spPr>
            <a:xfrm>
              <a:off x="714375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44" name="TextBox 44"/>
            <p:cNvSpPr txBox="1"/>
            <p:nvPr/>
          </p:nvSpPr>
          <p:spPr>
            <a:xfrm>
              <a:off x="7391400" y="3952875"/>
              <a:ext cx="2384393"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Post-process assets</a:t>
              </a:r>
            </a:p>
          </p:txBody>
        </p:sp>
        <p:sp>
          <p:nvSpPr>
            <p:cNvPr id="45" name="TextBox 45"/>
            <p:cNvSpPr txBox="1"/>
            <p:nvPr/>
          </p:nvSpPr>
          <p:spPr>
            <a:xfrm>
              <a:off x="7396162" y="4336256"/>
              <a:ext cx="257532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Icons, images, text flattening,</a:t>
              </a:r>
            </a:p>
          </p:txBody>
        </p:sp>
        <p:sp>
          <p:nvSpPr>
            <p:cNvPr id="46" name="TextBox 46"/>
            <p:cNvSpPr txBox="1"/>
            <p:nvPr/>
          </p:nvSpPr>
          <p:spPr>
            <a:xfrm>
              <a:off x="7396162" y="4545806"/>
              <a:ext cx="342971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and PowerPoint-safe cleanup happen here.</a:t>
              </a:r>
            </a:p>
          </p:txBody>
        </p:sp>
      </p:grpSp>
      <p:grpSp>
        <p:nvGrpSpPr>
          <p:cNvPr id="51" name="Group 51"/>
          <p:cNvGrpSpPr/>
          <p:nvPr/>
        </p:nvGrpSpPr>
        <p:grpSpPr>
          <a:xfrm>
            <a:off x="9982200" y="2495550"/>
            <a:ext cx="800100" cy="800100"/>
            <a:chOff x="9982200" y="2495550"/>
            <a:chExt cx="800100" cy="800100"/>
          </a:xfrm>
          <a:effectLst>
            <a:outerShdw blurRad="133350" dist="38100" dir="10799140" algn="tl" rotWithShape="0">
              <a:srgbClr val="0F172A">
                <a:alpha val="10000"/>
              </a:srgbClr>
            </a:outerShdw>
          </a:effectLst>
        </p:grpSpPr>
        <p:sp>
          <p:nvSpPr>
            <p:cNvPr id="48" name="Ellipse 48"/>
            <p:cNvSpPr/>
            <p:nvPr/>
          </p:nvSpPr>
          <p:spPr>
            <a:xfrm>
              <a:off x="9982200" y="2495550"/>
              <a:ext cx="800100" cy="800100"/>
            </a:xfrm>
            <a:prstGeom prst="ellipse">
              <a:avLst/>
            </a:prstGeom>
            <a:solidFill>
              <a:srgbClr val="E74C3C"/>
            </a:solidFill>
            <a:ln>
              <a:noFill/>
            </a:ln>
            <a:effectLst>
              <a:outerShdw blurRad="133350" dist="38100" dir="10799140" algn="tl" rotWithShape="0">
                <a:srgbClr val="0F172A">
                  <a:alpha val="10000"/>
                </a:srgbClr>
              </a:outerShdw>
            </a:effectLst>
          </p:spPr>
        </p:sp>
        <p:sp>
          <p:nvSpPr>
            <p:cNvPr id="49" name="TextBox 49"/>
            <p:cNvSpPr txBox="1"/>
            <p:nvPr/>
          </p:nvSpPr>
          <p:spPr>
            <a:xfrm>
              <a:off x="10219001" y="2760345"/>
              <a:ext cx="326498"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PPTX</a:t>
              </a:r>
            </a:p>
          </p:txBody>
        </p:sp>
        <p:sp>
          <p:nvSpPr>
            <p:cNvPr id="50" name="TextBox 50"/>
            <p:cNvSpPr txBox="1"/>
            <p:nvPr/>
          </p:nvSpPr>
          <p:spPr>
            <a:xfrm>
              <a:off x="10243154" y="2912745"/>
              <a:ext cx="278192"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OUT</a:t>
              </a:r>
            </a:p>
          </p:txBody>
        </p:sp>
      </p:grpSp>
      <p:grpSp>
        <p:nvGrpSpPr>
          <p:cNvPr id="56" name="Group 56"/>
          <p:cNvGrpSpPr/>
          <p:nvPr/>
        </p:nvGrpSpPr>
        <p:grpSpPr>
          <a:xfrm>
            <a:off x="9334500" y="3752850"/>
            <a:ext cx="3189208" cy="1790700"/>
            <a:chOff x="9334500" y="3752850"/>
            <a:chExt cx="3189208" cy="1790700"/>
          </a:xfrm>
          <a:effectLst>
            <a:outerShdw blurRad="133350" dist="38100" dir="10799140" algn="tl" rotWithShape="0">
              <a:srgbClr val="0F172A">
                <a:alpha val="10000"/>
              </a:srgbClr>
            </a:outerShdw>
          </a:effectLst>
        </p:grpSpPr>
        <p:sp>
          <p:nvSpPr>
            <p:cNvPr id="52" name="Freeform 52"/>
            <p:cNvSpPr/>
            <p:nvPr/>
          </p:nvSpPr>
          <p:spPr>
            <a:xfrm>
              <a:off x="9334500" y="3752850"/>
              <a:ext cx="2286000" cy="1790700"/>
            </a:xfrm>
            <a:custGeom>
              <a:avLst/>
              <a:gdLst/>
              <a:ahLst/>
              <a:cxnLst/>
              <a:rect l="l" t="t" r="r" b="b"/>
              <a:pathLst>
                <a:path w="2286000" h="1790700">
                  <a:moveTo>
                    <a:pt x="209550" y="0"/>
                  </a:moveTo>
                  <a:lnTo>
                    <a:pt x="2076450" y="0"/>
                  </a:lnTo>
                  <a:cubicBezTo>
                    <a:pt x="2192181" y="0"/>
                    <a:pt x="2286000" y="93819"/>
                    <a:pt x="2286000" y="209550"/>
                  </a:cubicBezTo>
                  <a:lnTo>
                    <a:pt x="2286000" y="1581150"/>
                  </a:lnTo>
                  <a:cubicBezTo>
                    <a:pt x="2286000" y="1696881"/>
                    <a:pt x="2192181" y="1790700"/>
                    <a:pt x="20764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53" name="TextBox 53"/>
            <p:cNvSpPr txBox="1"/>
            <p:nvPr/>
          </p:nvSpPr>
          <p:spPr>
            <a:xfrm>
              <a:off x="9582150" y="3952875"/>
              <a:ext cx="2338387"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Export editable deck</a:t>
              </a:r>
            </a:p>
          </p:txBody>
        </p:sp>
        <p:sp>
          <p:nvSpPr>
            <p:cNvPr id="54" name="TextBox 54"/>
            <p:cNvSpPr txBox="1"/>
            <p:nvPr/>
          </p:nvSpPr>
          <p:spPr>
            <a:xfrm>
              <a:off x="9586912" y="4336256"/>
              <a:ext cx="2936796"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The converter emits a native shapes</a:t>
              </a:r>
            </a:p>
          </p:txBody>
        </p:sp>
        <p:sp>
          <p:nvSpPr>
            <p:cNvPr id="55" name="TextBox 55"/>
            <p:cNvSpPr txBox="1"/>
            <p:nvPr/>
          </p:nvSpPr>
          <p:spPr>
            <a:xfrm>
              <a:off x="9586912" y="4545806"/>
              <a:ext cx="285464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deck plus an SVG reference backup.</a:t>
              </a:r>
            </a:p>
          </p:txBody>
        </p:sp>
      </p:grpSp>
      <p:sp>
        <p:nvSpPr>
          <p:cNvPr id="57" name="TextBox 57"/>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05</a:t>
            </a:r>
          </a:p>
        </p:txBody>
      </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6106475"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Understand, generate, convert</a:t>
            </a:r>
          </a:p>
        </p:txBody>
      </p:sp>
      <p:sp>
        <p:nvSpPr>
          <p:cNvPr id="5" name="TextBox 5"/>
          <p:cNvSpPr txBox="1"/>
          <p:nvPr/>
        </p:nvSpPr>
        <p:spPr>
          <a:xfrm>
            <a:off x="556260" y="975360"/>
            <a:ext cx="6865620"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technical design doc simplifies the entire engine into three distinct phases.</a:t>
            </a:r>
          </a:p>
        </p:txBody>
      </p:sp>
      <p:sp>
        <p:nvSpPr>
          <p:cNvPr id="6" name="Line 6"/>
          <p:cNvSpPr/>
          <p:nvPr/>
        </p:nvSpPr>
        <p:spPr>
          <a:xfrm>
            <a:off x="1524000" y="2457450"/>
            <a:ext cx="9144000" cy="9525"/>
          </a:xfrm>
          <a:custGeom>
            <a:avLst/>
            <a:gdLst/>
            <a:ahLst/>
            <a:cxnLst/>
            <a:rect l="l" t="t" r="r" b="b"/>
            <a:pathLst>
              <a:path w="9144000" h="9525">
                <a:moveTo>
                  <a:pt x="0" y="0"/>
                </a:moveTo>
                <a:lnTo>
                  <a:pt x="9144000" y="0"/>
                </a:lnTo>
              </a:path>
            </a:pathLst>
          </a:custGeom>
          <a:noFill/>
          <a:ln w="38100">
            <a:solidFill>
              <a:srgbClr val="D6DEEA"/>
            </a:solidFill>
          </a:ln>
        </p:spPr>
      </p:sp>
      <p:sp>
        <p:nvSpPr>
          <p:cNvPr id="7" name="Polygon 7"/>
          <p:cNvSpPr/>
          <p:nvPr/>
        </p:nvSpPr>
        <p:spPr>
          <a:xfrm>
            <a:off x="4324350" y="234315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8" name="Polygon 8"/>
          <p:cNvSpPr/>
          <p:nvPr/>
        </p:nvSpPr>
        <p:spPr>
          <a:xfrm>
            <a:off x="7372350" y="234315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grpSp>
        <p:nvGrpSpPr>
          <p:cNvPr id="18" name="Group 18"/>
          <p:cNvGrpSpPr/>
          <p:nvPr/>
        </p:nvGrpSpPr>
        <p:grpSpPr>
          <a:xfrm>
            <a:off x="857250" y="2038350"/>
            <a:ext cx="4005143" cy="3657600"/>
            <a:chOff x="857250" y="2038350"/>
            <a:chExt cx="4005143" cy="3657600"/>
          </a:xfrm>
          <a:effectLst>
            <a:outerShdw blurRad="152400" dist="38100" dir="10799140" algn="tl" rotWithShape="0">
              <a:srgbClr val="0F172A">
                <a:alpha val="10000"/>
              </a:srgbClr>
            </a:outerShdw>
          </a:effectLst>
        </p:grpSpPr>
        <p:sp>
          <p:nvSpPr>
            <p:cNvPr id="9" name="Ellipse 9"/>
            <p:cNvSpPr/>
            <p:nvPr/>
          </p:nvSpPr>
          <p:spPr>
            <a:xfrm>
              <a:off x="1676400" y="2038350"/>
              <a:ext cx="838200" cy="838200"/>
            </a:xfrm>
            <a:prstGeom prst="ellipse">
              <a:avLst/>
            </a:prstGeom>
            <a:solidFill>
              <a:srgbClr val="005587"/>
            </a:solidFill>
            <a:ln>
              <a:noFill/>
            </a:ln>
            <a:effectLst>
              <a:outerShdw blurRad="152400" dist="38100" dir="10799140" algn="tl" rotWithShape="0">
                <a:srgbClr val="0F172A">
                  <a:alpha val="10000"/>
                </a:srgbClr>
              </a:outerShdw>
            </a:effectLst>
          </p:spPr>
        </p:sp>
        <p:sp>
          <p:nvSpPr>
            <p:cNvPr id="10" name="TextBox 10"/>
            <p:cNvSpPr txBox="1"/>
            <p:nvPr/>
          </p:nvSpPr>
          <p:spPr>
            <a:xfrm>
              <a:off x="1955325" y="2186940"/>
              <a:ext cx="280349"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01</a:t>
              </a:r>
            </a:p>
          </p:txBody>
        </p:sp>
        <p:sp>
          <p:nvSpPr>
            <p:cNvPr id="11" name="TextBox 11"/>
            <p:cNvSpPr txBox="1"/>
            <p:nvPr/>
          </p:nvSpPr>
          <p:spPr>
            <a:xfrm>
              <a:off x="1927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12" name="Freeform 12"/>
            <p:cNvSpPr/>
            <p:nvPr/>
          </p:nvSpPr>
          <p:spPr>
            <a:xfrm>
              <a:off x="857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3" name="TextBox 13"/>
            <p:cNvSpPr txBox="1"/>
            <p:nvPr/>
          </p:nvSpPr>
          <p:spPr>
            <a:xfrm>
              <a:off x="1122045" y="3441382"/>
              <a:ext cx="283790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Content understanding</a:t>
              </a:r>
            </a:p>
          </p:txBody>
        </p:sp>
        <p:sp>
          <p:nvSpPr>
            <p:cNvPr id="14" name="TextBox 14"/>
            <p:cNvSpPr txBox="1"/>
            <p:nvPr/>
          </p:nvSpPr>
          <p:spPr>
            <a:xfrm>
              <a:off x="1128712" y="3840956"/>
              <a:ext cx="370903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Source files are transformed into structured</a:t>
              </a:r>
            </a:p>
          </p:txBody>
        </p:sp>
        <p:sp>
          <p:nvSpPr>
            <p:cNvPr id="15" name="TextBox 15"/>
            <p:cNvSpPr txBox="1"/>
            <p:nvPr/>
          </p:nvSpPr>
          <p:spPr>
            <a:xfrm>
              <a:off x="1128712" y="4050506"/>
              <a:ext cx="373368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text, then interpreted into a slide narrative.</a:t>
              </a:r>
            </a:p>
          </p:txBody>
        </p:sp>
        <p:sp>
          <p:nvSpPr>
            <p:cNvPr id="16" name="TextBox 16"/>
            <p:cNvSpPr txBox="1"/>
            <p:nvPr/>
          </p:nvSpPr>
          <p:spPr>
            <a:xfrm>
              <a:off x="1128712" y="4336256"/>
              <a:ext cx="317504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The strategist defines the deck before</a:t>
              </a:r>
            </a:p>
          </p:txBody>
        </p:sp>
        <p:sp>
          <p:nvSpPr>
            <p:cNvPr id="17" name="TextBox 17"/>
            <p:cNvSpPr txBox="1"/>
            <p:nvPr/>
          </p:nvSpPr>
          <p:spPr>
            <a:xfrm>
              <a:off x="1128712" y="4545806"/>
              <a:ext cx="195095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visual execution begins.</a:t>
              </a:r>
            </a:p>
          </p:txBody>
        </p:sp>
      </p:grpSp>
      <p:grpSp>
        <p:nvGrpSpPr>
          <p:cNvPr id="27" name="Group 27"/>
          <p:cNvGrpSpPr/>
          <p:nvPr/>
        </p:nvGrpSpPr>
        <p:grpSpPr>
          <a:xfrm>
            <a:off x="3905250" y="2038350"/>
            <a:ext cx="4251602" cy="3657600"/>
            <a:chOff x="3905250" y="2038350"/>
            <a:chExt cx="4251602" cy="3657600"/>
          </a:xfrm>
          <a:effectLst>
            <a:outerShdw blurRad="152400" dist="38100" dir="10799140" algn="tl" rotWithShape="0">
              <a:srgbClr val="0F172A">
                <a:alpha val="10000"/>
              </a:srgbClr>
            </a:outerShdw>
          </a:effectLst>
        </p:grpSpPr>
        <p:sp>
          <p:nvSpPr>
            <p:cNvPr id="19" name="Ellipse 19"/>
            <p:cNvSpPr/>
            <p:nvPr/>
          </p:nvSpPr>
          <p:spPr>
            <a:xfrm>
              <a:off x="4724400" y="2038350"/>
              <a:ext cx="838200" cy="838200"/>
            </a:xfrm>
            <a:prstGeom prst="ellipse">
              <a:avLst/>
            </a:prstGeom>
            <a:solidFill>
              <a:srgbClr val="0076A8"/>
            </a:solidFill>
            <a:ln>
              <a:noFill/>
            </a:ln>
            <a:effectLst>
              <a:outerShdw blurRad="152400" dist="38100" dir="10799140" algn="tl" rotWithShape="0">
                <a:srgbClr val="0F172A">
                  <a:alpha val="10000"/>
                </a:srgbClr>
              </a:outerShdw>
            </a:effectLst>
          </p:spPr>
        </p:sp>
        <p:sp>
          <p:nvSpPr>
            <p:cNvPr id="20" name="TextBox 20"/>
            <p:cNvSpPr txBox="1"/>
            <p:nvPr/>
          </p:nvSpPr>
          <p:spPr>
            <a:xfrm>
              <a:off x="4968821" y="2186940"/>
              <a:ext cx="349358"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02</a:t>
              </a:r>
            </a:p>
          </p:txBody>
        </p:sp>
        <p:sp>
          <p:nvSpPr>
            <p:cNvPr id="21" name="TextBox 21"/>
            <p:cNvSpPr txBox="1"/>
            <p:nvPr/>
          </p:nvSpPr>
          <p:spPr>
            <a:xfrm>
              <a:off x="4975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22" name="Freeform 22"/>
            <p:cNvSpPr/>
            <p:nvPr/>
          </p:nvSpPr>
          <p:spPr>
            <a:xfrm>
              <a:off x="3905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3" name="TextBox 23"/>
            <p:cNvSpPr txBox="1"/>
            <p:nvPr/>
          </p:nvSpPr>
          <p:spPr>
            <a:xfrm>
              <a:off x="4170045" y="3441382"/>
              <a:ext cx="244571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AI visual generation</a:t>
              </a:r>
            </a:p>
          </p:txBody>
        </p:sp>
        <p:sp>
          <p:nvSpPr>
            <p:cNvPr id="24" name="TextBox 24"/>
            <p:cNvSpPr txBox="1"/>
            <p:nvPr/>
          </p:nvSpPr>
          <p:spPr>
            <a:xfrm>
              <a:off x="4176712" y="3840956"/>
              <a:ext cx="322433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The executor authors each slide as SVG,</a:t>
              </a:r>
            </a:p>
          </p:txBody>
        </p:sp>
        <p:sp>
          <p:nvSpPr>
            <p:cNvPr id="25" name="TextBox 25"/>
            <p:cNvSpPr txBox="1"/>
            <p:nvPr/>
          </p:nvSpPr>
          <p:spPr>
            <a:xfrm>
              <a:off x="4176712" y="4050506"/>
              <a:ext cx="398014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keeping the absolute-coordinate canvas mindset.</a:t>
              </a:r>
            </a:p>
          </p:txBody>
        </p:sp>
        <p:sp>
          <p:nvSpPr>
            <p:cNvPr id="26" name="TextBox 26"/>
            <p:cNvSpPr txBox="1"/>
            <p:nvPr/>
          </p:nvSpPr>
          <p:spPr>
            <a:xfrm>
              <a:off x="4176712" y="4336256"/>
              <a:ext cx="299430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This stage creates the design draft.</a:t>
              </a:r>
            </a:p>
          </p:txBody>
        </p:sp>
      </p:grpSp>
      <p:grpSp>
        <p:nvGrpSpPr>
          <p:cNvPr id="36" name="Group 36"/>
          <p:cNvGrpSpPr/>
          <p:nvPr/>
        </p:nvGrpSpPr>
        <p:grpSpPr>
          <a:xfrm>
            <a:off x="6953250" y="2038350"/>
            <a:ext cx="4021574" cy="3657600"/>
            <a:chOff x="6953250" y="2038350"/>
            <a:chExt cx="4021574" cy="3657600"/>
          </a:xfrm>
          <a:effectLst>
            <a:outerShdw blurRad="152400" dist="38100" dir="10799140" algn="tl" rotWithShape="0">
              <a:srgbClr val="0F172A">
                <a:alpha val="10000"/>
              </a:srgbClr>
            </a:outerShdw>
          </a:effectLst>
        </p:grpSpPr>
        <p:sp>
          <p:nvSpPr>
            <p:cNvPr id="28" name="Ellipse 28"/>
            <p:cNvSpPr/>
            <p:nvPr/>
          </p:nvSpPr>
          <p:spPr>
            <a:xfrm>
              <a:off x="7772400" y="2038350"/>
              <a:ext cx="838200" cy="838200"/>
            </a:xfrm>
            <a:prstGeom prst="ellipse">
              <a:avLst/>
            </a:prstGeom>
            <a:solidFill>
              <a:srgbClr val="F5A623"/>
            </a:solidFill>
            <a:ln>
              <a:noFill/>
            </a:ln>
            <a:effectLst>
              <a:outerShdw blurRad="152400" dist="38100" dir="10799140" algn="tl" rotWithShape="0">
                <a:srgbClr val="0F172A">
                  <a:alpha val="10000"/>
                </a:srgbClr>
              </a:outerShdw>
            </a:effectLst>
          </p:spPr>
        </p:sp>
        <p:sp>
          <p:nvSpPr>
            <p:cNvPr id="29" name="TextBox 29"/>
            <p:cNvSpPr txBox="1"/>
            <p:nvPr/>
          </p:nvSpPr>
          <p:spPr>
            <a:xfrm>
              <a:off x="8016821" y="2186940"/>
              <a:ext cx="349358"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03</a:t>
              </a:r>
            </a:p>
          </p:txBody>
        </p:sp>
        <p:sp>
          <p:nvSpPr>
            <p:cNvPr id="30" name="TextBox 30"/>
            <p:cNvSpPr txBox="1"/>
            <p:nvPr/>
          </p:nvSpPr>
          <p:spPr>
            <a:xfrm>
              <a:off x="8023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31" name="Freeform 31"/>
            <p:cNvSpPr/>
            <p:nvPr/>
          </p:nvSpPr>
          <p:spPr>
            <a:xfrm>
              <a:off x="6953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32" name="TextBox 32"/>
            <p:cNvSpPr txBox="1"/>
            <p:nvPr/>
          </p:nvSpPr>
          <p:spPr>
            <a:xfrm>
              <a:off x="7218045" y="3441382"/>
              <a:ext cx="2850561"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Engineering conversion</a:t>
              </a:r>
            </a:p>
          </p:txBody>
        </p:sp>
        <p:sp>
          <p:nvSpPr>
            <p:cNvPr id="33" name="TextBox 33"/>
            <p:cNvSpPr txBox="1"/>
            <p:nvPr/>
          </p:nvSpPr>
          <p:spPr>
            <a:xfrm>
              <a:off x="7224712" y="3840956"/>
              <a:ext cx="339685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Post-processing and export translate the</a:t>
              </a:r>
            </a:p>
          </p:txBody>
        </p:sp>
        <p:sp>
          <p:nvSpPr>
            <p:cNvPr id="34" name="TextBox 34"/>
            <p:cNvSpPr txBox="1"/>
            <p:nvPr/>
          </p:nvSpPr>
          <p:spPr>
            <a:xfrm>
              <a:off x="7224712" y="4050506"/>
              <a:ext cx="375011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vector draft into editable DrawingML objects.</a:t>
              </a:r>
            </a:p>
          </p:txBody>
        </p:sp>
        <p:sp>
          <p:nvSpPr>
            <p:cNvPr id="35" name="TextBox 35"/>
            <p:cNvSpPr txBox="1"/>
            <p:nvPr/>
          </p:nvSpPr>
          <p:spPr>
            <a:xfrm>
              <a:off x="7224712" y="4336256"/>
              <a:ext cx="336399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This stage creates the delivery artifact.</a:t>
              </a:r>
            </a:p>
          </p:txBody>
        </p:sp>
      </p:grpSp>
      <p:grpSp>
        <p:nvGrpSpPr>
          <p:cNvPr id="42" name="Group 42"/>
          <p:cNvGrpSpPr/>
          <p:nvPr/>
        </p:nvGrpSpPr>
        <p:grpSpPr>
          <a:xfrm>
            <a:off x="10001250" y="3219450"/>
            <a:ext cx="1627465" cy="2476500"/>
            <a:chOff x="10001250" y="3219450"/>
            <a:chExt cx="1627465" cy="2476500"/>
          </a:xfrm>
          <a:effectLst>
            <a:outerShdw blurRad="152400" dist="38100" dir="10799140" algn="tl" rotWithShape="0">
              <a:srgbClr val="0F172A">
                <a:alpha val="10000"/>
              </a:srgbClr>
            </a:outerShdw>
          </a:effectLst>
        </p:grpSpPr>
        <p:sp>
          <p:nvSpPr>
            <p:cNvPr id="37" name="Freeform 37"/>
            <p:cNvSpPr/>
            <p:nvPr/>
          </p:nvSpPr>
          <p:spPr>
            <a:xfrm>
              <a:off x="10001250" y="3219450"/>
              <a:ext cx="1619250" cy="2476500"/>
            </a:xfrm>
            <a:custGeom>
              <a:avLst/>
              <a:gdLst/>
              <a:ahLst/>
              <a:cxnLst/>
              <a:rect l="l" t="t" r="r" b="b"/>
              <a:pathLst>
                <a:path w="1619250" h="2476500">
                  <a:moveTo>
                    <a:pt x="228600" y="0"/>
                  </a:moveTo>
                  <a:lnTo>
                    <a:pt x="1390650" y="0"/>
                  </a:lnTo>
                  <a:cubicBezTo>
                    <a:pt x="1516902" y="0"/>
                    <a:pt x="1619250" y="102348"/>
                    <a:pt x="1619250" y="228600"/>
                  </a:cubicBezTo>
                  <a:lnTo>
                    <a:pt x="1619250" y="2247900"/>
                  </a:lnTo>
                  <a:cubicBezTo>
                    <a:pt x="1619250" y="2374152"/>
                    <a:pt x="1516902" y="2476500"/>
                    <a:pt x="139065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38" name="TextBox 38"/>
            <p:cNvSpPr txBox="1"/>
            <p:nvPr/>
          </p:nvSpPr>
          <p:spPr>
            <a:xfrm>
              <a:off x="10267950" y="3476625"/>
              <a:ext cx="1360765"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2C3E50"/>
                  </a:solidFill>
                  <a:latin typeface="Arial"/>
                  <a:ea typeface="Microsoft YaHei"/>
                  <a:cs typeface="Arial"/>
                </a:rPr>
                <a:t>Output pair</a:t>
              </a:r>
            </a:p>
          </p:txBody>
        </p:sp>
        <p:sp>
          <p:nvSpPr>
            <p:cNvPr id="39" name="TextBox 39"/>
            <p:cNvSpPr txBox="1"/>
            <p:nvPr/>
          </p:nvSpPr>
          <p:spPr>
            <a:xfrm>
              <a:off x="10272712" y="3917156"/>
              <a:ext cx="94047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Native PPTX</a:t>
              </a:r>
            </a:p>
          </p:txBody>
        </p:sp>
        <p:sp>
          <p:nvSpPr>
            <p:cNvPr id="40" name="TextBox 40"/>
            <p:cNvSpPr txBox="1"/>
            <p:nvPr/>
          </p:nvSpPr>
          <p:spPr>
            <a:xfrm>
              <a:off x="10272712" y="4145756"/>
              <a:ext cx="89118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SVG backup</a:t>
              </a:r>
            </a:p>
          </p:txBody>
        </p:sp>
        <p:sp>
          <p:nvSpPr>
            <p:cNvPr id="41" name="TextBox 41"/>
            <p:cNvSpPr txBox="1"/>
            <p:nvPr/>
          </p:nvSpPr>
          <p:spPr>
            <a:xfrm>
              <a:off x="10272712" y="4374356"/>
              <a:ext cx="116228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Speaker notes</a:t>
              </a:r>
            </a:p>
          </p:txBody>
        </p:sp>
      </p:grpSp>
      <p:sp>
        <p:nvSpPr>
          <p:cNvPr id="43" name="TextBox 43"/>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06</a:t>
            </a:r>
          </a:p>
        </p:txBody>
      </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6575734"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SVG is the practical bridge format</a:t>
            </a:r>
          </a:p>
        </p:txBody>
      </p:sp>
      <p:sp>
        <p:nvSpPr>
          <p:cNvPr id="5" name="TextBox 5"/>
          <p:cNvSpPr txBox="1"/>
          <p:nvPr/>
        </p:nvSpPr>
        <p:spPr>
          <a:xfrm>
            <a:off x="556260" y="975360"/>
            <a:ext cx="6278499"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technical design doc explains the choice by elimination, not by trend.</a:t>
            </a:r>
          </a:p>
        </p:txBody>
      </p:sp>
      <p:grpSp>
        <p:nvGrpSpPr>
          <p:cNvPr id="33" name="Group 33"/>
          <p:cNvGrpSpPr/>
          <p:nvPr/>
        </p:nvGrpSpPr>
        <p:grpSpPr>
          <a:xfrm>
            <a:off x="571500" y="1524000"/>
            <a:ext cx="14670762" cy="4514850"/>
            <a:chOff x="571500" y="1524000"/>
            <a:chExt cx="14670762" cy="4514850"/>
          </a:xfrm>
          <a:effectLst>
            <a:outerShdw blurRad="133350" dist="38100" dir="10799140" algn="tl" rotWithShape="0">
              <a:srgbClr val="0F172A">
                <a:alpha val="10000"/>
              </a:srgbClr>
            </a:outerShdw>
          </a:effectLst>
        </p:grpSpPr>
        <p:sp>
          <p:nvSpPr>
            <p:cNvPr id="6" name="Freeform 6"/>
            <p:cNvSpPr/>
            <p:nvPr/>
          </p:nvSpPr>
          <p:spPr>
            <a:xfrm>
              <a:off x="571500" y="1524000"/>
              <a:ext cx="11049000" cy="4514850"/>
            </a:xfrm>
            <a:custGeom>
              <a:avLst/>
              <a:gdLst/>
              <a:ahLst/>
              <a:cxnLst/>
              <a:rect l="l" t="t" r="r" b="b"/>
              <a:pathLst>
                <a:path w="11049000" h="4514850">
                  <a:moveTo>
                    <a:pt x="228600" y="0"/>
                  </a:moveTo>
                  <a:lnTo>
                    <a:pt x="10820400" y="0"/>
                  </a:lnTo>
                  <a:cubicBezTo>
                    <a:pt x="10946652" y="0"/>
                    <a:pt x="11049000" y="102348"/>
                    <a:pt x="11049000" y="228600"/>
                  </a:cubicBezTo>
                  <a:lnTo>
                    <a:pt x="11049000" y="4286250"/>
                  </a:lnTo>
                  <a:cubicBezTo>
                    <a:pt x="11049000" y="4412502"/>
                    <a:pt x="10946652" y="4514850"/>
                    <a:pt x="10820400" y="4514850"/>
                  </a:cubicBezTo>
                  <a:lnTo>
                    <a:pt x="228600" y="4514850"/>
                  </a:lnTo>
                  <a:cubicBezTo>
                    <a:pt x="102348" y="4514850"/>
                    <a:pt x="0" y="4412502"/>
                    <a:pt x="0" y="4286250"/>
                  </a:cubicBezTo>
                  <a:lnTo>
                    <a:pt x="0" y="228600"/>
                  </a:lnTo>
                  <a:cubicBezTo>
                    <a:pt x="0" y="102348"/>
                    <a:pt x="102348" y="0"/>
                    <a:pt x="22860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7" name="Freeform 7"/>
            <p:cNvSpPr/>
            <p:nvPr/>
          </p:nvSpPr>
          <p:spPr>
            <a:xfrm>
              <a:off x="571500" y="1524000"/>
              <a:ext cx="11049000" cy="704850"/>
            </a:xfrm>
            <a:custGeom>
              <a:avLst/>
              <a:gdLst/>
              <a:ahLst/>
              <a:cxnLst/>
              <a:rect l="l" t="t" r="r" b="b"/>
              <a:pathLst>
                <a:path w="11049000" h="704850">
                  <a:moveTo>
                    <a:pt x="228600" y="0"/>
                  </a:moveTo>
                  <a:lnTo>
                    <a:pt x="10820400" y="0"/>
                  </a:lnTo>
                  <a:cubicBezTo>
                    <a:pt x="10946652" y="0"/>
                    <a:pt x="11049000" y="102348"/>
                    <a:pt x="11049000" y="228600"/>
                  </a:cubicBezTo>
                  <a:lnTo>
                    <a:pt x="11049000" y="476250"/>
                  </a:lnTo>
                  <a:cubicBezTo>
                    <a:pt x="11049000" y="602502"/>
                    <a:pt x="10946652" y="704850"/>
                    <a:pt x="10820400" y="704850"/>
                  </a:cubicBezTo>
                  <a:lnTo>
                    <a:pt x="228600" y="704850"/>
                  </a:lnTo>
                  <a:cubicBezTo>
                    <a:pt x="102348" y="704850"/>
                    <a:pt x="0" y="602502"/>
                    <a:pt x="0" y="476250"/>
                  </a:cubicBezTo>
                  <a:lnTo>
                    <a:pt x="0" y="228600"/>
                  </a:lnTo>
                  <a:cubicBezTo>
                    <a:pt x="0" y="102348"/>
                    <a:pt x="102348" y="0"/>
                    <a:pt x="228600" y="0"/>
                  </a:cubicBezTo>
                  <a:close/>
                </a:path>
              </a:pathLst>
            </a:custGeom>
            <a:solidFill>
              <a:srgbClr val="ECF0F1"/>
            </a:solidFill>
            <a:ln>
              <a:noFill/>
            </a:ln>
            <a:effectLst>
              <a:outerShdw blurRad="133350" dist="38100" dir="10799140" algn="tl" rotWithShape="0">
                <a:srgbClr val="0F172A">
                  <a:alpha val="10000"/>
                </a:srgbClr>
              </a:outerShdw>
            </a:effectLst>
          </p:spPr>
        </p:sp>
        <p:sp>
          <p:nvSpPr>
            <p:cNvPr id="8" name="TextBox 8"/>
            <p:cNvSpPr txBox="1"/>
            <p:nvPr/>
          </p:nvSpPr>
          <p:spPr>
            <a:xfrm>
              <a:off x="1011555" y="1806892"/>
              <a:ext cx="945204"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5D6D7E"/>
                  </a:solidFill>
                  <a:latin typeface="Arial"/>
                  <a:ea typeface="Microsoft YaHei"/>
                  <a:cs typeface="Arial"/>
                </a:rPr>
                <a:t>Approach</a:t>
              </a:r>
            </a:p>
          </p:txBody>
        </p:sp>
        <p:sp>
          <p:nvSpPr>
            <p:cNvPr id="9" name="TextBox 9"/>
            <p:cNvSpPr txBox="1"/>
            <p:nvPr/>
          </p:nvSpPr>
          <p:spPr>
            <a:xfrm>
              <a:off x="4040505" y="1806892"/>
              <a:ext cx="1814713"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5D6D7E"/>
                  </a:solidFill>
                  <a:latin typeface="Arial"/>
                  <a:ea typeface="Microsoft YaHei"/>
                  <a:cs typeface="Arial"/>
                </a:rPr>
                <a:t>Why it falls short</a:t>
              </a:r>
            </a:p>
          </p:txBody>
        </p:sp>
        <p:sp>
          <p:nvSpPr>
            <p:cNvPr id="10" name="TextBox 10"/>
            <p:cNvSpPr txBox="1"/>
            <p:nvPr/>
          </p:nvSpPr>
          <p:spPr>
            <a:xfrm>
              <a:off x="8841105" y="1806892"/>
              <a:ext cx="1845766"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005587"/>
                  </a:solidFill>
                  <a:latin typeface="Arial"/>
                  <a:ea typeface="Microsoft YaHei"/>
                  <a:cs typeface="Arial"/>
                </a:rPr>
                <a:t>Why SVG wins here</a:t>
              </a:r>
            </a:p>
          </p:txBody>
        </p:sp>
        <p:sp>
          <p:nvSpPr>
            <p:cNvPr id="11" name="Line 11"/>
            <p:cNvSpPr/>
            <p:nvPr/>
          </p:nvSpPr>
          <p:spPr>
            <a:xfrm>
              <a:off x="3429000" y="1524000"/>
              <a:ext cx="9525" cy="4514850"/>
            </a:xfrm>
            <a:custGeom>
              <a:avLst/>
              <a:gdLst/>
              <a:ahLst/>
              <a:cxnLst/>
              <a:rect l="l" t="t" r="r" b="b"/>
              <a:pathLst>
                <a:path w="9525" h="4514850">
                  <a:moveTo>
                    <a:pt x="0" y="0"/>
                  </a:moveTo>
                  <a:lnTo>
                    <a:pt x="0" y="4514850"/>
                  </a:lnTo>
                </a:path>
              </a:pathLst>
            </a:custGeom>
            <a:noFill/>
            <a:ln w="19050">
              <a:solidFill>
                <a:srgbClr val="D6DEEA"/>
              </a:solidFill>
            </a:ln>
          </p:spPr>
        </p:sp>
        <p:sp>
          <p:nvSpPr>
            <p:cNvPr id="12" name="Line 12"/>
            <p:cNvSpPr/>
            <p:nvPr/>
          </p:nvSpPr>
          <p:spPr>
            <a:xfrm>
              <a:off x="8096250" y="1524000"/>
              <a:ext cx="9525" cy="4514850"/>
            </a:xfrm>
            <a:custGeom>
              <a:avLst/>
              <a:gdLst/>
              <a:ahLst/>
              <a:cxnLst/>
              <a:rect l="l" t="t" r="r" b="b"/>
              <a:pathLst>
                <a:path w="9525" h="4514850">
                  <a:moveTo>
                    <a:pt x="0" y="0"/>
                  </a:moveTo>
                  <a:lnTo>
                    <a:pt x="0" y="4514850"/>
                  </a:lnTo>
                </a:path>
              </a:pathLst>
            </a:custGeom>
            <a:noFill/>
            <a:ln w="19050">
              <a:solidFill>
                <a:srgbClr val="D6DEEA"/>
              </a:solidFill>
            </a:ln>
          </p:spPr>
        </p:sp>
        <p:sp>
          <p:nvSpPr>
            <p:cNvPr id="13" name="Line 13"/>
            <p:cNvSpPr/>
            <p:nvPr/>
          </p:nvSpPr>
          <p:spPr>
            <a:xfrm>
              <a:off x="571500" y="24003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4" name="Line 14"/>
            <p:cNvSpPr/>
            <p:nvPr/>
          </p:nvSpPr>
          <p:spPr>
            <a:xfrm>
              <a:off x="571500" y="33147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5" name="Line 15"/>
            <p:cNvSpPr/>
            <p:nvPr/>
          </p:nvSpPr>
          <p:spPr>
            <a:xfrm>
              <a:off x="571500" y="42291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6" name="Line 16"/>
            <p:cNvSpPr/>
            <p:nvPr/>
          </p:nvSpPr>
          <p:spPr>
            <a:xfrm>
              <a:off x="571500" y="51435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7" name="TextBox 17"/>
            <p:cNvSpPr txBox="1"/>
            <p:nvPr/>
          </p:nvSpPr>
          <p:spPr>
            <a:xfrm>
              <a:off x="1011555" y="2787968"/>
              <a:ext cx="1783659"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2C3E50"/>
                  </a:solidFill>
                  <a:latin typeface="Arial"/>
                  <a:ea typeface="Microsoft YaHei"/>
                  <a:cs typeface="Arial"/>
                </a:rPr>
                <a:t>Direct DrawingML</a:t>
              </a:r>
            </a:p>
          </p:txBody>
        </p:sp>
        <p:sp>
          <p:nvSpPr>
            <p:cNvPr id="18" name="TextBox 18"/>
            <p:cNvSpPr txBox="1"/>
            <p:nvPr/>
          </p:nvSpPr>
          <p:spPr>
            <a:xfrm>
              <a:off x="3700462" y="2621756"/>
              <a:ext cx="2994303"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Too verbose for robust AI authoring.</a:t>
              </a:r>
            </a:p>
          </p:txBody>
        </p:sp>
        <p:sp>
          <p:nvSpPr>
            <p:cNvPr id="19" name="TextBox 19"/>
            <p:cNvSpPr txBox="1"/>
            <p:nvPr/>
          </p:nvSpPr>
          <p:spPr>
            <a:xfrm>
              <a:off x="3700462" y="2831306"/>
              <a:ext cx="1762006"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Hard to debug by eye.</a:t>
              </a:r>
            </a:p>
          </p:txBody>
        </p:sp>
        <p:sp>
          <p:nvSpPr>
            <p:cNvPr id="20" name="TextBox 20"/>
            <p:cNvSpPr txBox="1"/>
            <p:nvPr/>
          </p:nvSpPr>
          <p:spPr>
            <a:xfrm>
              <a:off x="8386762" y="2812256"/>
              <a:ext cx="413623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005587"/>
                  </a:solidFill>
                  <a:latin typeface="Arial"/>
                  <a:ea typeface="Microsoft YaHei"/>
                  <a:cs typeface="Arial"/>
                </a:rPr>
                <a:t>SVG keeps the vector logic readable before export.</a:t>
              </a:r>
            </a:p>
          </p:txBody>
        </p:sp>
        <p:sp>
          <p:nvSpPr>
            <p:cNvPr id="21" name="TextBox 21"/>
            <p:cNvSpPr txBox="1"/>
            <p:nvPr/>
          </p:nvSpPr>
          <p:spPr>
            <a:xfrm>
              <a:off x="1011555" y="3702368"/>
              <a:ext cx="986609"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2C3E50"/>
                  </a:solidFill>
                  <a:latin typeface="Arial"/>
                  <a:ea typeface="Microsoft YaHei"/>
                  <a:cs typeface="Arial"/>
                </a:rPr>
                <a:t>HTML/CSS</a:t>
              </a:r>
            </a:p>
          </p:txBody>
        </p:sp>
        <p:sp>
          <p:nvSpPr>
            <p:cNvPr id="22" name="TextBox 22"/>
            <p:cNvSpPr txBox="1"/>
            <p:nvPr/>
          </p:nvSpPr>
          <p:spPr>
            <a:xfrm>
              <a:off x="3700462" y="3536156"/>
              <a:ext cx="322433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Great for document flow and browsers,</a:t>
              </a:r>
            </a:p>
          </p:txBody>
        </p:sp>
        <p:sp>
          <p:nvSpPr>
            <p:cNvPr id="23" name="TextBox 23"/>
            <p:cNvSpPr txBox="1"/>
            <p:nvPr/>
          </p:nvSpPr>
          <p:spPr>
            <a:xfrm>
              <a:off x="3700462" y="37457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weak for independent slide objects.</a:t>
              </a:r>
            </a:p>
          </p:txBody>
        </p:sp>
        <p:sp>
          <p:nvSpPr>
            <p:cNvPr id="24" name="TextBox 24"/>
            <p:cNvSpPr txBox="1"/>
            <p:nvPr/>
          </p:nvSpPr>
          <p:spPr>
            <a:xfrm>
              <a:off x="8386762" y="3726656"/>
              <a:ext cx="328183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005587"/>
                  </a:solidFill>
                  <a:latin typeface="Arial"/>
                  <a:ea typeface="Microsoft YaHei"/>
                  <a:cs typeface="Arial"/>
                </a:rPr>
                <a:t>SVG matches the slide canvas worldview.</a:t>
              </a:r>
            </a:p>
          </p:txBody>
        </p:sp>
        <p:sp>
          <p:nvSpPr>
            <p:cNvPr id="25" name="TextBox 25"/>
            <p:cNvSpPr txBox="1"/>
            <p:nvPr/>
          </p:nvSpPr>
          <p:spPr>
            <a:xfrm>
              <a:off x="1011555" y="4616768"/>
              <a:ext cx="1079771"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2C3E50"/>
                  </a:solidFill>
                  <a:latin typeface="Arial"/>
                  <a:ea typeface="Microsoft YaHei"/>
                  <a:cs typeface="Arial"/>
                </a:rPr>
                <a:t>WMF / EMF</a:t>
              </a:r>
            </a:p>
          </p:txBody>
        </p:sp>
        <p:sp>
          <p:nvSpPr>
            <p:cNvPr id="26" name="TextBox 26"/>
            <p:cNvSpPr txBox="1"/>
            <p:nvPr/>
          </p:nvSpPr>
          <p:spPr>
            <a:xfrm>
              <a:off x="3700462" y="4450556"/>
              <a:ext cx="326540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Closer to Microsoft graphics internally,</a:t>
              </a:r>
            </a:p>
          </p:txBody>
        </p:sp>
        <p:sp>
          <p:nvSpPr>
            <p:cNvPr id="27" name="TextBox 27"/>
            <p:cNvSpPr txBox="1"/>
            <p:nvPr/>
          </p:nvSpPr>
          <p:spPr>
            <a:xfrm>
              <a:off x="3700462" y="4660106"/>
              <a:ext cx="364331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but nearly useless as an AI authoring target.</a:t>
              </a:r>
            </a:p>
          </p:txBody>
        </p:sp>
        <p:sp>
          <p:nvSpPr>
            <p:cNvPr id="28" name="TextBox 28"/>
            <p:cNvSpPr txBox="1"/>
            <p:nvPr/>
          </p:nvSpPr>
          <p:spPr>
            <a:xfrm>
              <a:off x="8386762" y="4641056"/>
              <a:ext cx="500705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005587"/>
                  </a:solidFill>
                  <a:latin typeface="Arial"/>
                  <a:ea typeface="Microsoft YaHei"/>
                  <a:cs typeface="Arial"/>
                </a:rPr>
                <a:t>SVG has far better model familiarity and visual inspectability.</a:t>
              </a:r>
            </a:p>
          </p:txBody>
        </p:sp>
        <p:sp>
          <p:nvSpPr>
            <p:cNvPr id="29" name="TextBox 29"/>
            <p:cNvSpPr txBox="1"/>
            <p:nvPr/>
          </p:nvSpPr>
          <p:spPr>
            <a:xfrm>
              <a:off x="1011555" y="5531168"/>
              <a:ext cx="1752605"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2C3E50"/>
                  </a:solidFill>
                  <a:latin typeface="Arial"/>
                  <a:ea typeface="Microsoft YaHei"/>
                  <a:cs typeface="Arial"/>
                </a:rPr>
                <a:t>SVG as image only</a:t>
              </a:r>
            </a:p>
          </p:txBody>
        </p:sp>
        <p:sp>
          <p:nvSpPr>
            <p:cNvPr id="30" name="TextBox 30"/>
            <p:cNvSpPr txBox="1"/>
            <p:nvPr/>
          </p:nvSpPr>
          <p:spPr>
            <a:xfrm>
              <a:off x="3700462" y="5364956"/>
              <a:ext cx="368438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Easy export path, but editability disappears.</a:t>
              </a:r>
            </a:p>
          </p:txBody>
        </p:sp>
        <p:sp>
          <p:nvSpPr>
            <p:cNvPr id="31" name="TextBox 31"/>
            <p:cNvSpPr txBox="1"/>
            <p:nvPr/>
          </p:nvSpPr>
          <p:spPr>
            <a:xfrm>
              <a:off x="3700462" y="55745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Everything becomes a static visual.</a:t>
              </a:r>
            </a:p>
          </p:txBody>
        </p:sp>
        <p:sp>
          <p:nvSpPr>
            <p:cNvPr id="32" name="TextBox 32"/>
            <p:cNvSpPr txBox="1"/>
            <p:nvPr/>
          </p:nvSpPr>
          <p:spPr>
            <a:xfrm>
              <a:off x="8386762" y="5555456"/>
              <a:ext cx="685550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005587"/>
                  </a:solidFill>
                  <a:latin typeface="Arial"/>
                  <a:ea typeface="Microsoft YaHei"/>
                  <a:cs typeface="Arial"/>
                </a:rPr>
                <a:t>PPT Master uses SVG as an intermediate engineering artifact, not as the final image.</a:t>
              </a:r>
            </a:p>
          </p:txBody>
        </p:sp>
      </p:grpSp>
      <p:sp>
        <p:nvSpPr>
          <p:cNvPr id="34" name="TextBox 34"/>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07</a:t>
            </a:r>
          </a:p>
        </p:txBody>
      </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6732153"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AI is the designer, not the finisher</a:t>
            </a:r>
          </a:p>
        </p:txBody>
      </p:sp>
      <p:sp>
        <p:nvSpPr>
          <p:cNvPr id="5" name="TextBox 5"/>
          <p:cNvSpPr txBox="1"/>
          <p:nvPr/>
        </p:nvSpPr>
        <p:spPr>
          <a:xfrm>
            <a:off x="556260" y="975360"/>
            <a:ext cx="8372856"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docs are unusually direct: this is a draft generator for professionals, not a magic finalizer.</a:t>
            </a:r>
          </a:p>
        </p:txBody>
      </p:sp>
      <p:grpSp>
        <p:nvGrpSpPr>
          <p:cNvPr id="13" name="Group 13"/>
          <p:cNvGrpSpPr/>
          <p:nvPr/>
        </p:nvGrpSpPr>
        <p:grpSpPr>
          <a:xfrm>
            <a:off x="571500" y="1581150"/>
            <a:ext cx="7112937" cy="4457700"/>
            <a:chOff x="571500" y="1581150"/>
            <a:chExt cx="7112937" cy="4457700"/>
          </a:xfrm>
          <a:effectLst>
            <a:outerShdw blurRad="152400" dist="38100" dir="10799140" algn="tl" rotWithShape="0">
              <a:srgbClr val="0F172A">
                <a:alpha val="10000"/>
              </a:srgbClr>
            </a:outerShdw>
          </a:effectLst>
        </p:grpSpPr>
        <p:sp>
          <p:nvSpPr>
            <p:cNvPr id="6" name="Freeform 6"/>
            <p:cNvSpPr/>
            <p:nvPr/>
          </p:nvSpPr>
          <p:spPr>
            <a:xfrm>
              <a:off x="571500" y="1581150"/>
              <a:ext cx="4610100" cy="4457700"/>
            </a:xfrm>
            <a:custGeom>
              <a:avLst/>
              <a:gdLst/>
              <a:ahLst/>
              <a:cxnLst/>
              <a:rect l="l" t="t" r="r" b="b"/>
              <a:pathLst>
                <a:path w="4610100" h="4457700">
                  <a:moveTo>
                    <a:pt x="266700" y="0"/>
                  </a:moveTo>
                  <a:lnTo>
                    <a:pt x="4343400" y="0"/>
                  </a:lnTo>
                  <a:cubicBezTo>
                    <a:pt x="4490694" y="0"/>
                    <a:pt x="4610100" y="119406"/>
                    <a:pt x="4610100" y="266700"/>
                  </a:cubicBezTo>
                  <a:lnTo>
                    <a:pt x="4610100" y="4191000"/>
                  </a:lnTo>
                  <a:cubicBezTo>
                    <a:pt x="4610100" y="4338294"/>
                    <a:pt x="4490694" y="4457700"/>
                    <a:pt x="4343400" y="4457700"/>
                  </a:cubicBezTo>
                  <a:lnTo>
                    <a:pt x="266700" y="4457700"/>
                  </a:lnTo>
                  <a:cubicBezTo>
                    <a:pt x="119406" y="4457700"/>
                    <a:pt x="0" y="4338294"/>
                    <a:pt x="0" y="4191000"/>
                  </a:cubicBezTo>
                  <a:lnTo>
                    <a:pt x="0" y="266700"/>
                  </a:lnTo>
                  <a:cubicBezTo>
                    <a:pt x="0" y="119406"/>
                    <a:pt x="119406" y="0"/>
                    <a:pt x="266700" y="0"/>
                  </a:cubicBezTo>
                  <a:close/>
                </a:path>
              </a:pathLst>
            </a:custGeom>
            <a:solidFill>
              <a:srgbClr val="005587"/>
            </a:solidFill>
            <a:ln>
              <a:noFill/>
            </a:ln>
            <a:effectLst>
              <a:outerShdw blurRad="152400" dist="38100" dir="10799140" algn="tl" rotWithShape="0">
                <a:srgbClr val="0F172A">
                  <a:alpha val="10000"/>
                </a:srgbClr>
              </a:outerShdw>
            </a:effectLst>
          </p:spPr>
        </p:sp>
        <p:sp>
          <p:nvSpPr>
            <p:cNvPr id="7" name="TextBox 7"/>
            <p:cNvSpPr txBox="1"/>
            <p:nvPr/>
          </p:nvSpPr>
          <p:spPr>
            <a:xfrm>
              <a:off x="914400" y="2171700"/>
              <a:ext cx="4791789"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The goal is to remove</a:t>
              </a:r>
            </a:p>
          </p:txBody>
        </p:sp>
        <p:sp>
          <p:nvSpPr>
            <p:cNvPr id="8" name="TextBox 8"/>
            <p:cNvSpPr txBox="1"/>
            <p:nvPr/>
          </p:nvSpPr>
          <p:spPr>
            <a:xfrm>
              <a:off x="914400" y="2667000"/>
              <a:ext cx="6770037"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most of the blank-page work,</a:t>
              </a:r>
            </a:p>
          </p:txBody>
        </p:sp>
        <p:sp>
          <p:nvSpPr>
            <p:cNvPr id="9" name="TextBox 9"/>
            <p:cNvSpPr txBox="1"/>
            <p:nvPr/>
          </p:nvSpPr>
          <p:spPr>
            <a:xfrm>
              <a:off x="914400" y="3162300"/>
              <a:ext cx="5665899"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not to replace judgment.</a:t>
              </a:r>
            </a:p>
          </p:txBody>
        </p:sp>
        <p:sp>
          <p:nvSpPr>
            <p:cNvPr id="10" name="TextBox 10"/>
            <p:cNvSpPr txBox="1"/>
            <p:nvPr/>
          </p:nvSpPr>
          <p:spPr>
            <a:xfrm>
              <a:off x="935355" y="4350068"/>
              <a:ext cx="3879056"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Think of it as an architect's rendering:</a:t>
              </a:r>
            </a:p>
          </p:txBody>
        </p:sp>
        <p:sp>
          <p:nvSpPr>
            <p:cNvPr id="11" name="TextBox 11"/>
            <p:cNvSpPr txBox="1"/>
            <p:nvPr/>
          </p:nvSpPr>
          <p:spPr>
            <a:xfrm>
              <a:off x="935355" y="4597718"/>
              <a:ext cx="3425571"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strong direction, clear structure,</a:t>
              </a:r>
            </a:p>
          </p:txBody>
        </p:sp>
        <p:sp>
          <p:nvSpPr>
            <p:cNvPr id="12" name="TextBox 12"/>
            <p:cNvSpPr txBox="1"/>
            <p:nvPr/>
          </p:nvSpPr>
          <p:spPr>
            <a:xfrm>
              <a:off x="935355" y="4845368"/>
              <a:ext cx="375089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but still open to human finishing work.</a:t>
              </a:r>
            </a:p>
          </p:txBody>
        </p:sp>
      </p:grpSp>
      <p:grpSp>
        <p:nvGrpSpPr>
          <p:cNvPr id="19" name="Group 19"/>
          <p:cNvGrpSpPr/>
          <p:nvPr/>
        </p:nvGrpSpPr>
        <p:grpSpPr>
          <a:xfrm>
            <a:off x="5562600" y="1581150"/>
            <a:ext cx="6057900" cy="2038350"/>
            <a:chOff x="5562600" y="1581150"/>
            <a:chExt cx="6057900" cy="2038350"/>
          </a:xfrm>
          <a:effectLst>
            <a:outerShdw blurRad="152400" dist="38100" dir="10799140" algn="tl" rotWithShape="0">
              <a:srgbClr val="0F172A">
                <a:alpha val="10000"/>
              </a:srgbClr>
            </a:outerShdw>
          </a:effectLst>
        </p:grpSpPr>
        <p:sp>
          <p:nvSpPr>
            <p:cNvPr id="14" name="Freeform 14"/>
            <p:cNvSpPr/>
            <p:nvPr/>
          </p:nvSpPr>
          <p:spPr>
            <a:xfrm>
              <a:off x="5562600" y="1581150"/>
              <a:ext cx="6057900" cy="2038350"/>
            </a:xfrm>
            <a:custGeom>
              <a:avLst/>
              <a:gdLst/>
              <a:ahLst/>
              <a:cxnLst/>
              <a:rect l="l" t="t" r="r" b="b"/>
              <a:pathLst>
                <a:path w="6057900" h="2038350">
                  <a:moveTo>
                    <a:pt x="228600" y="0"/>
                  </a:moveTo>
                  <a:lnTo>
                    <a:pt x="5829300" y="0"/>
                  </a:lnTo>
                  <a:cubicBezTo>
                    <a:pt x="5955552" y="0"/>
                    <a:pt x="6057900" y="102348"/>
                    <a:pt x="6057900" y="228600"/>
                  </a:cubicBezTo>
                  <a:lnTo>
                    <a:pt x="6057900" y="1809750"/>
                  </a:lnTo>
                  <a:cubicBezTo>
                    <a:pt x="6057900" y="1936002"/>
                    <a:pt x="5955552" y="2038350"/>
                    <a:pt x="5829300" y="2038350"/>
                  </a:cubicBezTo>
                  <a:lnTo>
                    <a:pt x="228600" y="2038350"/>
                  </a:lnTo>
                  <a:cubicBezTo>
                    <a:pt x="102348" y="2038350"/>
                    <a:pt x="0" y="1936002"/>
                    <a:pt x="0" y="180975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5" name="TextBox 15"/>
            <p:cNvSpPr txBox="1"/>
            <p:nvPr/>
          </p:nvSpPr>
          <p:spPr>
            <a:xfrm>
              <a:off x="5865495" y="1803082"/>
              <a:ext cx="522905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What the workflow expects from the user</a:t>
              </a:r>
            </a:p>
          </p:txBody>
        </p:sp>
        <p:sp>
          <p:nvSpPr>
            <p:cNvPr id="16" name="TextBox 16"/>
            <p:cNvSpPr txBox="1"/>
            <p:nvPr/>
          </p:nvSpPr>
          <p:spPr>
            <a:xfrm>
              <a:off x="5871210" y="2270760"/>
              <a:ext cx="493776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Review visual output slide by slide when quality matters</a:t>
              </a:r>
            </a:p>
          </p:txBody>
        </p:sp>
        <p:sp>
          <p:nvSpPr>
            <p:cNvPr id="17" name="TextBox 17"/>
            <p:cNvSpPr txBox="1"/>
            <p:nvPr/>
          </p:nvSpPr>
          <p:spPr>
            <a:xfrm>
              <a:off x="5871210" y="2518410"/>
              <a:ext cx="502539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Regenerate or manually adjust pages with layout defects</a:t>
              </a:r>
            </a:p>
          </p:txBody>
        </p:sp>
        <p:sp>
          <p:nvSpPr>
            <p:cNvPr id="18" name="TextBox 18"/>
            <p:cNvSpPr txBox="1"/>
            <p:nvPr/>
          </p:nvSpPr>
          <p:spPr>
            <a:xfrm>
              <a:off x="5871210" y="2766060"/>
              <a:ext cx="5191887"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Use taste and context to finish the last mile in PowerPoint</a:t>
              </a:r>
            </a:p>
          </p:txBody>
        </p:sp>
      </p:grpSp>
      <p:grpSp>
        <p:nvGrpSpPr>
          <p:cNvPr id="26" name="Group 26"/>
          <p:cNvGrpSpPr/>
          <p:nvPr/>
        </p:nvGrpSpPr>
        <p:grpSpPr>
          <a:xfrm>
            <a:off x="5562600" y="3848100"/>
            <a:ext cx="6709791" cy="2190750"/>
            <a:chOff x="5562600" y="3848100"/>
            <a:chExt cx="6709791" cy="2190750"/>
          </a:xfrm>
          <a:effectLst>
            <a:outerShdw blurRad="152400" dist="38100" dir="10799140" algn="tl" rotWithShape="0">
              <a:srgbClr val="0F172A">
                <a:alpha val="10000"/>
              </a:srgbClr>
            </a:outerShdw>
          </a:effectLst>
        </p:grpSpPr>
        <p:sp>
          <p:nvSpPr>
            <p:cNvPr id="20" name="Freeform 20"/>
            <p:cNvSpPr/>
            <p:nvPr/>
          </p:nvSpPr>
          <p:spPr>
            <a:xfrm>
              <a:off x="5562600" y="3848100"/>
              <a:ext cx="6057900" cy="2190750"/>
            </a:xfrm>
            <a:custGeom>
              <a:avLst/>
              <a:gdLst/>
              <a:ahLst/>
              <a:cxnLst/>
              <a:rect l="l" t="t" r="r" b="b"/>
              <a:pathLst>
                <a:path w="6057900" h="2190750">
                  <a:moveTo>
                    <a:pt x="228600" y="0"/>
                  </a:moveTo>
                  <a:lnTo>
                    <a:pt x="5829300" y="0"/>
                  </a:lnTo>
                  <a:cubicBezTo>
                    <a:pt x="5955552" y="0"/>
                    <a:pt x="6057900" y="102348"/>
                    <a:pt x="6057900" y="228600"/>
                  </a:cubicBezTo>
                  <a:lnTo>
                    <a:pt x="6057900" y="1962150"/>
                  </a:lnTo>
                  <a:cubicBezTo>
                    <a:pt x="6057900" y="2088402"/>
                    <a:pt x="5955552" y="2190750"/>
                    <a:pt x="5829300" y="2190750"/>
                  </a:cubicBezTo>
                  <a:lnTo>
                    <a:pt x="228600" y="2190750"/>
                  </a:lnTo>
                  <a:cubicBezTo>
                    <a:pt x="102348" y="2190750"/>
                    <a:pt x="0" y="2088402"/>
                    <a:pt x="0" y="196215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1" name="TextBox 21"/>
            <p:cNvSpPr txBox="1"/>
            <p:nvPr/>
          </p:nvSpPr>
          <p:spPr>
            <a:xfrm>
              <a:off x="5865495" y="4070032"/>
              <a:ext cx="411571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What the workflow admits openly</a:t>
              </a:r>
            </a:p>
          </p:txBody>
        </p:sp>
        <p:sp>
          <p:nvSpPr>
            <p:cNvPr id="22" name="TextBox 22"/>
            <p:cNvSpPr txBox="1"/>
            <p:nvPr/>
          </p:nvSpPr>
          <p:spPr>
            <a:xfrm>
              <a:off x="5871210" y="4537710"/>
              <a:ext cx="425424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Setup is heavier than browser-based SaaS tools</a:t>
              </a:r>
            </a:p>
          </p:txBody>
        </p:sp>
        <p:sp>
          <p:nvSpPr>
            <p:cNvPr id="23" name="TextBox 23"/>
            <p:cNvSpPr txBox="1"/>
            <p:nvPr/>
          </p:nvSpPr>
          <p:spPr>
            <a:xfrm>
              <a:off x="5871210" y="4785360"/>
              <a:ext cx="568261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Serial generation is slower, but is used to preserve consistency</a:t>
              </a:r>
            </a:p>
          </p:txBody>
        </p:sp>
        <p:sp>
          <p:nvSpPr>
            <p:cNvPr id="24" name="TextBox 24"/>
            <p:cNvSpPr txBox="1"/>
            <p:nvPr/>
          </p:nvSpPr>
          <p:spPr>
            <a:xfrm>
              <a:off x="5871210" y="5033010"/>
              <a:ext cx="640118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Charts look strong, but are not spreadsheet-bound native chart objects</a:t>
              </a:r>
            </a:p>
          </p:txBody>
        </p:sp>
        <p:sp>
          <p:nvSpPr>
            <p:cNvPr id="25" name="TextBox 25"/>
            <p:cNvSpPr txBox="1"/>
            <p:nvPr/>
          </p:nvSpPr>
          <p:spPr>
            <a:xfrm>
              <a:off x="5871210" y="5280660"/>
              <a:ext cx="591921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Collaboration and drag-and-drop UI are not the product's strength</a:t>
              </a:r>
            </a:p>
          </p:txBody>
        </p:sp>
      </p:grpSp>
      <p:sp>
        <p:nvSpPr>
          <p:cNvPr id="27" name="TextBox 27"/>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08</a:t>
            </a:r>
          </a:p>
        </p:txBody>
      </p:sp>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5480797"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What users usually ask first</a:t>
            </a:r>
          </a:p>
        </p:txBody>
      </p:sp>
      <p:sp>
        <p:nvSpPr>
          <p:cNvPr id="5" name="TextBox 5"/>
          <p:cNvSpPr txBox="1"/>
          <p:nvPr/>
        </p:nvSpPr>
        <p:spPr>
          <a:xfrm>
            <a:off x="556260" y="975360"/>
            <a:ext cx="8180070"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FAQ clusters into four simple buckets: input, output, visuals, and operating assumptions.</a:t>
            </a:r>
          </a:p>
        </p:txBody>
      </p:sp>
      <p:grpSp>
        <p:nvGrpSpPr>
          <p:cNvPr id="11" name="Group 11"/>
          <p:cNvGrpSpPr/>
          <p:nvPr/>
        </p:nvGrpSpPr>
        <p:grpSpPr>
          <a:xfrm>
            <a:off x="571500" y="1562100"/>
            <a:ext cx="6869049" cy="2095500"/>
            <a:chOff x="571500" y="1562100"/>
            <a:chExt cx="6869049" cy="2095500"/>
          </a:xfrm>
          <a:effectLst>
            <a:outerShdw blurRad="152400" dist="38100" dir="10799140" algn="tl" rotWithShape="0">
              <a:srgbClr val="0F172A">
                <a:alpha val="10000"/>
              </a:srgbClr>
            </a:outerShdw>
          </a:effectLst>
        </p:grpSpPr>
        <p:sp>
          <p:nvSpPr>
            <p:cNvPr id="6" name="Freeform 6"/>
            <p:cNvSpPr/>
            <p:nvPr/>
          </p:nvSpPr>
          <p:spPr>
            <a:xfrm>
              <a:off x="571500" y="156210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7" name="Freeform 7"/>
            <p:cNvSpPr/>
            <p:nvPr/>
          </p:nvSpPr>
          <p:spPr>
            <a:xfrm>
              <a:off x="914400" y="1908572"/>
              <a:ext cx="361950" cy="294084"/>
            </a:xfrm>
            <a:custGeom>
              <a:avLst/>
              <a:gdLst/>
              <a:ahLst/>
              <a:cxnLst/>
              <a:rect l="l" t="t" r="r" b="b"/>
              <a:pathLst>
                <a:path w="361950" h="294084">
                  <a:moveTo>
                    <a:pt x="0" y="0"/>
                  </a:moveTo>
                  <a:lnTo>
                    <a:pt x="113109" y="0"/>
                  </a:lnTo>
                  <a:lnTo>
                    <a:pt x="180975" y="45244"/>
                  </a:lnTo>
                  <a:lnTo>
                    <a:pt x="294084" y="45244"/>
                  </a:lnTo>
                  <a:lnTo>
                    <a:pt x="294084" y="90488"/>
                  </a:lnTo>
                  <a:lnTo>
                    <a:pt x="84735" y="90488"/>
                  </a:lnTo>
                  <a:lnTo>
                    <a:pt x="45954" y="226219"/>
                  </a:lnTo>
                  <a:lnTo>
                    <a:pt x="93008" y="226219"/>
                  </a:lnTo>
                  <a:lnTo>
                    <a:pt x="118862" y="135731"/>
                  </a:lnTo>
                  <a:lnTo>
                    <a:pt x="361950" y="135731"/>
                  </a:lnTo>
                  <a:lnTo>
                    <a:pt x="316706" y="294084"/>
                  </a:lnTo>
                  <a:lnTo>
                    <a:pt x="0" y="294084"/>
                  </a:lnTo>
                  <a:lnTo>
                    <a:pt x="0" y="0"/>
                  </a:lnTo>
                  <a:close/>
                </a:path>
              </a:pathLst>
            </a:custGeom>
            <a:solidFill>
              <a:srgbClr val="005587"/>
            </a:solidFill>
            <a:ln>
              <a:noFill/>
            </a:ln>
            <a:effectLst>
              <a:outerShdw blurRad="152400" dist="38100" dir="10799140" algn="tl" rotWithShape="0">
                <a:srgbClr val="0F172A">
                  <a:alpha val="10000"/>
                </a:srgbClr>
              </a:outerShdw>
            </a:effectLst>
          </p:spPr>
        </p:sp>
        <p:sp>
          <p:nvSpPr>
            <p:cNvPr id="8" name="TextBox 8"/>
            <p:cNvSpPr txBox="1"/>
            <p:nvPr/>
          </p:nvSpPr>
          <p:spPr>
            <a:xfrm>
              <a:off x="1407795" y="1955482"/>
              <a:ext cx="22053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What can it read?</a:t>
              </a:r>
            </a:p>
          </p:txBody>
        </p:sp>
        <p:sp>
          <p:nvSpPr>
            <p:cNvPr id="9" name="TextBox 9"/>
            <p:cNvSpPr txBox="1"/>
            <p:nvPr/>
          </p:nvSpPr>
          <p:spPr>
            <a:xfrm>
              <a:off x="899160" y="2461260"/>
              <a:ext cx="654138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PDF, DOCX, PPTX, EPUB, HTML, LaTeX, RST, URLs, Markdown, and plain text.</a:t>
              </a:r>
            </a:p>
          </p:txBody>
        </p:sp>
        <p:sp>
          <p:nvSpPr>
            <p:cNvPr id="10" name="TextBox 10"/>
            <p:cNvSpPr txBox="1"/>
            <p:nvPr/>
          </p:nvSpPr>
          <p:spPr>
            <a:xfrm>
              <a:off x="899160" y="2689860"/>
              <a:ext cx="437692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 source conversion layer is intentionally broad.</a:t>
              </a:r>
            </a:p>
          </p:txBody>
        </p:sp>
      </p:grpSp>
      <p:grpSp>
        <p:nvGrpSpPr>
          <p:cNvPr id="20" name="Group 20"/>
          <p:cNvGrpSpPr/>
          <p:nvPr/>
        </p:nvGrpSpPr>
        <p:grpSpPr>
          <a:xfrm>
            <a:off x="6324600" y="1562100"/>
            <a:ext cx="7526274" cy="2095500"/>
            <a:chOff x="6324600" y="1562100"/>
            <a:chExt cx="7526274" cy="2095500"/>
          </a:xfrm>
          <a:effectLst>
            <a:outerShdw blurRad="152400" dist="38100" dir="10799140" algn="tl" rotWithShape="0">
              <a:srgbClr val="0F172A">
                <a:alpha val="10000"/>
              </a:srgbClr>
            </a:outerShdw>
          </a:effectLst>
        </p:grpSpPr>
        <p:sp>
          <p:nvSpPr>
            <p:cNvPr id="12" name="Freeform 12"/>
            <p:cNvSpPr/>
            <p:nvPr/>
          </p:nvSpPr>
          <p:spPr>
            <a:xfrm>
              <a:off x="6324600" y="156210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grpSp>
          <p:nvGrpSpPr>
            <p:cNvPr id="16" name="Group 16"/>
            <p:cNvGrpSpPr/>
            <p:nvPr/>
          </p:nvGrpSpPr>
          <p:grpSpPr>
            <a:xfrm>
              <a:off x="6690122" y="1885950"/>
              <a:ext cx="316706" cy="361950"/>
              <a:chOff x="6690122" y="1885950"/>
              <a:chExt cx="316706" cy="361950"/>
            </a:xfrm>
          </p:grpSpPr>
          <p:sp>
            <p:nvSpPr>
              <p:cNvPr id="13" name="Freeform 13"/>
              <p:cNvSpPr/>
              <p:nvPr/>
            </p:nvSpPr>
            <p:spPr>
              <a:xfrm>
                <a:off x="6690122" y="1885950"/>
                <a:ext cx="316706" cy="180975"/>
              </a:xfrm>
              <a:custGeom>
                <a:avLst/>
                <a:gdLst/>
                <a:ahLst/>
                <a:cxnLst/>
                <a:rect l="l" t="t" r="r" b="b"/>
                <a:pathLst>
                  <a:path w="316706" h="180975">
                    <a:moveTo>
                      <a:pt x="0" y="113109"/>
                    </a:moveTo>
                    <a:lnTo>
                      <a:pt x="0" y="67866"/>
                    </a:lnTo>
                    <a:lnTo>
                      <a:pt x="158353" y="0"/>
                    </a:lnTo>
                    <a:lnTo>
                      <a:pt x="316706" y="67866"/>
                    </a:lnTo>
                    <a:lnTo>
                      <a:pt x="316706" y="113109"/>
                    </a:lnTo>
                    <a:lnTo>
                      <a:pt x="158353" y="180975"/>
                    </a:lnTo>
                    <a:lnTo>
                      <a:pt x="0" y="113109"/>
                    </a:lnTo>
                    <a:close/>
                  </a:path>
                </a:pathLst>
              </a:custGeom>
              <a:solidFill>
                <a:srgbClr val="0076A8"/>
              </a:solidFill>
              <a:ln>
                <a:noFill/>
              </a:ln>
              <a:effectLst>
                <a:outerShdw blurRad="152400" dist="38100" dir="10799140" algn="tl" rotWithShape="0">
                  <a:srgbClr val="0F172A">
                    <a:alpha val="10000"/>
                  </a:srgbClr>
                </a:outerShdw>
              </a:effectLst>
            </p:spPr>
          </p:sp>
          <p:sp>
            <p:nvSpPr>
              <p:cNvPr id="14" name="Freeform 14"/>
              <p:cNvSpPr/>
              <p:nvPr/>
            </p:nvSpPr>
            <p:spPr>
              <a:xfrm>
                <a:off x="6690122" y="2134791"/>
                <a:ext cx="316706" cy="113109"/>
              </a:xfrm>
              <a:custGeom>
                <a:avLst/>
                <a:gdLst/>
                <a:ahLst/>
                <a:cxnLst/>
                <a:rect l="l" t="t" r="r" b="b"/>
                <a:pathLst>
                  <a:path w="316706" h="113109">
                    <a:moveTo>
                      <a:pt x="158353" y="113109"/>
                    </a:moveTo>
                    <a:lnTo>
                      <a:pt x="0" y="45244"/>
                    </a:lnTo>
                    <a:lnTo>
                      <a:pt x="0" y="0"/>
                    </a:lnTo>
                    <a:lnTo>
                      <a:pt x="158353" y="67866"/>
                    </a:lnTo>
                    <a:lnTo>
                      <a:pt x="316706" y="0"/>
                    </a:lnTo>
                    <a:lnTo>
                      <a:pt x="316706" y="45244"/>
                    </a:lnTo>
                    <a:lnTo>
                      <a:pt x="158353" y="113109"/>
                    </a:lnTo>
                    <a:close/>
                  </a:path>
                </a:pathLst>
              </a:custGeom>
              <a:solidFill>
                <a:srgbClr val="0076A8"/>
              </a:solidFill>
              <a:ln>
                <a:noFill/>
              </a:ln>
              <a:effectLst>
                <a:outerShdw blurRad="152400" dist="38100" dir="10799140" algn="tl" rotWithShape="0">
                  <a:srgbClr val="0F172A">
                    <a:alpha val="10000"/>
                  </a:srgbClr>
                </a:outerShdw>
              </a:effectLst>
            </p:spPr>
          </p:sp>
          <p:sp>
            <p:nvSpPr>
              <p:cNvPr id="15" name="Freeform 15"/>
              <p:cNvSpPr/>
              <p:nvPr/>
            </p:nvSpPr>
            <p:spPr>
              <a:xfrm>
                <a:off x="6690122" y="2044303"/>
                <a:ext cx="316706" cy="113109"/>
              </a:xfrm>
              <a:custGeom>
                <a:avLst/>
                <a:gdLst/>
                <a:ahLst/>
                <a:cxnLst/>
                <a:rect l="l" t="t" r="r" b="b"/>
                <a:pathLst>
                  <a:path w="316706" h="113109">
                    <a:moveTo>
                      <a:pt x="0" y="45244"/>
                    </a:moveTo>
                    <a:lnTo>
                      <a:pt x="158353" y="113109"/>
                    </a:lnTo>
                    <a:lnTo>
                      <a:pt x="316706" y="45244"/>
                    </a:lnTo>
                    <a:lnTo>
                      <a:pt x="316706" y="0"/>
                    </a:lnTo>
                    <a:lnTo>
                      <a:pt x="158353" y="67866"/>
                    </a:lnTo>
                    <a:lnTo>
                      <a:pt x="0" y="0"/>
                    </a:lnTo>
                    <a:lnTo>
                      <a:pt x="0" y="45244"/>
                    </a:lnTo>
                    <a:close/>
                  </a:path>
                </a:pathLst>
              </a:custGeom>
              <a:solidFill>
                <a:srgbClr val="0076A8"/>
              </a:solidFill>
              <a:ln>
                <a:noFill/>
              </a:ln>
              <a:effectLst>
                <a:outerShdw blurRad="152400" dist="38100" dir="10799140" algn="tl" rotWithShape="0">
                  <a:srgbClr val="0F172A">
                    <a:alpha val="10000"/>
                  </a:srgbClr>
                </a:outerShdw>
              </a:effectLst>
            </p:spPr>
          </p:sp>
        </p:grpSp>
        <p:sp>
          <p:nvSpPr>
            <p:cNvPr id="17" name="TextBox 17"/>
            <p:cNvSpPr txBox="1"/>
            <p:nvPr/>
          </p:nvSpPr>
          <p:spPr>
            <a:xfrm>
              <a:off x="7160895" y="1955482"/>
              <a:ext cx="262283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What does it export?</a:t>
              </a:r>
            </a:p>
          </p:txBody>
        </p:sp>
        <p:sp>
          <p:nvSpPr>
            <p:cNvPr id="18" name="TextBox 18"/>
            <p:cNvSpPr txBox="1"/>
            <p:nvPr/>
          </p:nvSpPr>
          <p:spPr>
            <a:xfrm>
              <a:off x="6652260" y="2461260"/>
              <a:ext cx="719861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A native editable `.pptx` and an `_svg.pptx` reference backup, both timestamped.</a:t>
              </a:r>
            </a:p>
          </p:txBody>
        </p:sp>
        <p:sp>
          <p:nvSpPr>
            <p:cNvPr id="19" name="TextBox 19"/>
            <p:cNvSpPr txBox="1"/>
            <p:nvPr/>
          </p:nvSpPr>
          <p:spPr>
            <a:xfrm>
              <a:off x="6652260" y="2689860"/>
              <a:ext cx="363207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 editable deck is the primary artifact.</a:t>
              </a:r>
            </a:p>
          </p:txBody>
        </p:sp>
      </p:grpSp>
      <p:grpSp>
        <p:nvGrpSpPr>
          <p:cNvPr id="29" name="Group 29"/>
          <p:cNvGrpSpPr/>
          <p:nvPr/>
        </p:nvGrpSpPr>
        <p:grpSpPr>
          <a:xfrm>
            <a:off x="571500" y="3943350"/>
            <a:ext cx="6982968" cy="2095500"/>
            <a:chOff x="571500" y="3943350"/>
            <a:chExt cx="6982968" cy="2095500"/>
          </a:xfrm>
          <a:effectLst>
            <a:outerShdw blurRad="152400" dist="38100" dir="10799140" algn="tl" rotWithShape="0">
              <a:srgbClr val="0F172A">
                <a:alpha val="10000"/>
              </a:srgbClr>
            </a:outerShdw>
          </a:effectLst>
        </p:grpSpPr>
        <p:sp>
          <p:nvSpPr>
            <p:cNvPr id="21" name="Freeform 21"/>
            <p:cNvSpPr/>
            <p:nvPr/>
          </p:nvSpPr>
          <p:spPr>
            <a:xfrm>
              <a:off x="571500" y="394335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grpSp>
          <p:nvGrpSpPr>
            <p:cNvPr id="25" name="Group 25"/>
            <p:cNvGrpSpPr/>
            <p:nvPr/>
          </p:nvGrpSpPr>
          <p:grpSpPr>
            <a:xfrm>
              <a:off x="914400" y="4289822"/>
              <a:ext cx="361950" cy="316706"/>
              <a:chOff x="914400" y="4289822"/>
              <a:chExt cx="361950" cy="316706"/>
            </a:xfrm>
          </p:grpSpPr>
          <p:sp>
            <p:nvSpPr>
              <p:cNvPr id="22" name="Freeform 22"/>
              <p:cNvSpPr/>
              <p:nvPr/>
            </p:nvSpPr>
            <p:spPr>
              <a:xfrm>
                <a:off x="1185862" y="4289822"/>
                <a:ext cx="90488" cy="316706"/>
              </a:xfrm>
              <a:custGeom>
                <a:avLst/>
                <a:gdLst/>
                <a:ahLst/>
                <a:cxnLst/>
                <a:rect l="l" t="t" r="r" b="b"/>
                <a:pathLst>
                  <a:path w="90488" h="316706">
                    <a:moveTo>
                      <a:pt x="90488" y="0"/>
                    </a:moveTo>
                    <a:lnTo>
                      <a:pt x="0" y="0"/>
                    </a:lnTo>
                    <a:lnTo>
                      <a:pt x="0" y="316706"/>
                    </a:lnTo>
                    <a:lnTo>
                      <a:pt x="90488" y="316706"/>
                    </a:lnTo>
                    <a:lnTo>
                      <a:pt x="90488" y="0"/>
                    </a:lnTo>
                    <a:close/>
                  </a:path>
                </a:pathLst>
              </a:custGeom>
              <a:solidFill>
                <a:srgbClr val="F5A623"/>
              </a:solidFill>
              <a:ln>
                <a:noFill/>
              </a:ln>
              <a:effectLst>
                <a:outerShdw blurRad="152400" dist="38100" dir="10799140" algn="tl" rotWithShape="0">
                  <a:srgbClr val="0F172A">
                    <a:alpha val="10000"/>
                  </a:srgbClr>
                </a:outerShdw>
              </a:effectLst>
            </p:spPr>
          </p:sp>
          <p:sp>
            <p:nvSpPr>
              <p:cNvPr id="23" name="Freeform 23"/>
              <p:cNvSpPr/>
              <p:nvPr/>
            </p:nvSpPr>
            <p:spPr>
              <a:xfrm>
                <a:off x="1050131" y="4380309"/>
                <a:ext cx="90488" cy="226219"/>
              </a:xfrm>
              <a:custGeom>
                <a:avLst/>
                <a:gdLst/>
                <a:ahLst/>
                <a:cxnLst/>
                <a:rect l="l" t="t" r="r" b="b"/>
                <a:pathLst>
                  <a:path w="90488" h="226219">
                    <a:moveTo>
                      <a:pt x="0" y="0"/>
                    </a:moveTo>
                    <a:lnTo>
                      <a:pt x="90488" y="0"/>
                    </a:lnTo>
                    <a:lnTo>
                      <a:pt x="90488" y="226219"/>
                    </a:lnTo>
                    <a:lnTo>
                      <a:pt x="0" y="226219"/>
                    </a:lnTo>
                    <a:lnTo>
                      <a:pt x="0" y="0"/>
                    </a:lnTo>
                    <a:close/>
                  </a:path>
                </a:pathLst>
              </a:custGeom>
              <a:solidFill>
                <a:srgbClr val="F5A623"/>
              </a:solidFill>
              <a:ln>
                <a:noFill/>
              </a:ln>
              <a:effectLst>
                <a:outerShdw blurRad="152400" dist="38100" dir="10799140" algn="tl" rotWithShape="0">
                  <a:srgbClr val="0F172A">
                    <a:alpha val="10000"/>
                  </a:srgbClr>
                </a:outerShdw>
              </a:effectLst>
            </p:spPr>
          </p:sp>
          <p:sp>
            <p:nvSpPr>
              <p:cNvPr id="24" name="Freeform 24"/>
              <p:cNvSpPr/>
              <p:nvPr/>
            </p:nvSpPr>
            <p:spPr>
              <a:xfrm>
                <a:off x="914400" y="4470797"/>
                <a:ext cx="90488" cy="135731"/>
              </a:xfrm>
              <a:custGeom>
                <a:avLst/>
                <a:gdLst/>
                <a:ahLst/>
                <a:cxnLst/>
                <a:rect l="l" t="t" r="r" b="b"/>
                <a:pathLst>
                  <a:path w="90488" h="135731">
                    <a:moveTo>
                      <a:pt x="0" y="0"/>
                    </a:moveTo>
                    <a:lnTo>
                      <a:pt x="90488" y="0"/>
                    </a:lnTo>
                    <a:lnTo>
                      <a:pt x="90488" y="135731"/>
                    </a:lnTo>
                    <a:lnTo>
                      <a:pt x="0" y="135731"/>
                    </a:lnTo>
                    <a:lnTo>
                      <a:pt x="0" y="0"/>
                    </a:lnTo>
                    <a:close/>
                  </a:path>
                </a:pathLst>
              </a:custGeom>
              <a:solidFill>
                <a:srgbClr val="F5A623"/>
              </a:solidFill>
              <a:ln>
                <a:noFill/>
              </a:ln>
              <a:effectLst>
                <a:outerShdw blurRad="152400" dist="38100" dir="10799140" algn="tl" rotWithShape="0">
                  <a:srgbClr val="0F172A">
                    <a:alpha val="10000"/>
                  </a:srgbClr>
                </a:outerShdw>
              </a:effectLst>
            </p:spPr>
          </p:sp>
        </p:grpSp>
        <p:sp>
          <p:nvSpPr>
            <p:cNvPr id="26" name="TextBox 26"/>
            <p:cNvSpPr txBox="1"/>
            <p:nvPr/>
          </p:nvSpPr>
          <p:spPr>
            <a:xfrm>
              <a:off x="1407795" y="4336732"/>
              <a:ext cx="2572226"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Are charts editable?</a:t>
              </a:r>
            </a:p>
          </p:txBody>
        </p:sp>
        <p:sp>
          <p:nvSpPr>
            <p:cNvPr id="27" name="TextBox 27"/>
            <p:cNvSpPr txBox="1"/>
            <p:nvPr/>
          </p:nvSpPr>
          <p:spPr>
            <a:xfrm>
              <a:off x="899160" y="4842510"/>
              <a:ext cx="665530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They are converted into visual native shapes, not Excel-bound chart objects.</a:t>
              </a:r>
            </a:p>
          </p:txBody>
        </p:sp>
        <p:sp>
          <p:nvSpPr>
            <p:cNvPr id="28" name="TextBox 28"/>
            <p:cNvSpPr txBox="1"/>
            <p:nvPr/>
          </p:nvSpPr>
          <p:spPr>
            <a:xfrm>
              <a:off x="899160" y="5071110"/>
              <a:ext cx="543725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They look polished but are not data-linked spreadsheet charts.</a:t>
              </a:r>
            </a:p>
          </p:txBody>
        </p:sp>
      </p:grpSp>
      <p:grpSp>
        <p:nvGrpSpPr>
          <p:cNvPr id="38" name="Group 38"/>
          <p:cNvGrpSpPr/>
          <p:nvPr/>
        </p:nvGrpSpPr>
        <p:grpSpPr>
          <a:xfrm>
            <a:off x="6324600" y="3943350"/>
            <a:ext cx="6974205" cy="2095500"/>
            <a:chOff x="6324600" y="3943350"/>
            <a:chExt cx="6974205" cy="2095500"/>
          </a:xfrm>
          <a:effectLst>
            <a:outerShdw blurRad="152400" dist="38100" dir="10799140" algn="tl" rotWithShape="0">
              <a:srgbClr val="0F172A">
                <a:alpha val="10000"/>
              </a:srgbClr>
            </a:outerShdw>
          </a:effectLst>
        </p:grpSpPr>
        <p:sp>
          <p:nvSpPr>
            <p:cNvPr id="30" name="Freeform 30"/>
            <p:cNvSpPr/>
            <p:nvPr/>
          </p:nvSpPr>
          <p:spPr>
            <a:xfrm>
              <a:off x="6324600" y="394335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grpSp>
          <p:nvGrpSpPr>
            <p:cNvPr id="34" name="Group 34"/>
            <p:cNvGrpSpPr/>
            <p:nvPr/>
          </p:nvGrpSpPr>
          <p:grpSpPr>
            <a:xfrm>
              <a:off x="6667500" y="4267200"/>
              <a:ext cx="361950" cy="339328"/>
              <a:chOff x="6667500" y="4267200"/>
              <a:chExt cx="361950" cy="339328"/>
            </a:xfrm>
          </p:grpSpPr>
          <p:sp>
            <p:nvSpPr>
              <p:cNvPr id="31" name="Freeform 31"/>
              <p:cNvSpPr/>
              <p:nvPr/>
            </p:nvSpPr>
            <p:spPr>
              <a:xfrm>
                <a:off x="6712744" y="4267200"/>
                <a:ext cx="113109" cy="135731"/>
              </a:xfrm>
              <a:custGeom>
                <a:avLst/>
                <a:gdLst/>
                <a:ahLst/>
                <a:cxnLst/>
                <a:rect l="l" t="t" r="r" b="b"/>
                <a:pathLst>
                  <a:path w="113109" h="135731">
                    <a:moveTo>
                      <a:pt x="0" y="0"/>
                    </a:moveTo>
                    <a:lnTo>
                      <a:pt x="113109" y="0"/>
                    </a:lnTo>
                    <a:lnTo>
                      <a:pt x="113109" y="135731"/>
                    </a:lnTo>
                    <a:lnTo>
                      <a:pt x="0" y="135731"/>
                    </a:lnTo>
                    <a:lnTo>
                      <a:pt x="0" y="0"/>
                    </a:lnTo>
                    <a:close/>
                  </a:path>
                </a:pathLst>
              </a:custGeom>
              <a:solidFill>
                <a:srgbClr val="27AE60"/>
              </a:solidFill>
              <a:ln>
                <a:noFill/>
              </a:ln>
              <a:effectLst>
                <a:outerShdw blurRad="152400" dist="38100" dir="10799140" algn="tl" rotWithShape="0">
                  <a:srgbClr val="0F172A">
                    <a:alpha val="10000"/>
                  </a:srgbClr>
                </a:outerShdw>
              </a:effectLst>
            </p:spPr>
          </p:sp>
          <p:sp>
            <p:nvSpPr>
              <p:cNvPr id="32" name="Freeform 32"/>
              <p:cNvSpPr/>
              <p:nvPr/>
            </p:nvSpPr>
            <p:spPr>
              <a:xfrm>
                <a:off x="6667500" y="4448175"/>
                <a:ext cx="361950" cy="158353"/>
              </a:xfrm>
              <a:custGeom>
                <a:avLst/>
                <a:gdLst/>
                <a:ahLst/>
                <a:cxnLst/>
                <a:rect l="l" t="t" r="r" b="b"/>
                <a:pathLst>
                  <a:path w="361950" h="158353">
                    <a:moveTo>
                      <a:pt x="158353" y="113109"/>
                    </a:moveTo>
                    <a:lnTo>
                      <a:pt x="158353" y="0"/>
                    </a:lnTo>
                    <a:lnTo>
                      <a:pt x="45244" y="0"/>
                    </a:lnTo>
                    <a:lnTo>
                      <a:pt x="45244" y="113109"/>
                    </a:lnTo>
                    <a:lnTo>
                      <a:pt x="0" y="113109"/>
                    </a:lnTo>
                    <a:lnTo>
                      <a:pt x="0" y="158353"/>
                    </a:lnTo>
                    <a:lnTo>
                      <a:pt x="361950" y="158353"/>
                    </a:lnTo>
                    <a:lnTo>
                      <a:pt x="361950" y="113109"/>
                    </a:lnTo>
                    <a:lnTo>
                      <a:pt x="316706" y="113109"/>
                    </a:lnTo>
                    <a:lnTo>
                      <a:pt x="316706" y="0"/>
                    </a:lnTo>
                    <a:lnTo>
                      <a:pt x="203597" y="0"/>
                    </a:lnTo>
                    <a:lnTo>
                      <a:pt x="203597" y="113109"/>
                    </a:lnTo>
                    <a:lnTo>
                      <a:pt x="158353" y="113109"/>
                    </a:lnTo>
                    <a:close/>
                  </a:path>
                </a:pathLst>
              </a:custGeom>
              <a:solidFill>
                <a:srgbClr val="27AE60"/>
              </a:solidFill>
              <a:ln>
                <a:noFill/>
              </a:ln>
              <a:effectLst>
                <a:outerShdw blurRad="152400" dist="38100" dir="10799140" algn="tl" rotWithShape="0">
                  <a:srgbClr val="0F172A">
                    <a:alpha val="10000"/>
                  </a:srgbClr>
                </a:outerShdw>
              </a:effectLst>
            </p:spPr>
          </p:sp>
          <p:sp>
            <p:nvSpPr>
              <p:cNvPr id="33" name="Freeform 33"/>
              <p:cNvSpPr/>
              <p:nvPr/>
            </p:nvSpPr>
            <p:spPr>
              <a:xfrm>
                <a:off x="6871097" y="4267200"/>
                <a:ext cx="113109" cy="135731"/>
              </a:xfrm>
              <a:custGeom>
                <a:avLst/>
                <a:gdLst/>
                <a:ahLst/>
                <a:cxnLst/>
                <a:rect l="l" t="t" r="r" b="b"/>
                <a:pathLst>
                  <a:path w="113109" h="135731">
                    <a:moveTo>
                      <a:pt x="0" y="0"/>
                    </a:moveTo>
                    <a:lnTo>
                      <a:pt x="0" y="135731"/>
                    </a:lnTo>
                    <a:lnTo>
                      <a:pt x="113109" y="135731"/>
                    </a:lnTo>
                    <a:lnTo>
                      <a:pt x="113109" y="0"/>
                    </a:lnTo>
                    <a:lnTo>
                      <a:pt x="0" y="0"/>
                    </a:lnTo>
                    <a:close/>
                  </a:path>
                </a:pathLst>
              </a:custGeom>
              <a:solidFill>
                <a:srgbClr val="27AE60"/>
              </a:solidFill>
              <a:ln>
                <a:noFill/>
              </a:ln>
              <a:effectLst>
                <a:outerShdw blurRad="152400" dist="38100" dir="10799140" algn="tl" rotWithShape="0">
                  <a:srgbClr val="0F172A">
                    <a:alpha val="10000"/>
                  </a:srgbClr>
                </a:outerShdw>
              </a:effectLst>
            </p:spPr>
          </p:sp>
        </p:grpSp>
        <p:sp>
          <p:nvSpPr>
            <p:cNvPr id="35" name="TextBox 35"/>
            <p:cNvSpPr txBox="1"/>
            <p:nvPr/>
          </p:nvSpPr>
          <p:spPr>
            <a:xfrm>
              <a:off x="7160895" y="4336732"/>
              <a:ext cx="378677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Which formats are supported?</a:t>
              </a:r>
            </a:p>
          </p:txBody>
        </p:sp>
        <p:sp>
          <p:nvSpPr>
            <p:cNvPr id="36" name="TextBox 36"/>
            <p:cNvSpPr txBox="1"/>
            <p:nvPr/>
          </p:nvSpPr>
          <p:spPr>
            <a:xfrm>
              <a:off x="6652260" y="4842510"/>
              <a:ext cx="664654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Standard slides plus social and marketing canvases such as RED, square post,</a:t>
              </a:r>
            </a:p>
          </p:txBody>
        </p:sp>
        <p:sp>
          <p:nvSpPr>
            <p:cNvPr id="37" name="TextBox 37"/>
            <p:cNvSpPr txBox="1"/>
            <p:nvPr/>
          </p:nvSpPr>
          <p:spPr>
            <a:xfrm>
              <a:off x="6652260" y="5071110"/>
              <a:ext cx="3176397"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Story, WeChat header, and A4 print.</a:t>
              </a:r>
            </a:p>
          </p:txBody>
        </p:sp>
      </p:grpSp>
      <p:sp>
        <p:nvSpPr>
          <p:cNvPr id="39" name="TextBox 39"/>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09</a:t>
            </a:r>
          </a:p>
        </p:txBody>
      </p:sp>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10759957"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Output quality depends on the model and the review loop</a:t>
            </a:r>
          </a:p>
        </p:txBody>
      </p:sp>
      <p:sp>
        <p:nvSpPr>
          <p:cNvPr id="5" name="TextBox 5"/>
          <p:cNvSpPr txBox="1"/>
          <p:nvPr/>
        </p:nvSpPr>
        <p:spPr>
          <a:xfrm>
            <a:off x="556260" y="975360"/>
            <a:ext cx="8775954"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FAQ is candid: when layout breaks, the problem is usually model capability, not the whole pipeline.</a:t>
            </a:r>
          </a:p>
        </p:txBody>
      </p:sp>
      <p:grpSp>
        <p:nvGrpSpPr>
          <p:cNvPr id="12" name="Group 12"/>
          <p:cNvGrpSpPr/>
          <p:nvPr/>
        </p:nvGrpSpPr>
        <p:grpSpPr>
          <a:xfrm>
            <a:off x="571500" y="1581150"/>
            <a:ext cx="8087106" cy="4457700"/>
            <a:chOff x="571500" y="1581150"/>
            <a:chExt cx="8087106" cy="4457700"/>
          </a:xfrm>
          <a:effectLst>
            <a:outerShdw blurRad="152400" dist="38100" dir="10799140" algn="tl" rotWithShape="0">
              <a:srgbClr val="0F172A">
                <a:alpha val="10000"/>
              </a:srgbClr>
            </a:outerShdw>
          </a:effectLst>
        </p:grpSpPr>
        <p:sp>
          <p:nvSpPr>
            <p:cNvPr id="6" name="Freeform 6"/>
            <p:cNvSpPr/>
            <p:nvPr/>
          </p:nvSpPr>
          <p:spPr>
            <a:xfrm>
              <a:off x="571500" y="1581150"/>
              <a:ext cx="4953000" cy="4457700"/>
            </a:xfrm>
            <a:custGeom>
              <a:avLst/>
              <a:gdLst/>
              <a:ahLst/>
              <a:cxnLst/>
              <a:rect l="l" t="t" r="r" b="b"/>
              <a:pathLst>
                <a:path w="4953000" h="4457700">
                  <a:moveTo>
                    <a:pt x="247650" y="0"/>
                  </a:moveTo>
                  <a:lnTo>
                    <a:pt x="4705350" y="0"/>
                  </a:lnTo>
                  <a:cubicBezTo>
                    <a:pt x="4842123" y="0"/>
                    <a:pt x="4953000" y="110877"/>
                    <a:pt x="4953000" y="247650"/>
                  </a:cubicBezTo>
                  <a:lnTo>
                    <a:pt x="4953000" y="4210050"/>
                  </a:lnTo>
                  <a:cubicBezTo>
                    <a:pt x="4953000" y="4346823"/>
                    <a:pt x="4842123" y="4457700"/>
                    <a:pt x="4705350" y="4457700"/>
                  </a:cubicBezTo>
                  <a:lnTo>
                    <a:pt x="247650" y="4457700"/>
                  </a:lnTo>
                  <a:cubicBezTo>
                    <a:pt x="110877" y="4457700"/>
                    <a:pt x="0" y="4346823"/>
                    <a:pt x="0" y="421005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7" name="TextBox 7"/>
            <p:cNvSpPr txBox="1"/>
            <p:nvPr/>
          </p:nvSpPr>
          <p:spPr>
            <a:xfrm>
              <a:off x="893445" y="1860232"/>
              <a:ext cx="350844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Recommended quality stance</a:t>
              </a:r>
            </a:p>
          </p:txBody>
        </p:sp>
        <p:sp>
          <p:nvSpPr>
            <p:cNvPr id="8" name="TextBox 8"/>
            <p:cNvSpPr txBox="1"/>
            <p:nvPr/>
          </p:nvSpPr>
          <p:spPr>
            <a:xfrm>
              <a:off x="899160" y="2404110"/>
              <a:ext cx="612952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Claude is positioned as the strongest layout model in the project docs</a:t>
              </a:r>
            </a:p>
          </p:txBody>
        </p:sp>
        <p:sp>
          <p:nvSpPr>
            <p:cNvPr id="9" name="TextBox 9"/>
            <p:cNvSpPr txBox="1"/>
            <p:nvPr/>
          </p:nvSpPr>
          <p:spPr>
            <a:xfrm>
              <a:off x="899160" y="2651760"/>
              <a:ext cx="683933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Other models can work, but with lower confidence on spacing and coordinates</a:t>
              </a:r>
            </a:p>
          </p:txBody>
        </p:sp>
        <p:sp>
          <p:nvSpPr>
            <p:cNvPr id="10" name="TextBox 10"/>
            <p:cNvSpPr txBox="1"/>
            <p:nvPr/>
          </p:nvSpPr>
          <p:spPr>
            <a:xfrm>
              <a:off x="899160" y="2899410"/>
              <a:ext cx="599808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High-quality output assumes page review and selective regeneration</a:t>
              </a:r>
            </a:p>
          </p:txBody>
        </p:sp>
        <p:sp>
          <p:nvSpPr>
            <p:cNvPr id="11" name="TextBox 11"/>
            <p:cNvSpPr txBox="1"/>
            <p:nvPr/>
          </p:nvSpPr>
          <p:spPr>
            <a:xfrm>
              <a:off x="899160" y="3147060"/>
              <a:ext cx="775944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The deck is described as a high-quality starting point, not a guaranteed final deliverable</a:t>
              </a:r>
            </a:p>
          </p:txBody>
        </p:sp>
      </p:grpSp>
      <p:grpSp>
        <p:nvGrpSpPr>
          <p:cNvPr id="24" name="Group 24"/>
          <p:cNvGrpSpPr/>
          <p:nvPr/>
        </p:nvGrpSpPr>
        <p:grpSpPr>
          <a:xfrm>
            <a:off x="5905500" y="1581150"/>
            <a:ext cx="5944005" cy="4457700"/>
            <a:chOff x="5905500" y="1581150"/>
            <a:chExt cx="5944005" cy="4457700"/>
          </a:xfrm>
          <a:effectLst>
            <a:outerShdw blurRad="152400" dist="38100" dir="10799140" algn="tl" rotWithShape="0">
              <a:srgbClr val="0F172A">
                <a:alpha val="10000"/>
              </a:srgbClr>
            </a:outerShdw>
          </a:effectLst>
        </p:grpSpPr>
        <p:sp>
          <p:nvSpPr>
            <p:cNvPr id="13" name="Freeform 13"/>
            <p:cNvSpPr/>
            <p:nvPr/>
          </p:nvSpPr>
          <p:spPr>
            <a:xfrm>
              <a:off x="5905500" y="1581150"/>
              <a:ext cx="5715000" cy="4457700"/>
            </a:xfrm>
            <a:custGeom>
              <a:avLst/>
              <a:gdLst/>
              <a:ahLst/>
              <a:cxnLst/>
              <a:rect l="l" t="t" r="r" b="b"/>
              <a:pathLst>
                <a:path w="5715000" h="4457700">
                  <a:moveTo>
                    <a:pt x="247650" y="0"/>
                  </a:moveTo>
                  <a:lnTo>
                    <a:pt x="5467350" y="0"/>
                  </a:lnTo>
                  <a:cubicBezTo>
                    <a:pt x="5604123" y="0"/>
                    <a:pt x="5715000" y="110877"/>
                    <a:pt x="5715000" y="247650"/>
                  </a:cubicBezTo>
                  <a:lnTo>
                    <a:pt x="5715000" y="4210050"/>
                  </a:lnTo>
                  <a:cubicBezTo>
                    <a:pt x="5715000" y="4346823"/>
                    <a:pt x="5604123" y="4457700"/>
                    <a:pt x="5467350" y="4457700"/>
                  </a:cubicBezTo>
                  <a:lnTo>
                    <a:pt x="247650" y="4457700"/>
                  </a:lnTo>
                  <a:cubicBezTo>
                    <a:pt x="110877" y="4457700"/>
                    <a:pt x="0" y="4346823"/>
                    <a:pt x="0" y="4210050"/>
                  </a:cubicBezTo>
                  <a:lnTo>
                    <a:pt x="0" y="247650"/>
                  </a:lnTo>
                  <a:cubicBezTo>
                    <a:pt x="0" y="110877"/>
                    <a:pt x="110877" y="0"/>
                    <a:pt x="2476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4" name="TextBox 14"/>
            <p:cNvSpPr txBox="1"/>
            <p:nvPr/>
          </p:nvSpPr>
          <p:spPr>
            <a:xfrm>
              <a:off x="6227445" y="1860232"/>
              <a:ext cx="235714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Typical review loop</a:t>
              </a:r>
            </a:p>
          </p:txBody>
        </p:sp>
        <p:sp>
          <p:nvSpPr>
            <p:cNvPr id="15" name="Freeform 15"/>
            <p:cNvSpPr/>
            <p:nvPr/>
          </p:nvSpPr>
          <p:spPr>
            <a:xfrm>
              <a:off x="6248400" y="243840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6" name="TextBox 16"/>
            <p:cNvSpPr txBox="1"/>
            <p:nvPr/>
          </p:nvSpPr>
          <p:spPr>
            <a:xfrm>
              <a:off x="6536055" y="2721292"/>
              <a:ext cx="2342629"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005587"/>
                  </a:solidFill>
                  <a:latin typeface="Arial"/>
                  <a:ea typeface="Microsoft YaHei"/>
                  <a:cs typeface="Arial"/>
                </a:rPr>
                <a:t>1 Generate a first pass</a:t>
              </a:r>
            </a:p>
          </p:txBody>
        </p:sp>
        <p:sp>
          <p:nvSpPr>
            <p:cNvPr id="17" name="Freeform 17"/>
            <p:cNvSpPr/>
            <p:nvPr/>
          </p:nvSpPr>
          <p:spPr>
            <a:xfrm>
              <a:off x="6248400" y="329565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8" name="TextBox 18"/>
            <p:cNvSpPr txBox="1"/>
            <p:nvPr/>
          </p:nvSpPr>
          <p:spPr>
            <a:xfrm>
              <a:off x="6536055" y="3502342"/>
              <a:ext cx="2787734"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0076A8"/>
                  </a:solidFill>
                  <a:latin typeface="Arial"/>
                  <a:ea typeface="Microsoft YaHei"/>
                  <a:cs typeface="Arial"/>
                </a:rPr>
                <a:t>2 Inspect specific overflow</a:t>
              </a:r>
            </a:p>
          </p:txBody>
        </p:sp>
        <p:sp>
          <p:nvSpPr>
            <p:cNvPr id="19" name="TextBox 19"/>
            <p:cNvSpPr txBox="1"/>
            <p:nvPr/>
          </p:nvSpPr>
          <p:spPr>
            <a:xfrm>
              <a:off x="6536055" y="3692842"/>
              <a:ext cx="209419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0076A8"/>
                  </a:solidFill>
                  <a:latin typeface="Arial"/>
                  <a:ea typeface="Microsoft YaHei"/>
                  <a:cs typeface="Arial"/>
                </a:rPr>
                <a:t>and alignment issues</a:t>
              </a:r>
            </a:p>
          </p:txBody>
        </p:sp>
        <p:sp>
          <p:nvSpPr>
            <p:cNvPr id="20" name="Freeform 20"/>
            <p:cNvSpPr/>
            <p:nvPr/>
          </p:nvSpPr>
          <p:spPr>
            <a:xfrm>
              <a:off x="6248400" y="415290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1" name="TextBox 21"/>
            <p:cNvSpPr txBox="1"/>
            <p:nvPr/>
          </p:nvSpPr>
          <p:spPr>
            <a:xfrm>
              <a:off x="6536055" y="4435792"/>
              <a:ext cx="4795885"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F5A623"/>
                  </a:solidFill>
                  <a:latin typeface="Arial"/>
                  <a:ea typeface="Microsoft YaHei"/>
                  <a:cs typeface="Arial"/>
                </a:rPr>
                <a:t>3 Regenerate or manually fix the affected page</a:t>
              </a:r>
            </a:p>
          </p:txBody>
        </p:sp>
        <p:sp>
          <p:nvSpPr>
            <p:cNvPr id="22" name="Freeform 22"/>
            <p:cNvSpPr/>
            <p:nvPr/>
          </p:nvSpPr>
          <p:spPr>
            <a:xfrm>
              <a:off x="6248400" y="501015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3" name="TextBox 23"/>
            <p:cNvSpPr txBox="1"/>
            <p:nvPr/>
          </p:nvSpPr>
          <p:spPr>
            <a:xfrm>
              <a:off x="6536055" y="5293042"/>
              <a:ext cx="5313450"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27AE60"/>
                  </a:solidFill>
                  <a:latin typeface="Arial"/>
                  <a:ea typeface="Microsoft YaHei"/>
                  <a:cs typeface="Arial"/>
                </a:rPr>
                <a:t>4 Finish the final mile inside PowerPoint when needed</a:t>
              </a:r>
            </a:p>
          </p:txBody>
        </p:sp>
      </p:grpSp>
      <p:sp>
        <p:nvSpPr>
          <p:cNvPr id="25" name="TextBox 25"/>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10</a:t>
            </a:r>
          </a:p>
        </p:txBody>
      </p:sp>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6223790"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The minimum Windows setup path</a:t>
            </a:r>
          </a:p>
        </p:txBody>
      </p:sp>
      <p:sp>
        <p:nvSpPr>
          <p:cNvPr id="5" name="TextBox 5"/>
          <p:cNvSpPr txBox="1"/>
          <p:nvPr/>
        </p:nvSpPr>
        <p:spPr>
          <a:xfrm>
            <a:off x="556260" y="975360"/>
            <a:ext cx="9757410"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installation guide is intentionally short: install Python, clone the repo, install dependencies, verify imports.</a:t>
            </a:r>
          </a:p>
        </p:txBody>
      </p:sp>
      <p:sp>
        <p:nvSpPr>
          <p:cNvPr id="6" name="Line 6"/>
          <p:cNvSpPr/>
          <p:nvPr/>
        </p:nvSpPr>
        <p:spPr>
          <a:xfrm>
            <a:off x="1428750" y="2476500"/>
            <a:ext cx="9334500" cy="9525"/>
          </a:xfrm>
          <a:custGeom>
            <a:avLst/>
            <a:gdLst/>
            <a:ahLst/>
            <a:cxnLst/>
            <a:rect l="l" t="t" r="r" b="b"/>
            <a:pathLst>
              <a:path w="9334500" h="9525">
                <a:moveTo>
                  <a:pt x="0" y="0"/>
                </a:moveTo>
                <a:lnTo>
                  <a:pt x="9334500" y="0"/>
                </a:lnTo>
              </a:path>
            </a:pathLst>
          </a:custGeom>
          <a:noFill/>
          <a:ln w="38100">
            <a:solidFill>
              <a:srgbClr val="D6DEEA"/>
            </a:solidFill>
          </a:ln>
        </p:spPr>
      </p:sp>
      <p:sp>
        <p:nvSpPr>
          <p:cNvPr id="7" name="Polygon 7"/>
          <p:cNvSpPr/>
          <p:nvPr/>
        </p:nvSpPr>
        <p:spPr>
          <a:xfrm>
            <a:off x="394335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8" name="Polygon 8"/>
          <p:cNvSpPr/>
          <p:nvPr/>
        </p:nvSpPr>
        <p:spPr>
          <a:xfrm>
            <a:off x="651510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9" name="Polygon 9"/>
          <p:cNvSpPr/>
          <p:nvPr/>
        </p:nvSpPr>
        <p:spPr>
          <a:xfrm>
            <a:off x="908685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grpSp>
        <p:nvGrpSpPr>
          <p:cNvPr id="16" name="Group 16"/>
          <p:cNvGrpSpPr/>
          <p:nvPr/>
        </p:nvGrpSpPr>
        <p:grpSpPr>
          <a:xfrm>
            <a:off x="571500" y="2076450"/>
            <a:ext cx="2731769" cy="3676650"/>
            <a:chOff x="571500" y="2076450"/>
            <a:chExt cx="2731769" cy="3676650"/>
          </a:xfrm>
          <a:effectLst>
            <a:outerShdw blurRad="152400" dist="38100" dir="10799140" algn="tl" rotWithShape="0">
              <a:srgbClr val="0F172A">
                <a:alpha val="10000"/>
              </a:srgbClr>
            </a:outerShdw>
          </a:effectLst>
        </p:grpSpPr>
        <p:sp>
          <p:nvSpPr>
            <p:cNvPr id="10" name="Ellipse 10"/>
            <p:cNvSpPr/>
            <p:nvPr/>
          </p:nvSpPr>
          <p:spPr>
            <a:xfrm>
              <a:off x="1409700" y="2076450"/>
              <a:ext cx="800100" cy="800100"/>
            </a:xfrm>
            <a:prstGeom prst="ellipse">
              <a:avLst/>
            </a:prstGeom>
            <a:solidFill>
              <a:srgbClr val="005587"/>
            </a:solidFill>
            <a:ln>
              <a:noFill/>
            </a:ln>
            <a:effectLst>
              <a:outerShdw blurRad="152400" dist="38100" dir="10799140" algn="tl" rotWithShape="0">
                <a:srgbClr val="0F172A">
                  <a:alpha val="10000"/>
                </a:srgbClr>
              </a:outerShdw>
            </a:effectLst>
          </p:spPr>
        </p:sp>
        <p:sp>
          <p:nvSpPr>
            <p:cNvPr id="11" name="TextBox 11"/>
            <p:cNvSpPr txBox="1"/>
            <p:nvPr/>
          </p:nvSpPr>
          <p:spPr>
            <a:xfrm>
              <a:off x="1750840" y="2355532"/>
              <a:ext cx="11781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12" name="Freeform 12"/>
            <p:cNvSpPr/>
            <p:nvPr/>
          </p:nvSpPr>
          <p:spPr>
            <a:xfrm>
              <a:off x="57150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3" name="TextBox 13"/>
            <p:cNvSpPr txBox="1"/>
            <p:nvPr/>
          </p:nvSpPr>
          <p:spPr>
            <a:xfrm>
              <a:off x="836295" y="3460432"/>
              <a:ext cx="244571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Install Python 3.10+</a:t>
              </a:r>
            </a:p>
          </p:txBody>
        </p:sp>
        <p:sp>
          <p:nvSpPr>
            <p:cNvPr id="14" name="TextBox 14"/>
            <p:cNvSpPr txBox="1"/>
            <p:nvPr/>
          </p:nvSpPr>
          <p:spPr>
            <a:xfrm>
              <a:off x="842962" y="3974306"/>
              <a:ext cx="2460307"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The critical checkbox is adding</a:t>
              </a:r>
            </a:p>
          </p:txBody>
        </p:sp>
        <p:sp>
          <p:nvSpPr>
            <p:cNvPr id="15" name="TextBox 15"/>
            <p:cNvSpPr txBox="1"/>
            <p:nvPr/>
          </p:nvSpPr>
          <p:spPr>
            <a:xfrm>
              <a:off x="842962" y="4183856"/>
              <a:ext cx="184415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`python.exe` to PATH.</a:t>
              </a:r>
            </a:p>
          </p:txBody>
        </p:sp>
      </p:grpSp>
      <p:grpSp>
        <p:nvGrpSpPr>
          <p:cNvPr id="23" name="Group 23"/>
          <p:cNvGrpSpPr/>
          <p:nvPr/>
        </p:nvGrpSpPr>
        <p:grpSpPr>
          <a:xfrm>
            <a:off x="3143250" y="2076450"/>
            <a:ext cx="3052167" cy="3676650"/>
            <a:chOff x="3143250" y="2076450"/>
            <a:chExt cx="3052167" cy="3676650"/>
          </a:xfrm>
          <a:effectLst>
            <a:outerShdw blurRad="152400" dist="38100" dir="10799140" algn="tl" rotWithShape="0">
              <a:srgbClr val="0F172A">
                <a:alpha val="10000"/>
              </a:srgbClr>
            </a:outerShdw>
          </a:effectLst>
        </p:grpSpPr>
        <p:sp>
          <p:nvSpPr>
            <p:cNvPr id="17" name="Ellipse 17"/>
            <p:cNvSpPr/>
            <p:nvPr/>
          </p:nvSpPr>
          <p:spPr>
            <a:xfrm>
              <a:off x="3981450" y="2076450"/>
              <a:ext cx="800100" cy="800100"/>
            </a:xfrm>
            <a:prstGeom prst="ellipse">
              <a:avLst/>
            </a:prstGeom>
            <a:solidFill>
              <a:srgbClr val="0076A8"/>
            </a:solidFill>
            <a:ln>
              <a:noFill/>
            </a:ln>
            <a:effectLst>
              <a:outerShdw blurRad="152400" dist="38100" dir="10799140" algn="tl" rotWithShape="0">
                <a:srgbClr val="0F172A">
                  <a:alpha val="10000"/>
                </a:srgbClr>
              </a:outerShdw>
            </a:effectLst>
          </p:spPr>
        </p:sp>
        <p:sp>
          <p:nvSpPr>
            <p:cNvPr id="18" name="TextBox 18"/>
            <p:cNvSpPr txBox="1"/>
            <p:nvPr/>
          </p:nvSpPr>
          <p:spPr>
            <a:xfrm>
              <a:off x="429096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19" name="Freeform 19"/>
            <p:cNvSpPr/>
            <p:nvPr/>
          </p:nvSpPr>
          <p:spPr>
            <a:xfrm>
              <a:off x="314325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0" name="TextBox 20"/>
            <p:cNvSpPr txBox="1"/>
            <p:nvPr/>
          </p:nvSpPr>
          <p:spPr>
            <a:xfrm>
              <a:off x="3408045" y="3460432"/>
              <a:ext cx="262283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Download the project</a:t>
              </a:r>
            </a:p>
          </p:txBody>
        </p:sp>
        <p:sp>
          <p:nvSpPr>
            <p:cNvPr id="21" name="TextBox 21"/>
            <p:cNvSpPr txBox="1"/>
            <p:nvPr/>
          </p:nvSpPr>
          <p:spPr>
            <a:xfrm>
              <a:off x="3414712" y="3974306"/>
              <a:ext cx="223027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Use ZIP or `git clone`, then</a:t>
              </a:r>
            </a:p>
          </p:txBody>
        </p:sp>
        <p:sp>
          <p:nvSpPr>
            <p:cNvPr id="22" name="TextBox 22"/>
            <p:cNvSpPr txBox="1"/>
            <p:nvPr/>
          </p:nvSpPr>
          <p:spPr>
            <a:xfrm>
              <a:off x="3414712" y="4183856"/>
              <a:ext cx="278070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open the repository in your AI IDE.</a:t>
              </a:r>
            </a:p>
          </p:txBody>
        </p:sp>
      </p:grpSp>
      <p:grpSp>
        <p:nvGrpSpPr>
          <p:cNvPr id="30" name="Group 30"/>
          <p:cNvGrpSpPr/>
          <p:nvPr/>
        </p:nvGrpSpPr>
        <p:grpSpPr>
          <a:xfrm>
            <a:off x="5686127" y="2076450"/>
            <a:ext cx="2802636" cy="3676650"/>
            <a:chOff x="5686127" y="2076450"/>
            <a:chExt cx="2802636" cy="3676650"/>
          </a:xfrm>
          <a:effectLst>
            <a:outerShdw blurRad="152400" dist="38100" dir="10799140" algn="tl" rotWithShape="0">
              <a:srgbClr val="0F172A">
                <a:alpha val="10000"/>
              </a:srgbClr>
            </a:outerShdw>
          </a:effectLst>
        </p:grpSpPr>
        <p:sp>
          <p:nvSpPr>
            <p:cNvPr id="24" name="Ellipse 24"/>
            <p:cNvSpPr/>
            <p:nvPr/>
          </p:nvSpPr>
          <p:spPr>
            <a:xfrm>
              <a:off x="6553200" y="2076450"/>
              <a:ext cx="800100" cy="800100"/>
            </a:xfrm>
            <a:prstGeom prst="ellipse">
              <a:avLst/>
            </a:prstGeom>
            <a:solidFill>
              <a:srgbClr val="F5A623"/>
            </a:solidFill>
            <a:ln>
              <a:noFill/>
            </a:ln>
            <a:effectLst>
              <a:outerShdw blurRad="152400" dist="38100" dir="10799140" algn="tl" rotWithShape="0">
                <a:srgbClr val="0F172A">
                  <a:alpha val="10000"/>
                </a:srgbClr>
              </a:outerShdw>
            </a:effectLst>
          </p:spPr>
        </p:sp>
        <p:sp>
          <p:nvSpPr>
            <p:cNvPr id="25" name="TextBox 25"/>
            <p:cNvSpPr txBox="1"/>
            <p:nvPr/>
          </p:nvSpPr>
          <p:spPr>
            <a:xfrm>
              <a:off x="686271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26" name="Freeform 26"/>
            <p:cNvSpPr/>
            <p:nvPr/>
          </p:nvSpPr>
          <p:spPr>
            <a:xfrm>
              <a:off x="571500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7" name="TextBox 27"/>
            <p:cNvSpPr txBox="1"/>
            <p:nvPr/>
          </p:nvSpPr>
          <p:spPr>
            <a:xfrm>
              <a:off x="5979795" y="3460432"/>
              <a:ext cx="250896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Install dependencies</a:t>
              </a:r>
            </a:p>
          </p:txBody>
        </p:sp>
        <p:sp>
          <p:nvSpPr>
            <p:cNvPr id="28" name="Freeform 28"/>
            <p:cNvSpPr/>
            <p:nvPr/>
          </p:nvSpPr>
          <p:spPr>
            <a:xfrm>
              <a:off x="6000750" y="4095750"/>
              <a:ext cx="1905000" cy="457200"/>
            </a:xfrm>
            <a:custGeom>
              <a:avLst/>
              <a:gdLst/>
              <a:ahLst/>
              <a:cxnLst/>
              <a:rect l="l" t="t" r="r" b="b"/>
              <a:pathLst>
                <a:path w="1905000" h="457200">
                  <a:moveTo>
                    <a:pt x="114300" y="0"/>
                  </a:moveTo>
                  <a:lnTo>
                    <a:pt x="1790700" y="0"/>
                  </a:lnTo>
                  <a:cubicBezTo>
                    <a:pt x="1853826" y="0"/>
                    <a:pt x="1905000" y="51174"/>
                    <a:pt x="1905000" y="114300"/>
                  </a:cubicBezTo>
                  <a:lnTo>
                    <a:pt x="1905000" y="342900"/>
                  </a:lnTo>
                  <a:cubicBezTo>
                    <a:pt x="1905000" y="406026"/>
                    <a:pt x="1853826" y="457200"/>
                    <a:pt x="1790700" y="457200"/>
                  </a:cubicBezTo>
                  <a:lnTo>
                    <a:pt x="114300" y="457200"/>
                  </a:lnTo>
                  <a:cubicBezTo>
                    <a:pt x="51174" y="457200"/>
                    <a:pt x="0" y="406026"/>
                    <a:pt x="0" y="342900"/>
                  </a:cubicBezTo>
                  <a:lnTo>
                    <a:pt x="0" y="114300"/>
                  </a:lnTo>
                  <a:cubicBezTo>
                    <a:pt x="0" y="51174"/>
                    <a:pt x="51174" y="0"/>
                    <a:pt x="1143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9" name="TextBox 29"/>
            <p:cNvSpPr txBox="1"/>
            <p:nvPr/>
          </p:nvSpPr>
          <p:spPr>
            <a:xfrm>
              <a:off x="5686127" y="4260056"/>
              <a:ext cx="253424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125" dirty="0">
                  <a:solidFill>
                    <a:srgbClr val="2C3E50"/>
                  </a:solidFill>
                  <a:latin typeface="Arial"/>
                  <a:ea typeface="Microsoft YaHei"/>
                  <a:cs typeface="Arial"/>
                </a:rPr>
                <a:t>pip install -r requirements.txt</a:t>
              </a:r>
            </a:p>
          </p:txBody>
        </p:sp>
      </p:grpSp>
      <p:grpSp>
        <p:nvGrpSpPr>
          <p:cNvPr id="39" name="Group 39"/>
          <p:cNvGrpSpPr/>
          <p:nvPr/>
        </p:nvGrpSpPr>
        <p:grpSpPr>
          <a:xfrm>
            <a:off x="8286750" y="2076450"/>
            <a:ext cx="6412229" cy="3676650"/>
            <a:chOff x="8286750" y="2076450"/>
            <a:chExt cx="6412229" cy="3676650"/>
          </a:xfrm>
          <a:effectLst>
            <a:outerShdw blurRad="152400" dist="38100" dir="10799140" algn="tl" rotWithShape="0">
              <a:srgbClr val="0F172A">
                <a:alpha val="10000"/>
              </a:srgbClr>
            </a:outerShdw>
          </a:effectLst>
        </p:grpSpPr>
        <p:sp>
          <p:nvSpPr>
            <p:cNvPr id="31" name="Ellipse 31"/>
            <p:cNvSpPr/>
            <p:nvPr/>
          </p:nvSpPr>
          <p:spPr>
            <a:xfrm>
              <a:off x="9124950" y="2076450"/>
              <a:ext cx="800100" cy="800100"/>
            </a:xfrm>
            <a:prstGeom prst="ellipse">
              <a:avLst/>
            </a:prstGeom>
            <a:solidFill>
              <a:srgbClr val="27AE60"/>
            </a:solidFill>
            <a:ln>
              <a:noFill/>
            </a:ln>
            <a:effectLst>
              <a:outerShdw blurRad="152400" dist="38100" dir="10799140" algn="tl" rotWithShape="0">
                <a:srgbClr val="0F172A">
                  <a:alpha val="10000"/>
                </a:srgbClr>
              </a:outerShdw>
            </a:effectLst>
          </p:spPr>
        </p:sp>
        <p:sp>
          <p:nvSpPr>
            <p:cNvPr id="32" name="TextBox 32"/>
            <p:cNvSpPr txBox="1"/>
            <p:nvPr/>
          </p:nvSpPr>
          <p:spPr>
            <a:xfrm>
              <a:off x="943446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33" name="Freeform 33"/>
            <p:cNvSpPr/>
            <p:nvPr/>
          </p:nvSpPr>
          <p:spPr>
            <a:xfrm>
              <a:off x="8286750" y="3238500"/>
              <a:ext cx="3333750" cy="2514600"/>
            </a:xfrm>
            <a:custGeom>
              <a:avLst/>
              <a:gdLst/>
              <a:ahLst/>
              <a:cxnLst/>
              <a:rect l="l" t="t" r="r" b="b"/>
              <a:pathLst>
                <a:path w="3333750" h="2514600">
                  <a:moveTo>
                    <a:pt x="228600" y="0"/>
                  </a:moveTo>
                  <a:lnTo>
                    <a:pt x="3105150" y="0"/>
                  </a:lnTo>
                  <a:cubicBezTo>
                    <a:pt x="3231402" y="0"/>
                    <a:pt x="3333750" y="102348"/>
                    <a:pt x="3333750" y="228600"/>
                  </a:cubicBezTo>
                  <a:lnTo>
                    <a:pt x="3333750" y="2286000"/>
                  </a:lnTo>
                  <a:cubicBezTo>
                    <a:pt x="3333750" y="2412252"/>
                    <a:pt x="3231402" y="2514600"/>
                    <a:pt x="310515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34" name="TextBox 34"/>
            <p:cNvSpPr txBox="1"/>
            <p:nvPr/>
          </p:nvSpPr>
          <p:spPr>
            <a:xfrm>
              <a:off x="8551545" y="3384232"/>
              <a:ext cx="180048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Verify and run</a:t>
              </a:r>
            </a:p>
          </p:txBody>
        </p:sp>
        <p:sp>
          <p:nvSpPr>
            <p:cNvPr id="35" name="TextBox 35"/>
            <p:cNvSpPr txBox="1"/>
            <p:nvPr/>
          </p:nvSpPr>
          <p:spPr>
            <a:xfrm>
              <a:off x="8551545" y="3612832"/>
              <a:ext cx="138297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a tiny deck</a:t>
              </a:r>
            </a:p>
          </p:txBody>
        </p:sp>
        <p:sp>
          <p:nvSpPr>
            <p:cNvPr id="36" name="Freeform 36"/>
            <p:cNvSpPr/>
            <p:nvPr/>
          </p:nvSpPr>
          <p:spPr>
            <a:xfrm>
              <a:off x="8572500" y="4095750"/>
              <a:ext cx="2762250" cy="590550"/>
            </a:xfrm>
            <a:custGeom>
              <a:avLst/>
              <a:gdLst/>
              <a:ahLst/>
              <a:cxnLst/>
              <a:rect l="l" t="t" r="r" b="b"/>
              <a:pathLst>
                <a:path w="2762250" h="590550">
                  <a:moveTo>
                    <a:pt x="114300" y="0"/>
                  </a:moveTo>
                  <a:lnTo>
                    <a:pt x="2647950" y="0"/>
                  </a:lnTo>
                  <a:cubicBezTo>
                    <a:pt x="2711076" y="0"/>
                    <a:pt x="2762250" y="51174"/>
                    <a:pt x="2762250" y="114300"/>
                  </a:cubicBezTo>
                  <a:lnTo>
                    <a:pt x="2762250" y="476250"/>
                  </a:lnTo>
                  <a:cubicBezTo>
                    <a:pt x="2762250" y="539376"/>
                    <a:pt x="2711076" y="590550"/>
                    <a:pt x="2647950" y="590550"/>
                  </a:cubicBezTo>
                  <a:lnTo>
                    <a:pt x="114300" y="590550"/>
                  </a:lnTo>
                  <a:cubicBezTo>
                    <a:pt x="51174" y="590550"/>
                    <a:pt x="0" y="539376"/>
                    <a:pt x="0" y="476250"/>
                  </a:cubicBezTo>
                  <a:lnTo>
                    <a:pt x="0" y="114300"/>
                  </a:lnTo>
                  <a:cubicBezTo>
                    <a:pt x="0" y="51174"/>
                    <a:pt x="51174" y="0"/>
                    <a:pt x="1143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37" name="TextBox 37"/>
            <p:cNvSpPr txBox="1"/>
            <p:nvPr/>
          </p:nvSpPr>
          <p:spPr>
            <a:xfrm>
              <a:off x="8502610" y="4220528"/>
              <a:ext cx="2902029" cy="2133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050" dirty="0">
                  <a:solidFill>
                    <a:srgbClr val="2C3E50"/>
                  </a:solidFill>
                  <a:latin typeface="Arial"/>
                  <a:ea typeface="Microsoft YaHei"/>
                  <a:cs typeface="Arial"/>
                </a:rPr>
                <a:t>python -c "import pptx; import fitz;"</a:t>
              </a:r>
            </a:p>
          </p:txBody>
        </p:sp>
        <p:sp>
          <p:nvSpPr>
            <p:cNvPr id="38" name="TextBox 38"/>
            <p:cNvSpPr txBox="1"/>
            <p:nvPr/>
          </p:nvSpPr>
          <p:spPr>
            <a:xfrm>
              <a:off x="8558212" y="4926806"/>
              <a:ext cx="6140767"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Then ask the AI for a 3-page test deck to prove the setup works end to end.</a:t>
              </a:r>
            </a:p>
          </p:txBody>
        </p:sp>
      </p:grpSp>
      <p:sp>
        <p:nvSpPr>
          <p:cNvPr id="40" name="TextBox 40"/>
          <p:cNvSpPr txBox="1"/>
          <p:nvPr/>
        </p:nvSpPr>
        <p:spPr>
          <a:xfrm>
            <a:off x="11415903" y="6417945"/>
            <a:ext cx="101727"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11</a:t>
            </a:r>
          </a:p>
        </p:txBody>
      </p:sp>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8589635"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Most setup failures are environment issues,</a:t>
            </a:r>
          </a:p>
        </p:txBody>
      </p:sp>
      <p:sp>
        <p:nvSpPr>
          <p:cNvPr id="5" name="TextBox 5"/>
          <p:cNvSpPr txBox="1"/>
          <p:nvPr/>
        </p:nvSpPr>
        <p:spPr>
          <a:xfrm>
            <a:off x="539115" y="886778"/>
            <a:ext cx="4640042" cy="518160"/>
          </a:xfrm>
          <a:prstGeom prst="rect">
            <a:avLst/>
          </a:prstGeom>
          <a:noFill/>
          <a:ln>
            <a:noFill/>
          </a:ln>
        </p:spPr>
        <p:txBody>
          <a:bodyPr wrap="none" lIns="0" tIns="0" rIns="0" bIns="0" anchor="t" anchorCtr="0">
            <a:spAutoFit/>
          </a:bodyPr>
          <a:lstStyle/>
          <a:p>
            <a:pPr algn="l"/>
            <a:r>
              <a:rPr lang="zh-CN" sz="2550" b="1" dirty="0">
                <a:solidFill>
                  <a:srgbClr val="2C3E50"/>
                </a:solidFill>
                <a:latin typeface="Arial"/>
                <a:ea typeface="Microsoft YaHei"/>
                <a:cs typeface="Arial"/>
              </a:rPr>
              <a:t>not product logic issues</a:t>
            </a:r>
          </a:p>
        </p:txBody>
      </p:sp>
      <p:sp>
        <p:nvSpPr>
          <p:cNvPr id="6" name="TextBox 6"/>
          <p:cNvSpPr txBox="1"/>
          <p:nvPr/>
        </p:nvSpPr>
        <p:spPr>
          <a:xfrm>
            <a:off x="556260" y="975360"/>
            <a:ext cx="9152763"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troubleshooting section is mostly about PATH, pip targeting, missing modules, and script permissions.</a:t>
            </a:r>
          </a:p>
        </p:txBody>
      </p:sp>
      <p:grpSp>
        <p:nvGrpSpPr>
          <p:cNvPr id="22" name="Group 22"/>
          <p:cNvGrpSpPr/>
          <p:nvPr/>
        </p:nvGrpSpPr>
        <p:grpSpPr>
          <a:xfrm>
            <a:off x="571500" y="2114550"/>
            <a:ext cx="10991850" cy="838200"/>
            <a:chOff x="571500" y="2114550"/>
            <a:chExt cx="10991850" cy="838200"/>
          </a:xfrm>
          <a:effectLst>
            <a:outerShdw blurRad="152400" dist="38100" dir="10799140" algn="tl" rotWithShape="0">
              <a:srgbClr val="0F172A">
                <a:alpha val="10000"/>
              </a:srgbClr>
            </a:outerShdw>
          </a:effectLst>
        </p:grpSpPr>
        <p:sp>
          <p:nvSpPr>
            <p:cNvPr id="7" name="Polygon 7"/>
            <p:cNvSpPr/>
            <p:nvPr/>
          </p:nvSpPr>
          <p:spPr>
            <a:xfrm>
              <a:off x="571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close/>
                </a:path>
              </a:pathLst>
            </a:custGeom>
            <a:solidFill>
              <a:srgbClr val="005587"/>
            </a:solidFill>
            <a:ln>
              <a:noFill/>
            </a:ln>
          </p:spPr>
        </p:sp>
        <p:sp>
          <p:nvSpPr>
            <p:cNvPr id="8" name="TextBox 8"/>
            <p:cNvSpPr txBox="1"/>
            <p:nvPr/>
          </p:nvSpPr>
          <p:spPr>
            <a:xfrm>
              <a:off x="1063800" y="2356485"/>
              <a:ext cx="99660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Check PATH</a:t>
              </a:r>
            </a:p>
          </p:txBody>
        </p:sp>
        <p:sp>
          <p:nvSpPr>
            <p:cNvPr id="9" name="TextBox 9"/>
            <p:cNvSpPr txBox="1"/>
            <p:nvPr/>
          </p:nvSpPr>
          <p:spPr>
            <a:xfrm>
              <a:off x="1157014" y="2606516"/>
              <a:ext cx="810173"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where python</a:t>
              </a:r>
            </a:p>
          </p:txBody>
        </p:sp>
        <p:sp>
          <p:nvSpPr>
            <p:cNvPr id="10" name="Polygon 10"/>
            <p:cNvSpPr/>
            <p:nvPr/>
          </p:nvSpPr>
          <p:spPr>
            <a:xfrm>
              <a:off x="2857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0076A8"/>
            </a:solidFill>
            <a:ln>
              <a:noFill/>
            </a:ln>
          </p:spPr>
        </p:sp>
        <p:sp>
          <p:nvSpPr>
            <p:cNvPr id="11" name="TextBox 11"/>
            <p:cNvSpPr txBox="1"/>
            <p:nvPr/>
          </p:nvSpPr>
          <p:spPr>
            <a:xfrm>
              <a:off x="3040199" y="2356485"/>
              <a:ext cx="1806302"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Match pip to Python</a:t>
              </a:r>
            </a:p>
          </p:txBody>
        </p:sp>
        <p:sp>
          <p:nvSpPr>
            <p:cNvPr id="12" name="TextBox 12"/>
            <p:cNvSpPr txBox="1"/>
            <p:nvPr/>
          </p:nvSpPr>
          <p:spPr>
            <a:xfrm>
              <a:off x="3535251" y="2606516"/>
              <a:ext cx="816197"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python -m pip</a:t>
              </a:r>
            </a:p>
          </p:txBody>
        </p:sp>
        <p:sp>
          <p:nvSpPr>
            <p:cNvPr id="13" name="Polygon 13"/>
            <p:cNvSpPr/>
            <p:nvPr/>
          </p:nvSpPr>
          <p:spPr>
            <a:xfrm>
              <a:off x="5143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F5A623"/>
            </a:solidFill>
            <a:ln>
              <a:noFill/>
            </a:ln>
          </p:spPr>
        </p:sp>
        <p:sp>
          <p:nvSpPr>
            <p:cNvPr id="14" name="TextBox 14"/>
            <p:cNvSpPr txBox="1"/>
            <p:nvPr/>
          </p:nvSpPr>
          <p:spPr>
            <a:xfrm>
              <a:off x="5634438" y="2356485"/>
              <a:ext cx="118982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Test imports</a:t>
              </a:r>
            </a:p>
          </p:txBody>
        </p:sp>
        <p:sp>
          <p:nvSpPr>
            <p:cNvPr id="15" name="TextBox 15"/>
            <p:cNvSpPr txBox="1"/>
            <p:nvPr/>
          </p:nvSpPr>
          <p:spPr>
            <a:xfrm>
              <a:off x="5899571" y="2606516"/>
              <a:ext cx="659559"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pptx + fitz</a:t>
              </a:r>
            </a:p>
          </p:txBody>
        </p:sp>
        <p:sp>
          <p:nvSpPr>
            <p:cNvPr id="16" name="Polygon 16"/>
            <p:cNvSpPr/>
            <p:nvPr/>
          </p:nvSpPr>
          <p:spPr>
            <a:xfrm>
              <a:off x="7429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27AE60"/>
            </a:solidFill>
            <a:ln>
              <a:noFill/>
            </a:ln>
          </p:spPr>
        </p:sp>
        <p:sp>
          <p:nvSpPr>
            <p:cNvPr id="17" name="TextBox 17"/>
            <p:cNvSpPr txBox="1"/>
            <p:nvPr/>
          </p:nvSpPr>
          <p:spPr>
            <a:xfrm>
              <a:off x="7768619" y="2356485"/>
              <a:ext cx="149346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Run small sample</a:t>
              </a:r>
            </a:p>
          </p:txBody>
        </p:sp>
        <p:sp>
          <p:nvSpPr>
            <p:cNvPr id="18" name="TextBox 18"/>
            <p:cNvSpPr txBox="1"/>
            <p:nvPr/>
          </p:nvSpPr>
          <p:spPr>
            <a:xfrm>
              <a:off x="8053030" y="2606516"/>
              <a:ext cx="924639"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prove the chain</a:t>
              </a:r>
            </a:p>
          </p:txBody>
        </p:sp>
        <p:sp>
          <p:nvSpPr>
            <p:cNvPr id="19" name="Polygon 19"/>
            <p:cNvSpPr/>
            <p:nvPr/>
          </p:nvSpPr>
          <p:spPr>
            <a:xfrm>
              <a:off x="9715500" y="2114550"/>
              <a:ext cx="1847850" cy="838200"/>
            </a:xfrm>
            <a:custGeom>
              <a:avLst/>
              <a:gdLst/>
              <a:ahLst/>
              <a:cxnLst/>
              <a:rect l="l" t="t" r="r" b="b"/>
              <a:pathLst>
                <a:path w="1847850" h="838200">
                  <a:moveTo>
                    <a:pt x="0" y="0"/>
                  </a:moveTo>
                  <a:lnTo>
                    <a:pt x="1524000" y="0"/>
                  </a:lnTo>
                  <a:lnTo>
                    <a:pt x="1847850" y="419100"/>
                  </a:lnTo>
                  <a:lnTo>
                    <a:pt x="1524000" y="838200"/>
                  </a:lnTo>
                  <a:lnTo>
                    <a:pt x="0" y="838200"/>
                  </a:lnTo>
                  <a:lnTo>
                    <a:pt x="323850" y="419100"/>
                  </a:lnTo>
                  <a:close/>
                </a:path>
              </a:pathLst>
            </a:custGeom>
            <a:solidFill>
              <a:srgbClr val="E74C3C"/>
            </a:solidFill>
            <a:ln>
              <a:noFill/>
            </a:ln>
          </p:spPr>
        </p:sp>
        <p:sp>
          <p:nvSpPr>
            <p:cNvPr id="20" name="TextBox 20"/>
            <p:cNvSpPr txBox="1"/>
            <p:nvPr/>
          </p:nvSpPr>
          <p:spPr>
            <a:xfrm>
              <a:off x="9741198" y="2356485"/>
              <a:ext cx="181550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Escalate edge cases</a:t>
              </a:r>
            </a:p>
          </p:txBody>
        </p:sp>
        <p:sp>
          <p:nvSpPr>
            <p:cNvPr id="21" name="TextBox 21"/>
            <p:cNvSpPr txBox="1"/>
            <p:nvPr/>
          </p:nvSpPr>
          <p:spPr>
            <a:xfrm>
              <a:off x="9918537" y="2606516"/>
              <a:ext cx="1460825"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CairoSVG / Node / Pandoc</a:t>
              </a:r>
            </a:p>
          </p:txBody>
        </p:sp>
      </p:grpSp>
      <p:grpSp>
        <p:nvGrpSpPr>
          <p:cNvPr id="43" name="Group 43"/>
          <p:cNvGrpSpPr/>
          <p:nvPr/>
        </p:nvGrpSpPr>
        <p:grpSpPr>
          <a:xfrm>
            <a:off x="571500" y="3600450"/>
            <a:ext cx="11480601" cy="2133600"/>
            <a:chOff x="571500" y="3600450"/>
            <a:chExt cx="11480601" cy="2133600"/>
          </a:xfrm>
        </p:grpSpPr>
        <p:grpSp>
          <p:nvGrpSpPr>
            <p:cNvPr id="29" name="Group 29"/>
            <p:cNvGrpSpPr/>
            <p:nvPr/>
          </p:nvGrpSpPr>
          <p:grpSpPr>
            <a:xfrm>
              <a:off x="571500" y="3600450"/>
              <a:ext cx="3605212" cy="2133600"/>
              <a:chOff x="571500" y="3600450"/>
              <a:chExt cx="3605212" cy="2133600"/>
            </a:xfrm>
            <a:effectLst>
              <a:outerShdw blurRad="152400" dist="38100" dir="10799140" algn="tl" rotWithShape="0">
                <a:srgbClr val="0F172A">
                  <a:alpha val="10000"/>
                </a:srgbClr>
              </a:outerShdw>
            </a:effectLst>
          </p:grpSpPr>
          <p:sp>
            <p:nvSpPr>
              <p:cNvPr id="23" name="Freeform 23"/>
              <p:cNvSpPr/>
              <p:nvPr/>
            </p:nvSpPr>
            <p:spPr>
              <a:xfrm>
                <a:off x="571500" y="3600450"/>
                <a:ext cx="3562350" cy="2133600"/>
              </a:xfrm>
              <a:custGeom>
                <a:avLst/>
                <a:gdLst/>
                <a:ahLst/>
                <a:cxnLst/>
                <a:rect l="l" t="t" r="r" b="b"/>
                <a:pathLst>
                  <a:path w="3562350" h="2133600">
                    <a:moveTo>
                      <a:pt x="228600" y="0"/>
                    </a:moveTo>
                    <a:lnTo>
                      <a:pt x="3333750" y="0"/>
                    </a:lnTo>
                    <a:cubicBezTo>
                      <a:pt x="3460002" y="0"/>
                      <a:pt x="3562350" y="102348"/>
                      <a:pt x="3562350" y="228600"/>
                    </a:cubicBezTo>
                    <a:lnTo>
                      <a:pt x="3562350" y="1905000"/>
                    </a:lnTo>
                    <a:cubicBezTo>
                      <a:pt x="3562350" y="2031252"/>
                      <a:pt x="3460002" y="2133600"/>
                      <a:pt x="333375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24" name="TextBox 24"/>
              <p:cNvSpPr txBox="1"/>
              <p:nvPr/>
            </p:nvSpPr>
            <p:spPr>
              <a:xfrm>
                <a:off x="855345" y="3822382"/>
                <a:ext cx="2724045"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Common failure modes</a:t>
                </a:r>
              </a:p>
            </p:txBody>
          </p:sp>
          <p:sp>
            <p:nvSpPr>
              <p:cNvPr id="25" name="TextBox 25"/>
              <p:cNvSpPr txBox="1"/>
              <p:nvPr/>
            </p:nvSpPr>
            <p:spPr>
              <a:xfrm>
                <a:off x="862012" y="4317206"/>
                <a:ext cx="306824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`python` opens the Microsoft Store</a:t>
                </a:r>
              </a:p>
            </p:txBody>
          </p:sp>
          <p:sp>
            <p:nvSpPr>
              <p:cNvPr id="26" name="TextBox 26"/>
              <p:cNvSpPr txBox="1"/>
              <p:nvPr/>
            </p:nvSpPr>
            <p:spPr>
              <a:xfrm>
                <a:off x="862012" y="4545806"/>
                <a:ext cx="331470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`pip` installs to the wrong interpreter</a:t>
                </a:r>
              </a:p>
            </p:txBody>
          </p:sp>
          <p:sp>
            <p:nvSpPr>
              <p:cNvPr id="27" name="TextBox 27"/>
              <p:cNvSpPr txBox="1"/>
              <p:nvPr/>
            </p:nvSpPr>
            <p:spPr>
              <a:xfrm>
                <a:off x="862012" y="4774406"/>
                <a:ext cx="294501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PowerShell blocks script execution</a:t>
                </a:r>
              </a:p>
            </p:txBody>
          </p:sp>
          <p:sp>
            <p:nvSpPr>
              <p:cNvPr id="28" name="TextBox 28"/>
              <p:cNvSpPr txBox="1"/>
              <p:nvPr/>
            </p:nvSpPr>
            <p:spPr>
              <a:xfrm>
                <a:off x="862012" y="5003006"/>
                <a:ext cx="306002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 PyMuPDF import is missing or broken</a:t>
                </a:r>
              </a:p>
            </p:txBody>
          </p:sp>
        </p:grpSp>
        <p:grpSp>
          <p:nvGrpSpPr>
            <p:cNvPr id="36" name="Group 36"/>
            <p:cNvGrpSpPr/>
            <p:nvPr/>
          </p:nvGrpSpPr>
          <p:grpSpPr>
            <a:xfrm>
              <a:off x="4324350" y="3600450"/>
              <a:ext cx="3562350" cy="2133600"/>
              <a:chOff x="4324350" y="3600450"/>
              <a:chExt cx="3562350" cy="2133600"/>
            </a:xfrm>
            <a:effectLst>
              <a:outerShdw blurRad="152400" dist="38100" dir="10799140" algn="tl" rotWithShape="0">
                <a:srgbClr val="0F172A">
                  <a:alpha val="10000"/>
                </a:srgbClr>
              </a:outerShdw>
            </a:effectLst>
          </p:grpSpPr>
          <p:sp>
            <p:nvSpPr>
              <p:cNvPr id="30" name="Freeform 30"/>
              <p:cNvSpPr/>
              <p:nvPr/>
            </p:nvSpPr>
            <p:spPr>
              <a:xfrm>
                <a:off x="4324350" y="3600450"/>
                <a:ext cx="3562350" cy="2133600"/>
              </a:xfrm>
              <a:custGeom>
                <a:avLst/>
                <a:gdLst/>
                <a:ahLst/>
                <a:cxnLst/>
                <a:rect l="l" t="t" r="r" b="b"/>
                <a:pathLst>
                  <a:path w="3562350" h="2133600">
                    <a:moveTo>
                      <a:pt x="228600" y="0"/>
                    </a:moveTo>
                    <a:lnTo>
                      <a:pt x="3333750" y="0"/>
                    </a:lnTo>
                    <a:cubicBezTo>
                      <a:pt x="3460002" y="0"/>
                      <a:pt x="3562350" y="102348"/>
                      <a:pt x="3562350" y="228600"/>
                    </a:cubicBezTo>
                    <a:lnTo>
                      <a:pt x="3562350" y="1905000"/>
                    </a:lnTo>
                    <a:cubicBezTo>
                      <a:pt x="3562350" y="2031252"/>
                      <a:pt x="3460002" y="2133600"/>
                      <a:pt x="333375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31" name="TextBox 31"/>
              <p:cNvSpPr txBox="1"/>
              <p:nvPr/>
            </p:nvSpPr>
            <p:spPr>
              <a:xfrm>
                <a:off x="4608195" y="3822382"/>
                <a:ext cx="22053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What to try first</a:t>
                </a:r>
              </a:p>
            </p:txBody>
          </p:sp>
          <p:sp>
            <p:nvSpPr>
              <p:cNvPr id="32" name="TextBox 32"/>
              <p:cNvSpPr txBox="1"/>
              <p:nvPr/>
            </p:nvSpPr>
            <p:spPr>
              <a:xfrm>
                <a:off x="4614862" y="4317206"/>
                <a:ext cx="126087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1 Re-check PATH</a:t>
                </a:r>
              </a:p>
            </p:txBody>
          </p:sp>
          <p:sp>
            <p:nvSpPr>
              <p:cNvPr id="33" name="TextBox 33"/>
              <p:cNvSpPr txBox="1"/>
              <p:nvPr/>
            </p:nvSpPr>
            <p:spPr>
              <a:xfrm>
                <a:off x="4614862" y="4545806"/>
                <a:ext cx="175379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2 Use `python -m pip`</a:t>
                </a:r>
              </a:p>
            </p:txBody>
          </p:sp>
          <p:sp>
            <p:nvSpPr>
              <p:cNvPr id="34" name="TextBox 34"/>
              <p:cNvSpPr txBox="1"/>
              <p:nvPr/>
            </p:nvSpPr>
            <p:spPr>
              <a:xfrm>
                <a:off x="4614862" y="4774406"/>
                <a:ext cx="243566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3 Re-run the core import test</a:t>
                </a:r>
              </a:p>
            </p:txBody>
          </p:sp>
          <p:sp>
            <p:nvSpPr>
              <p:cNvPr id="35" name="TextBox 35"/>
              <p:cNvSpPr txBox="1"/>
              <p:nvPr/>
            </p:nvSpPr>
            <p:spPr>
              <a:xfrm>
                <a:off x="4614862" y="5003006"/>
                <a:ext cx="3166824"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4 Restart the terminal before retrying</a:t>
                </a:r>
              </a:p>
            </p:txBody>
          </p:sp>
        </p:grpSp>
        <p:grpSp>
          <p:nvGrpSpPr>
            <p:cNvPr id="42" name="Group 42"/>
            <p:cNvGrpSpPr/>
            <p:nvPr/>
          </p:nvGrpSpPr>
          <p:grpSpPr>
            <a:xfrm>
              <a:off x="8077200" y="3600450"/>
              <a:ext cx="3974901" cy="2133600"/>
              <a:chOff x="8077200" y="3600450"/>
              <a:chExt cx="3974901" cy="2133600"/>
            </a:xfrm>
            <a:effectLst>
              <a:outerShdw blurRad="152400" dist="38100" dir="10799140" algn="tl" rotWithShape="0">
                <a:srgbClr val="0F172A">
                  <a:alpha val="10000"/>
                </a:srgbClr>
              </a:outerShdw>
            </a:effectLst>
          </p:grpSpPr>
          <p:sp>
            <p:nvSpPr>
              <p:cNvPr id="37" name="Freeform 37"/>
              <p:cNvSpPr/>
              <p:nvPr/>
            </p:nvSpPr>
            <p:spPr>
              <a:xfrm>
                <a:off x="8077200" y="3600450"/>
                <a:ext cx="3543300" cy="2133600"/>
              </a:xfrm>
              <a:custGeom>
                <a:avLst/>
                <a:gdLst/>
                <a:ahLst/>
                <a:cxnLst/>
                <a:rect l="l" t="t" r="r" b="b"/>
                <a:pathLst>
                  <a:path w="3543300" h="2133600">
                    <a:moveTo>
                      <a:pt x="228600" y="0"/>
                    </a:moveTo>
                    <a:lnTo>
                      <a:pt x="3314700" y="0"/>
                    </a:lnTo>
                    <a:cubicBezTo>
                      <a:pt x="3440952" y="0"/>
                      <a:pt x="3543300" y="102348"/>
                      <a:pt x="3543300" y="228600"/>
                    </a:cubicBezTo>
                    <a:lnTo>
                      <a:pt x="3543300" y="1905000"/>
                    </a:lnTo>
                    <a:cubicBezTo>
                      <a:pt x="3543300" y="2031252"/>
                      <a:pt x="3440952" y="2133600"/>
                      <a:pt x="331470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38" name="TextBox 38"/>
              <p:cNvSpPr txBox="1"/>
              <p:nvPr/>
            </p:nvSpPr>
            <p:spPr>
              <a:xfrm>
                <a:off x="8361045" y="3822382"/>
                <a:ext cx="10034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2C3E50"/>
                    </a:solidFill>
                    <a:latin typeface="Arial"/>
                    <a:ea typeface="Microsoft YaHei"/>
                    <a:cs typeface="Arial"/>
                  </a:rPr>
                  <a:t>Mindset</a:t>
                </a:r>
              </a:p>
            </p:txBody>
          </p:sp>
          <p:sp>
            <p:nvSpPr>
              <p:cNvPr id="39" name="TextBox 39"/>
              <p:cNvSpPr txBox="1"/>
              <p:nvPr/>
            </p:nvSpPr>
            <p:spPr>
              <a:xfrm>
                <a:off x="8367712" y="4317206"/>
                <a:ext cx="356115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Do not start debugging slide design until the</a:t>
                </a:r>
              </a:p>
            </p:txBody>
          </p:sp>
          <p:sp>
            <p:nvSpPr>
              <p:cNvPr id="40" name="TextBox 40"/>
              <p:cNvSpPr txBox="1"/>
              <p:nvPr/>
            </p:nvSpPr>
            <p:spPr>
              <a:xfrm>
                <a:off x="8367712" y="4545806"/>
                <a:ext cx="368438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runtime, imports, and minimal sample path all</a:t>
                </a:r>
              </a:p>
            </p:txBody>
          </p:sp>
          <p:sp>
            <p:nvSpPr>
              <p:cNvPr id="41" name="TextBox 41"/>
              <p:cNvSpPr txBox="1"/>
              <p:nvPr/>
            </p:nvSpPr>
            <p:spPr>
              <a:xfrm>
                <a:off x="8367712" y="4774406"/>
                <a:ext cx="233707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D6D7E"/>
                    </a:solidFill>
                    <a:latin typeface="Arial"/>
                    <a:ea typeface="Microsoft YaHei"/>
                    <a:cs typeface="Arial"/>
                  </a:rPr>
                  <a:t>work cleanly on the machine.</a:t>
                </a:r>
              </a:p>
            </p:txBody>
          </p:sp>
        </p:grpSp>
      </p:grpSp>
      <p:sp>
        <p:nvSpPr>
          <p:cNvPr id="44" name="TextBox 44"/>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12</a:t>
            </a:r>
          </a:p>
        </p:txBody>
      </p:sp>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005587"/>
          </a:solidFill>
          <a:ln>
            <a:noFill/>
          </a:ln>
        </p:spPr>
      </p:sp>
      <p:sp>
        <p:nvSpPr>
          <p:cNvPr id="4" name="TextBox 4"/>
          <p:cNvSpPr txBox="1"/>
          <p:nvPr/>
        </p:nvSpPr>
        <p:spPr>
          <a:xfrm>
            <a:off x="539115" y="543878"/>
            <a:ext cx="15120152" cy="518160"/>
          </a:xfrm>
          <a:prstGeom prst="rect">
            <a:avLst/>
          </a:prstGeom>
          <a:noFill/>
          <a:ln>
            <a:noFill/>
          </a:ln>
        </p:spPr>
        <p:txBody>
          <a:bodyPr wrap="none" lIns="0" tIns="0" rIns="0" bIns="0" anchor="t" anchorCtr="0">
            <a:spAutoFit/>
          </a:bodyPr>
          <a:lstStyle/>
          <a:p>
            <a:pPr algn="l"/>
            <a:r>
              <a:rPr lang="zh-CN" sz="2550" b="1" dirty="0">
                <a:solidFill>
                  <a:srgbClr val="005587"/>
                </a:solidFill>
                <a:latin typeface="Arial"/>
                <a:ea typeface="Microsoft YaHei"/>
                <a:cs typeface="Arial"/>
              </a:rPr>
              <a:t>Choose PPT Master when editability matters more than instant browser output</a:t>
            </a:r>
          </a:p>
        </p:txBody>
      </p:sp>
      <p:sp>
        <p:nvSpPr>
          <p:cNvPr id="5" name="TextBox 5"/>
          <p:cNvSpPr txBox="1"/>
          <p:nvPr/>
        </p:nvSpPr>
        <p:spPr>
          <a:xfrm>
            <a:off x="556260" y="975360"/>
            <a:ext cx="7619238" cy="243840"/>
          </a:xfrm>
          <a:prstGeom prst="rect">
            <a:avLst/>
          </a:prstGeom>
          <a:noFill/>
          <a:ln>
            <a:noFill/>
          </a:ln>
        </p:spPr>
        <p:txBody>
          <a:bodyPr wrap="none" lIns="0" tIns="0" rIns="0" bIns="0" anchor="t" anchorCtr="0">
            <a:spAutoFit/>
          </a:bodyPr>
          <a:lstStyle/>
          <a:p>
            <a:pPr algn="l"/>
            <a:r>
              <a:rPr lang="zh-CN" sz="1200" dirty="0">
                <a:solidFill>
                  <a:srgbClr val="5D6D7E"/>
                </a:solidFill>
                <a:latin typeface="Arial"/>
                <a:ea typeface="Microsoft YaHei"/>
                <a:cs typeface="Arial"/>
              </a:rPr>
              <a:t>The docs close with a clear boundary: this is a serious workflow for serious slide users.</a:t>
            </a:r>
          </a:p>
        </p:txBody>
      </p:sp>
      <p:grpSp>
        <p:nvGrpSpPr>
          <p:cNvPr id="14" name="Group 14"/>
          <p:cNvGrpSpPr/>
          <p:nvPr/>
        </p:nvGrpSpPr>
        <p:grpSpPr>
          <a:xfrm>
            <a:off x="571500" y="1619250"/>
            <a:ext cx="5392674" cy="4057650"/>
            <a:chOff x="571500" y="1619250"/>
            <a:chExt cx="5392674" cy="4057650"/>
          </a:xfrm>
          <a:effectLst>
            <a:outerShdw blurRad="152400" dist="38100" dir="10799140" algn="tl" rotWithShape="0">
              <a:srgbClr val="0F172A">
                <a:alpha val="10000"/>
              </a:srgbClr>
            </a:outerShdw>
          </a:effectLst>
        </p:grpSpPr>
        <p:sp>
          <p:nvSpPr>
            <p:cNvPr id="6" name="Freeform 6"/>
            <p:cNvSpPr/>
            <p:nvPr/>
          </p:nvSpPr>
          <p:spPr>
            <a:xfrm>
              <a:off x="571500" y="1619250"/>
              <a:ext cx="5238750" cy="4057650"/>
            </a:xfrm>
            <a:custGeom>
              <a:avLst/>
              <a:gdLst/>
              <a:ahLst/>
              <a:cxnLst/>
              <a:rect l="l" t="t" r="r" b="b"/>
              <a:pathLst>
                <a:path w="5238750" h="4057650">
                  <a:moveTo>
                    <a:pt x="266700" y="0"/>
                  </a:moveTo>
                  <a:lnTo>
                    <a:pt x="4972050" y="0"/>
                  </a:lnTo>
                  <a:cubicBezTo>
                    <a:pt x="5119344" y="0"/>
                    <a:pt x="5238750" y="119406"/>
                    <a:pt x="5238750" y="266700"/>
                  </a:cubicBezTo>
                  <a:lnTo>
                    <a:pt x="5238750" y="3790950"/>
                  </a:lnTo>
                  <a:cubicBezTo>
                    <a:pt x="5238750" y="3938244"/>
                    <a:pt x="5119344" y="4057650"/>
                    <a:pt x="4972050" y="4057650"/>
                  </a:cubicBezTo>
                  <a:lnTo>
                    <a:pt x="266700" y="4057650"/>
                  </a:lnTo>
                  <a:cubicBezTo>
                    <a:pt x="119406" y="4057650"/>
                    <a:pt x="0" y="3938244"/>
                    <a:pt x="0" y="3790950"/>
                  </a:cubicBezTo>
                  <a:lnTo>
                    <a:pt x="0" y="266700"/>
                  </a:lnTo>
                  <a:cubicBezTo>
                    <a:pt x="0" y="119406"/>
                    <a:pt x="119406" y="0"/>
                    <a:pt x="2667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7" name="Freeform 7"/>
            <p:cNvSpPr/>
            <p:nvPr/>
          </p:nvSpPr>
          <p:spPr>
            <a:xfrm>
              <a:off x="571500" y="1619250"/>
              <a:ext cx="5238750" cy="666750"/>
            </a:xfrm>
            <a:custGeom>
              <a:avLst/>
              <a:gdLst/>
              <a:ahLst/>
              <a:cxnLst/>
              <a:rect l="l" t="t" r="r" b="b"/>
              <a:pathLst>
                <a:path w="5238750" h="666750">
                  <a:moveTo>
                    <a:pt x="266700" y="0"/>
                  </a:moveTo>
                  <a:lnTo>
                    <a:pt x="4972050" y="0"/>
                  </a:lnTo>
                  <a:cubicBezTo>
                    <a:pt x="5119344" y="0"/>
                    <a:pt x="5238750" y="119406"/>
                    <a:pt x="5238750" y="266700"/>
                  </a:cubicBezTo>
                  <a:lnTo>
                    <a:pt x="5238750" y="400050"/>
                  </a:lnTo>
                  <a:cubicBezTo>
                    <a:pt x="5238750" y="547344"/>
                    <a:pt x="5119344" y="666750"/>
                    <a:pt x="4972050" y="666750"/>
                  </a:cubicBezTo>
                  <a:lnTo>
                    <a:pt x="266700" y="666750"/>
                  </a:lnTo>
                  <a:cubicBezTo>
                    <a:pt x="119406" y="666750"/>
                    <a:pt x="0" y="547344"/>
                    <a:pt x="0" y="400050"/>
                  </a:cubicBezTo>
                  <a:lnTo>
                    <a:pt x="0" y="266700"/>
                  </a:lnTo>
                  <a:cubicBezTo>
                    <a:pt x="0" y="119406"/>
                    <a:pt x="119406" y="0"/>
                    <a:pt x="266700" y="0"/>
                  </a:cubicBezTo>
                  <a:close/>
                </a:path>
              </a:pathLst>
            </a:custGeom>
            <a:solidFill>
              <a:srgbClr val="27AE60"/>
            </a:solidFill>
            <a:ln>
              <a:noFill/>
            </a:ln>
            <a:effectLst>
              <a:outerShdw blurRad="152400" dist="38100" dir="10799140" algn="tl" rotWithShape="0">
                <a:srgbClr val="0F172A">
                  <a:alpha val="10000"/>
                </a:srgbClr>
              </a:outerShdw>
            </a:effectLst>
          </p:spPr>
        </p:sp>
        <p:sp>
          <p:nvSpPr>
            <p:cNvPr id="8" name="TextBox 8"/>
            <p:cNvSpPr txBox="1"/>
            <p:nvPr/>
          </p:nvSpPr>
          <p:spPr>
            <a:xfrm>
              <a:off x="2629748" y="1844040"/>
              <a:ext cx="1122255"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Best fit</a:t>
              </a:r>
            </a:p>
          </p:txBody>
        </p:sp>
        <p:sp>
          <p:nvSpPr>
            <p:cNvPr id="9" name="TextBox 9"/>
            <p:cNvSpPr txBox="1"/>
            <p:nvPr/>
          </p:nvSpPr>
          <p:spPr>
            <a:xfrm>
              <a:off x="954405" y="2597468"/>
              <a:ext cx="224946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2C3E50"/>
                  </a:solidFill>
                  <a:latin typeface="Arial"/>
                  <a:ea typeface="Microsoft YaHei"/>
                  <a:cs typeface="Arial"/>
                </a:rPr>
                <a:t>Use it when you want:</a:t>
              </a:r>
            </a:p>
          </p:txBody>
        </p:sp>
        <p:sp>
          <p:nvSpPr>
            <p:cNvPr id="10" name="TextBox 10"/>
            <p:cNvSpPr txBox="1"/>
            <p:nvPr/>
          </p:nvSpPr>
          <p:spPr>
            <a:xfrm>
              <a:off x="956310" y="3070860"/>
              <a:ext cx="402640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Native editable output for real delivery work</a:t>
              </a:r>
            </a:p>
          </p:txBody>
        </p:sp>
        <p:sp>
          <p:nvSpPr>
            <p:cNvPr id="11" name="TextBox 11"/>
            <p:cNvSpPr txBox="1"/>
            <p:nvPr/>
          </p:nvSpPr>
          <p:spPr>
            <a:xfrm>
              <a:off x="956310" y="3337560"/>
              <a:ext cx="4972812"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Transparent cost without platform subscription lock-in</a:t>
              </a:r>
            </a:p>
          </p:txBody>
        </p:sp>
        <p:sp>
          <p:nvSpPr>
            <p:cNvPr id="12" name="TextBox 12"/>
            <p:cNvSpPr txBox="1"/>
            <p:nvPr/>
          </p:nvSpPr>
          <p:spPr>
            <a:xfrm>
              <a:off x="956310" y="3604260"/>
              <a:ext cx="416661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Local handling of source materials and exports</a:t>
              </a:r>
            </a:p>
          </p:txBody>
        </p:sp>
        <p:sp>
          <p:nvSpPr>
            <p:cNvPr id="13" name="TextBox 13"/>
            <p:cNvSpPr txBox="1"/>
            <p:nvPr/>
          </p:nvSpPr>
          <p:spPr>
            <a:xfrm>
              <a:off x="956310" y="3870960"/>
              <a:ext cx="500786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Freedom to pair the workflow with your preferred AI IDE</a:t>
              </a:r>
            </a:p>
          </p:txBody>
        </p:sp>
      </p:grpSp>
      <p:grpSp>
        <p:nvGrpSpPr>
          <p:cNvPr id="23" name="Group 23"/>
          <p:cNvGrpSpPr/>
          <p:nvPr/>
        </p:nvGrpSpPr>
        <p:grpSpPr>
          <a:xfrm>
            <a:off x="6381750" y="1619250"/>
            <a:ext cx="5238750" cy="4057650"/>
            <a:chOff x="6381750" y="1619250"/>
            <a:chExt cx="5238750" cy="4057650"/>
          </a:xfrm>
          <a:effectLst>
            <a:outerShdw blurRad="152400" dist="38100" dir="10799140" algn="tl" rotWithShape="0">
              <a:srgbClr val="0F172A">
                <a:alpha val="10000"/>
              </a:srgbClr>
            </a:outerShdw>
          </a:effectLst>
        </p:grpSpPr>
        <p:sp>
          <p:nvSpPr>
            <p:cNvPr id="15" name="Freeform 15"/>
            <p:cNvSpPr/>
            <p:nvPr/>
          </p:nvSpPr>
          <p:spPr>
            <a:xfrm>
              <a:off x="6381750" y="1619250"/>
              <a:ext cx="5238750" cy="4057650"/>
            </a:xfrm>
            <a:custGeom>
              <a:avLst/>
              <a:gdLst/>
              <a:ahLst/>
              <a:cxnLst/>
              <a:rect l="l" t="t" r="r" b="b"/>
              <a:pathLst>
                <a:path w="5238750" h="4057650">
                  <a:moveTo>
                    <a:pt x="266700" y="0"/>
                  </a:moveTo>
                  <a:lnTo>
                    <a:pt x="4972050" y="0"/>
                  </a:lnTo>
                  <a:cubicBezTo>
                    <a:pt x="5119344" y="0"/>
                    <a:pt x="5238750" y="119406"/>
                    <a:pt x="5238750" y="266700"/>
                  </a:cubicBezTo>
                  <a:lnTo>
                    <a:pt x="5238750" y="3790950"/>
                  </a:lnTo>
                  <a:cubicBezTo>
                    <a:pt x="5238750" y="3938244"/>
                    <a:pt x="5119344" y="4057650"/>
                    <a:pt x="4972050" y="4057650"/>
                  </a:cubicBezTo>
                  <a:lnTo>
                    <a:pt x="266700" y="4057650"/>
                  </a:lnTo>
                  <a:cubicBezTo>
                    <a:pt x="119406" y="4057650"/>
                    <a:pt x="0" y="3938244"/>
                    <a:pt x="0" y="3790950"/>
                  </a:cubicBezTo>
                  <a:lnTo>
                    <a:pt x="0" y="266700"/>
                  </a:lnTo>
                  <a:cubicBezTo>
                    <a:pt x="0" y="119406"/>
                    <a:pt x="119406" y="0"/>
                    <a:pt x="266700" y="0"/>
                  </a:cubicBezTo>
                  <a:close/>
                </a:path>
              </a:pathLst>
            </a:custGeom>
            <a:solidFill>
              <a:srgbClr val="ECF0F1"/>
            </a:solidFill>
            <a:ln>
              <a:noFill/>
            </a:ln>
            <a:effectLst>
              <a:outerShdw blurRad="152400" dist="38100" dir="10799140" algn="tl" rotWithShape="0">
                <a:srgbClr val="0F172A">
                  <a:alpha val="10000"/>
                </a:srgbClr>
              </a:outerShdw>
            </a:effectLst>
          </p:spPr>
        </p:sp>
        <p:sp>
          <p:nvSpPr>
            <p:cNvPr id="16" name="Freeform 16"/>
            <p:cNvSpPr/>
            <p:nvPr/>
          </p:nvSpPr>
          <p:spPr>
            <a:xfrm>
              <a:off x="6381750" y="1619250"/>
              <a:ext cx="5238750" cy="666750"/>
            </a:xfrm>
            <a:custGeom>
              <a:avLst/>
              <a:gdLst/>
              <a:ahLst/>
              <a:cxnLst/>
              <a:rect l="l" t="t" r="r" b="b"/>
              <a:pathLst>
                <a:path w="5238750" h="666750">
                  <a:moveTo>
                    <a:pt x="266700" y="0"/>
                  </a:moveTo>
                  <a:lnTo>
                    <a:pt x="4972050" y="0"/>
                  </a:lnTo>
                  <a:cubicBezTo>
                    <a:pt x="5119344" y="0"/>
                    <a:pt x="5238750" y="119406"/>
                    <a:pt x="5238750" y="266700"/>
                  </a:cubicBezTo>
                  <a:lnTo>
                    <a:pt x="5238750" y="400050"/>
                  </a:lnTo>
                  <a:cubicBezTo>
                    <a:pt x="5238750" y="547344"/>
                    <a:pt x="5119344" y="666750"/>
                    <a:pt x="4972050" y="666750"/>
                  </a:cubicBezTo>
                  <a:lnTo>
                    <a:pt x="266700" y="666750"/>
                  </a:lnTo>
                  <a:cubicBezTo>
                    <a:pt x="119406" y="666750"/>
                    <a:pt x="0" y="547344"/>
                    <a:pt x="0" y="400050"/>
                  </a:cubicBezTo>
                  <a:lnTo>
                    <a:pt x="0" y="266700"/>
                  </a:lnTo>
                  <a:cubicBezTo>
                    <a:pt x="0" y="119406"/>
                    <a:pt x="119406" y="0"/>
                    <a:pt x="266700" y="0"/>
                  </a:cubicBezTo>
                  <a:close/>
                </a:path>
              </a:pathLst>
            </a:custGeom>
            <a:solidFill>
              <a:srgbClr val="E74C3C"/>
            </a:solidFill>
            <a:ln>
              <a:noFill/>
            </a:ln>
            <a:effectLst>
              <a:outerShdw blurRad="152400" dist="38100" dir="10799140" algn="tl" rotWithShape="0">
                <a:srgbClr val="0F172A">
                  <a:alpha val="10000"/>
                </a:srgbClr>
              </a:outerShdw>
            </a:effectLst>
          </p:spPr>
        </p:sp>
        <p:sp>
          <p:nvSpPr>
            <p:cNvPr id="17" name="TextBox 17"/>
            <p:cNvSpPr txBox="1"/>
            <p:nvPr/>
          </p:nvSpPr>
          <p:spPr>
            <a:xfrm>
              <a:off x="7860325" y="1844040"/>
              <a:ext cx="2281599"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Not the right fit</a:t>
              </a:r>
            </a:p>
          </p:txBody>
        </p:sp>
        <p:sp>
          <p:nvSpPr>
            <p:cNvPr id="18" name="TextBox 18"/>
            <p:cNvSpPr txBox="1"/>
            <p:nvPr/>
          </p:nvSpPr>
          <p:spPr>
            <a:xfrm>
              <a:off x="6764655" y="2597468"/>
              <a:ext cx="1949279"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2C3E50"/>
                  </a:solidFill>
                  <a:latin typeface="Arial"/>
                  <a:ea typeface="Microsoft YaHei"/>
                  <a:cs typeface="Arial"/>
                </a:rPr>
                <a:t>Skip it if you need:</a:t>
              </a:r>
            </a:p>
          </p:txBody>
        </p:sp>
        <p:sp>
          <p:nvSpPr>
            <p:cNvPr id="19" name="TextBox 19"/>
            <p:cNvSpPr txBox="1"/>
            <p:nvPr/>
          </p:nvSpPr>
          <p:spPr>
            <a:xfrm>
              <a:off x="6766560" y="3070860"/>
              <a:ext cx="368465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Zero-setup instant slides in a browser UI</a:t>
              </a:r>
            </a:p>
          </p:txBody>
        </p:sp>
        <p:sp>
          <p:nvSpPr>
            <p:cNvPr id="20" name="TextBox 20"/>
            <p:cNvSpPr txBox="1"/>
            <p:nvPr/>
          </p:nvSpPr>
          <p:spPr>
            <a:xfrm>
              <a:off x="6766560" y="3337560"/>
              <a:ext cx="438569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Real-time collaboration and share-link workflows</a:t>
              </a:r>
            </a:p>
          </p:txBody>
        </p:sp>
        <p:sp>
          <p:nvSpPr>
            <p:cNvPr id="21" name="TextBox 21"/>
            <p:cNvSpPr txBox="1"/>
            <p:nvPr/>
          </p:nvSpPr>
          <p:spPr>
            <a:xfrm>
              <a:off x="6766560" y="3604260"/>
              <a:ext cx="362331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Spreadsheet-bound native chart objects</a:t>
              </a:r>
            </a:p>
          </p:txBody>
        </p:sp>
        <p:sp>
          <p:nvSpPr>
            <p:cNvPr id="22" name="TextBox 22"/>
            <p:cNvSpPr txBox="1"/>
            <p:nvPr/>
          </p:nvSpPr>
          <p:spPr>
            <a:xfrm>
              <a:off x="6766560" y="3870960"/>
              <a:ext cx="421043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D6D7E"/>
                  </a:solidFill>
                  <a:latin typeface="Arial"/>
                  <a:ea typeface="Microsoft YaHei"/>
                  <a:cs typeface="Arial"/>
                </a:rPr>
                <a:t>- A fully polished final deck with no human review</a:t>
              </a:r>
            </a:p>
          </p:txBody>
        </p:sp>
      </p:grpSp>
      <p:sp>
        <p:nvSpPr>
          <p:cNvPr id="24" name="TextBox 24"/>
          <p:cNvSpPr txBox="1"/>
          <p:nvPr/>
        </p:nvSpPr>
        <p:spPr>
          <a:xfrm>
            <a:off x="552450" y="6105525"/>
            <a:ext cx="10653927" cy="304800"/>
          </a:xfrm>
          <a:prstGeom prst="rect">
            <a:avLst/>
          </a:prstGeom>
          <a:noFill/>
          <a:ln>
            <a:noFill/>
          </a:ln>
        </p:spPr>
        <p:txBody>
          <a:bodyPr wrap="none" lIns="0" tIns="0" rIns="0" bIns="0" anchor="t" anchorCtr="0">
            <a:spAutoFit/>
          </a:bodyPr>
          <a:lstStyle/>
          <a:p>
            <a:pPr algn="l"/>
            <a:r>
              <a:rPr lang="zh-CN" sz="1500" b="1" dirty="0">
                <a:solidFill>
                  <a:srgbClr val="2C3E50"/>
                </a:solidFill>
                <a:latin typeface="Arial"/>
                <a:ea typeface="Microsoft YaHei"/>
                <a:cs typeface="Arial"/>
              </a:rPr>
              <a:t>PPT Master is not the easiest path. It is the path optimized for editable, controllable output.</a:t>
            </a:r>
          </a:p>
        </p:txBody>
      </p:sp>
      <p:sp>
        <p:nvSpPr>
          <p:cNvPr id="25" name="TextBox 25"/>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7F8C8D"/>
                </a:solidFill>
                <a:latin typeface="Arial"/>
                <a:ea typeface="Microsoft YaHei"/>
                <a:cs typeface="Arial"/>
              </a:rPr>
              <a:t>13</a:t>
            </a:r>
          </a:p>
        </p:txBody>
      </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